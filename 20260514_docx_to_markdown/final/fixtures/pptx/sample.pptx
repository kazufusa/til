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5" d="100"/>
          <a:sy n="105" d="100"/>
        </p:scale>
        <p:origin x="52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700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</a:rPr>
              <a:t>月次売上レポート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docx/xlsx/pptx → markdown 変換テスト用 pptx fixture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</a:rPr>
              <a:t>売上一覧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商品名</a:t>
                      </a:r>
                      <a:endParaRPr lang="en-US" sz="16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数量</a:t>
                      </a:r>
                      <a:endParaRPr lang="en-US" sz="16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単価</a:t>
                      </a:r>
                      <a:endParaRPr lang="en-US" sz="16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合計</a:t>
                      </a:r>
                      <a:endParaRPr lang="en-US" sz="16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りんご</a:t>
                      </a:r>
                      <a:endParaRPr lang="en-US" sz="16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150</a:t>
                      </a:r>
                      <a:endParaRPr lang="en-US" sz="16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450</a:t>
                      </a:r>
                      <a:endParaRPr lang="en-US" sz="16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バナナ</a:t>
                      </a:r>
                      <a:endParaRPr lang="en-US" sz="16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en-US" sz="16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16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みかん</a:t>
                      </a:r>
                      <a:endParaRPr lang="en-US" sz="16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6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80</a:t>
                      </a:r>
                      <a:endParaRPr lang="en-US" sz="16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640</a:t>
                      </a:r>
                      <a:endParaRPr lang="en-US" sz="16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</a:rPr>
              <a:t>売上グラフ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45720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各商品の売上を示しています。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</a:rPr>
              <a:t>構成比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09728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8B243AC-4B57-7457-E8D6-A9A89CD1B92F}"/>
              </a:ext>
            </a:extLst>
          </p:cNvPr>
          <p:cNvSpPr txBox="1"/>
          <p:nvPr/>
        </p:nvSpPr>
        <p:spPr>
          <a:xfrm>
            <a:off x="801585" y="564079"/>
            <a:ext cx="6774873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600" b="1" kern="0" dirty="0">
                <a:solidFill>
                  <a:srgbClr val="2E74B5"/>
                </a:solidFill>
                <a:effectLst/>
                <a:latin typeface="Times New Roman" panose="02020603050405020304" pitchFamily="18" charset="0"/>
                <a:ea typeface="游明朝" panose="02020400000000000000" pitchFamily="18" charset="-128"/>
              </a:rPr>
              <a:t>月次売上レポート</a:t>
            </a:r>
            <a:endParaRPr lang="ja-JP" altLang="ja-JP" sz="1600" b="1" kern="0" dirty="0">
              <a:solidFill>
                <a:srgbClr val="2E74B5"/>
              </a:solidFill>
              <a:effectLst/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1000" dirty="0">
                <a:effectLst/>
                <a:latin typeface="Times New Roman" panose="02020603050405020304" pitchFamily="18" charset="0"/>
                <a:ea typeface="游明朝" panose="02020400000000000000" pitchFamily="18" charset="-128"/>
              </a:rPr>
              <a:t>このドキュメントは</a:t>
            </a:r>
            <a:r>
              <a:rPr lang="en-US" altLang="ja-JP" sz="1000" dirty="0">
                <a:effectLst/>
                <a:latin typeface="Times New Roman" panose="02020603050405020304" pitchFamily="18" charset="0"/>
                <a:ea typeface="游明朝" panose="02020400000000000000" pitchFamily="18" charset="-128"/>
              </a:rPr>
              <a:t> docx → markdown </a:t>
            </a:r>
            <a:r>
              <a:rPr lang="ja-JP" altLang="ja-JP" sz="1000" dirty="0">
                <a:effectLst/>
                <a:latin typeface="Times New Roman" panose="02020603050405020304" pitchFamily="18" charset="0"/>
                <a:ea typeface="游明朝" panose="02020400000000000000" pitchFamily="18" charset="-128"/>
              </a:rPr>
              <a:t>変換のテスト用に作成されたサンプルです。表と画像を含みます。</a:t>
            </a:r>
          </a:p>
          <a:p>
            <a:pPr>
              <a:buNone/>
            </a:pPr>
            <a:r>
              <a:rPr lang="en-US" altLang="ja-JP" sz="1000" dirty="0">
                <a:effectLst/>
                <a:latin typeface="Times New Roman" panose="02020603050405020304" pitchFamily="18" charset="0"/>
                <a:ea typeface="游明朝" panose="02020400000000000000" pitchFamily="18" charset="-128"/>
              </a:rPr>
              <a:t> </a:t>
            </a:r>
            <a:endParaRPr lang="ja-JP" altLang="ja-JP" sz="1000" dirty="0">
              <a:effectLst/>
              <a:latin typeface="Times New Roman" panose="02020603050405020304" pitchFamily="18" charset="0"/>
              <a:ea typeface="游明朝" panose="02020400000000000000" pitchFamily="18" charset="-128"/>
            </a:endParaRPr>
          </a:p>
          <a:p>
            <a:pPr marL="342900" lvl="0" indent="-342900">
              <a:buFont typeface="Wingdings" panose="05000000000000000000" pitchFamily="2" charset="2"/>
              <a:buChar char=""/>
            </a:pPr>
            <a:r>
              <a:rPr lang="ja-JP" altLang="ja-JP" sz="1000" dirty="0">
                <a:effectLst/>
                <a:latin typeface="Times New Roman" panose="02020603050405020304" pitchFamily="18" charset="0"/>
                <a:ea typeface="游明朝" panose="02020400000000000000" pitchFamily="18" charset="-128"/>
              </a:rPr>
              <a:t>これは</a:t>
            </a:r>
          </a:p>
          <a:p>
            <a:pPr marL="742950" lvl="1" indent="-285750">
              <a:buFont typeface="Wingdings" panose="05000000000000000000" pitchFamily="2" charset="2"/>
              <a:buChar char=""/>
            </a:pPr>
            <a:r>
              <a:rPr lang="ja-JP" altLang="ja-JP" sz="1000" dirty="0">
                <a:effectLst/>
                <a:latin typeface="Times New Roman" panose="02020603050405020304" pitchFamily="18" charset="0"/>
                <a:ea typeface="游明朝" panose="02020400000000000000" pitchFamily="18" charset="-128"/>
              </a:rPr>
              <a:t>とても</a:t>
            </a:r>
          </a:p>
          <a:p>
            <a:pPr marL="1143000" lvl="2" indent="-228600">
              <a:buFont typeface="Wingdings" panose="05000000000000000000" pitchFamily="2" charset="2"/>
              <a:buChar char=""/>
            </a:pPr>
            <a:r>
              <a:rPr lang="ja-JP" altLang="ja-JP" sz="1000" dirty="0">
                <a:effectLst/>
                <a:latin typeface="Times New Roman" panose="02020603050405020304" pitchFamily="18" charset="0"/>
                <a:ea typeface="游明朝" panose="02020400000000000000" pitchFamily="18" charset="-128"/>
              </a:rPr>
              <a:t>だいじ</a:t>
            </a:r>
          </a:p>
          <a:p>
            <a:pPr marL="742950" lvl="1" indent="-285750">
              <a:buFont typeface="Wingdings" panose="05000000000000000000" pitchFamily="2" charset="2"/>
              <a:buChar char=""/>
            </a:pPr>
            <a:r>
              <a:rPr lang="ja-JP" altLang="ja-JP" sz="1000" dirty="0">
                <a:effectLst/>
                <a:latin typeface="Times New Roman" panose="02020603050405020304" pitchFamily="18" charset="0"/>
                <a:ea typeface="游明朝" panose="02020400000000000000" pitchFamily="18" charset="-128"/>
              </a:rPr>
              <a:t>かも</a:t>
            </a:r>
          </a:p>
          <a:p>
            <a:pPr marL="342900" lvl="0" indent="-342900">
              <a:buFont typeface="Wingdings" panose="05000000000000000000" pitchFamily="2" charset="2"/>
              <a:buChar char=""/>
            </a:pPr>
            <a:r>
              <a:rPr lang="ja-JP" altLang="ja-JP" sz="1000" dirty="0">
                <a:effectLst/>
                <a:latin typeface="Times New Roman" panose="02020603050405020304" pitchFamily="18" charset="0"/>
                <a:ea typeface="游明朝" panose="02020400000000000000" pitchFamily="18" charset="-128"/>
              </a:rPr>
              <a:t>しれない</a:t>
            </a:r>
          </a:p>
          <a:p>
            <a:pPr marL="742950" lvl="1" indent="-285750">
              <a:buFont typeface="Wingdings" panose="05000000000000000000" pitchFamily="2" charset="2"/>
              <a:buChar char=""/>
            </a:pPr>
            <a:r>
              <a:rPr lang="ja-JP" altLang="ja-JP" sz="1000" dirty="0">
                <a:effectLst/>
                <a:latin typeface="Times New Roman" panose="02020603050405020304" pitchFamily="18" charset="0"/>
                <a:ea typeface="游明朝" panose="02020400000000000000" pitchFamily="18" charset="-128"/>
              </a:rPr>
              <a:t>ね</a:t>
            </a:r>
          </a:p>
          <a:p>
            <a:pPr>
              <a:buNone/>
            </a:pPr>
            <a:r>
              <a:rPr lang="en-US" altLang="ja-JP" sz="1000" dirty="0">
                <a:effectLst/>
                <a:latin typeface="Times New Roman" panose="02020603050405020304" pitchFamily="18" charset="0"/>
                <a:ea typeface="游明朝" panose="02020400000000000000" pitchFamily="18" charset="-128"/>
              </a:rPr>
              <a:t> </a:t>
            </a:r>
            <a:endParaRPr lang="ja-JP" altLang="ja-JP" sz="1000" dirty="0">
              <a:effectLst/>
              <a:latin typeface="Times New Roman" panose="02020603050405020304" pitchFamily="18" charset="0"/>
              <a:ea typeface="游明朝" panose="02020400000000000000" pitchFamily="18" charset="-128"/>
            </a:endParaRPr>
          </a:p>
          <a:p>
            <a:pPr>
              <a:buNone/>
            </a:pPr>
            <a:r>
              <a:rPr lang="ja-JP" altLang="ja-JP" sz="1300" b="1" dirty="0">
                <a:solidFill>
                  <a:srgbClr val="2E74B5"/>
                </a:solidFill>
                <a:effectLst/>
                <a:latin typeface="Times New Roman" panose="02020603050405020304" pitchFamily="18" charset="0"/>
                <a:ea typeface="游明朝" panose="02020400000000000000" pitchFamily="18" charset="-128"/>
              </a:rPr>
              <a:t>見出し</a:t>
            </a:r>
            <a:r>
              <a:rPr lang="en-US" altLang="ja-JP" sz="1300" b="1" dirty="0">
                <a:solidFill>
                  <a:srgbClr val="2E74B5"/>
                </a:solidFill>
                <a:effectLst/>
                <a:latin typeface="Times New Roman" panose="02020603050405020304" pitchFamily="18" charset="0"/>
              </a:rPr>
              <a:t>2</a:t>
            </a:r>
            <a:endParaRPr lang="ja-JP" altLang="ja-JP" sz="1300" b="1" dirty="0">
              <a:solidFill>
                <a:srgbClr val="2E74B5"/>
              </a:solidFill>
              <a:effectLst/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US" altLang="ja-JP" sz="1000" dirty="0">
                <a:effectLst/>
                <a:latin typeface="Times New Roman" panose="02020603050405020304" pitchFamily="18" charset="0"/>
                <a:ea typeface="游明朝" panose="02020400000000000000" pitchFamily="18" charset="-128"/>
              </a:rPr>
              <a:t> </a:t>
            </a:r>
            <a:endParaRPr lang="ja-JP" altLang="ja-JP" sz="1000" dirty="0">
              <a:effectLst/>
              <a:latin typeface="Times New Roman" panose="02020603050405020304" pitchFamily="18" charset="0"/>
              <a:ea typeface="游明朝" panose="02020400000000000000" pitchFamily="18" charset="-128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ja-JP" altLang="ja-JP" sz="1000" dirty="0">
                <a:effectLst/>
                <a:latin typeface="Times New Roman" panose="02020603050405020304" pitchFamily="18" charset="0"/>
                <a:ea typeface="游明朝" panose="02020400000000000000" pitchFamily="18" charset="-128"/>
              </a:rPr>
              <a:t>いちご</a:t>
            </a:r>
          </a:p>
          <a:p>
            <a:pPr marL="742950" lvl="1" indent="-285750">
              <a:buFont typeface="+mj-ea"/>
              <a:buAutoNum type="ea1ChsPlain"/>
            </a:pPr>
            <a:r>
              <a:rPr lang="ja-JP" altLang="ja-JP" sz="1000" dirty="0">
                <a:effectLst/>
                <a:latin typeface="Times New Roman" panose="02020603050405020304" pitchFamily="18" charset="0"/>
                <a:ea typeface="游明朝" panose="02020400000000000000" pitchFamily="18" charset="-128"/>
              </a:rPr>
              <a:t>りんご</a:t>
            </a:r>
          </a:p>
          <a:p>
            <a:pPr marL="1143000" lvl="2" indent="-228600">
              <a:buFont typeface="+mj-ea"/>
              <a:buAutoNum type="circleNumDbPlain"/>
            </a:pPr>
            <a:r>
              <a:rPr lang="ja-JP" altLang="ja-JP" sz="1000" dirty="0">
                <a:effectLst/>
                <a:latin typeface="Times New Roman" panose="02020603050405020304" pitchFamily="18" charset="0"/>
                <a:ea typeface="游明朝" panose="02020400000000000000" pitchFamily="18" charset="-128"/>
              </a:rPr>
              <a:t>ばなな</a:t>
            </a:r>
          </a:p>
          <a:p>
            <a:pPr marL="342900" lvl="0" indent="-342900">
              <a:buFont typeface="+mj-lt"/>
              <a:buAutoNum type="arabicPeriod"/>
            </a:pPr>
            <a:r>
              <a:rPr lang="ja-JP" altLang="ja-JP" sz="1000" dirty="0">
                <a:effectLst/>
                <a:latin typeface="Times New Roman" panose="02020603050405020304" pitchFamily="18" charset="0"/>
                <a:ea typeface="游明朝" panose="02020400000000000000" pitchFamily="18" charset="-128"/>
              </a:rPr>
              <a:t>りんご</a:t>
            </a:r>
          </a:p>
          <a:p>
            <a:pPr marL="742950" lvl="1" indent="-285750">
              <a:buFont typeface="+mj-ea"/>
              <a:buAutoNum type="ea1ChsPlain"/>
            </a:pPr>
            <a:r>
              <a:rPr lang="ja-JP" altLang="ja-JP" sz="1000" dirty="0">
                <a:effectLst/>
                <a:latin typeface="Times New Roman" panose="02020603050405020304" pitchFamily="18" charset="0"/>
                <a:ea typeface="游明朝" panose="02020400000000000000" pitchFamily="18" charset="-128"/>
              </a:rPr>
              <a:t>ばなな</a:t>
            </a:r>
          </a:p>
        </p:txBody>
      </p:sp>
    </p:spTree>
    <p:extLst>
      <p:ext uri="{BB962C8B-B14F-4D97-AF65-F5344CB8AC3E}">
        <p14:creationId xmlns:p14="http://schemas.microsoft.com/office/powerpoint/2010/main" val="1499793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CACFB22F-784C-15D9-CC05-0D526DE4DE07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1370013"/>
          <a:ext cx="7886700" cy="1219200"/>
        </p:xfrm>
        <a:graphic>
          <a:graphicData uri="http://schemas.openxmlformats.org/drawingml/2006/table">
            <a:tbl>
              <a:tblPr/>
              <a:tblGrid>
                <a:gridCol w="1971675">
                  <a:extLst>
                    <a:ext uri="{9D8B030D-6E8A-4147-A177-3AD203B41FA5}">
                      <a16:colId xmlns:a16="http://schemas.microsoft.com/office/drawing/2014/main" val="1508176782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4128019237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256567044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612480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 b="1">
                          <a:effectLst/>
                          <a:latin typeface="Times New Roman" panose="02020603050405020304" pitchFamily="18" charset="0"/>
                          <a:ea typeface="游明朝" panose="02020400000000000000" pitchFamily="18" charset="-128"/>
                        </a:rPr>
                        <a:t>商品名</a:t>
                      </a:r>
                      <a:endParaRPr lang="ja-JP" sz="100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</a:endParaRPr>
                    </a:p>
                    <a:p>
                      <a:pPr>
                        <a:buNone/>
                      </a:pPr>
                      <a:endParaRPr lang="ja-JP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 b="1">
                          <a:effectLst/>
                          <a:latin typeface="Times New Roman" panose="02020603050405020304" pitchFamily="18" charset="0"/>
                          <a:ea typeface="游明朝" panose="02020400000000000000" pitchFamily="18" charset="-128"/>
                        </a:rPr>
                        <a:t>数量</a:t>
                      </a:r>
                      <a:endParaRPr lang="ja-JP" sz="100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</a:endParaRPr>
                    </a:p>
                    <a:p>
                      <a:pPr>
                        <a:buNone/>
                      </a:pPr>
                      <a:endParaRPr lang="ja-JP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 b="1">
                          <a:effectLst/>
                          <a:latin typeface="Times New Roman" panose="02020603050405020304" pitchFamily="18" charset="0"/>
                          <a:ea typeface="游明朝" panose="02020400000000000000" pitchFamily="18" charset="-128"/>
                        </a:rPr>
                        <a:t>単価</a:t>
                      </a:r>
                      <a:endParaRPr lang="ja-JP" sz="100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</a:endParaRPr>
                    </a:p>
                    <a:p>
                      <a:pPr>
                        <a:buNone/>
                      </a:pPr>
                      <a:endParaRPr lang="ja-JP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 b="1">
                          <a:effectLst/>
                          <a:latin typeface="Times New Roman" panose="02020603050405020304" pitchFamily="18" charset="0"/>
                          <a:ea typeface="游明朝" panose="02020400000000000000" pitchFamily="18" charset="-128"/>
                        </a:rPr>
                        <a:t>合計</a:t>
                      </a:r>
                      <a:endParaRPr lang="ja-JP" sz="100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</a:endParaRPr>
                    </a:p>
                    <a:p>
                      <a:pPr>
                        <a:buNone/>
                      </a:pPr>
                      <a:endParaRPr lang="ja-JP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945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 dirty="0">
                          <a:effectLst/>
                          <a:latin typeface="Times New Roman" panose="02020603050405020304" pitchFamily="18" charset="0"/>
                          <a:ea typeface="游明朝" panose="02020400000000000000" pitchFamily="18" charset="-128"/>
                        </a:rPr>
                        <a:t>りんご</a:t>
                      </a:r>
                    </a:p>
                    <a:p>
                      <a:pPr>
                        <a:buNone/>
                      </a:pPr>
                      <a:endParaRPr lang="ja-JP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游明朝" panose="02020400000000000000" pitchFamily="18" charset="-128"/>
                        </a:rPr>
                        <a:t>3</a:t>
                      </a:r>
                      <a:endParaRPr lang="ja-JP" sz="100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</a:endParaRPr>
                    </a:p>
                    <a:p>
                      <a:pPr>
                        <a:buNone/>
                      </a:pPr>
                      <a:endParaRPr lang="ja-JP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游明朝" panose="02020400000000000000" pitchFamily="18" charset="-128"/>
                        </a:rPr>
                        <a:t>150</a:t>
                      </a:r>
                      <a:endParaRPr lang="ja-JP" sz="100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</a:endParaRPr>
                    </a:p>
                    <a:p>
                      <a:pPr>
                        <a:buNone/>
                      </a:pPr>
                      <a:endParaRPr lang="ja-JP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游明朝" panose="02020400000000000000" pitchFamily="18" charset="-128"/>
                        </a:rPr>
                        <a:t>450</a:t>
                      </a:r>
                      <a:endParaRPr lang="ja-JP" sz="100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</a:endParaRPr>
                    </a:p>
                    <a:p>
                      <a:pPr>
                        <a:buNone/>
                      </a:pPr>
                      <a:endParaRPr lang="ja-JP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2669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>
                          <a:effectLst/>
                          <a:latin typeface="Times New Roman" panose="02020603050405020304" pitchFamily="18" charset="0"/>
                          <a:ea typeface="游明朝" panose="02020400000000000000" pitchFamily="18" charset="-128"/>
                        </a:rPr>
                        <a:t>バナナ</a:t>
                      </a:r>
                    </a:p>
                    <a:p>
                      <a:pPr>
                        <a:buNone/>
                      </a:pPr>
                      <a:endParaRPr lang="ja-JP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游明朝" panose="02020400000000000000" pitchFamily="18" charset="-128"/>
                        </a:rPr>
                        <a:t>5</a:t>
                      </a:r>
                      <a:endParaRPr lang="ja-JP" sz="100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</a:endParaRPr>
                    </a:p>
                    <a:p>
                      <a:pPr>
                        <a:buNone/>
                      </a:pPr>
                      <a:endParaRPr lang="ja-JP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游明朝" panose="02020400000000000000" pitchFamily="18" charset="-128"/>
                        </a:rPr>
                        <a:t>100</a:t>
                      </a:r>
                      <a:endParaRPr lang="ja-JP" sz="100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</a:endParaRPr>
                    </a:p>
                    <a:p>
                      <a:pPr>
                        <a:buNone/>
                      </a:pPr>
                      <a:endParaRPr lang="ja-JP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游明朝" panose="02020400000000000000" pitchFamily="18" charset="-128"/>
                        </a:rPr>
                        <a:t>500</a:t>
                      </a:r>
                      <a:endParaRPr lang="ja-JP" sz="100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</a:endParaRPr>
                    </a:p>
                    <a:p>
                      <a:pPr>
                        <a:buNone/>
                      </a:pPr>
                      <a:endParaRPr lang="ja-JP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40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>
                          <a:effectLst/>
                          <a:latin typeface="Times New Roman" panose="02020603050405020304" pitchFamily="18" charset="0"/>
                          <a:ea typeface="游明朝" panose="02020400000000000000" pitchFamily="18" charset="-128"/>
                        </a:rPr>
                        <a:t>みかん</a:t>
                      </a:r>
                    </a:p>
                    <a:p>
                      <a:pPr>
                        <a:buNone/>
                      </a:pPr>
                      <a:endParaRPr lang="ja-JP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游明朝" panose="02020400000000000000" pitchFamily="18" charset="-128"/>
                        </a:rPr>
                        <a:t>8</a:t>
                      </a:r>
                      <a:endParaRPr lang="ja-JP" sz="10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</a:endParaRPr>
                    </a:p>
                    <a:p>
                      <a:pPr>
                        <a:buNone/>
                      </a:pPr>
                      <a:endParaRPr lang="ja-JP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游明朝" panose="02020400000000000000" pitchFamily="18" charset="-128"/>
                        </a:rPr>
                        <a:t>80</a:t>
                      </a:r>
                      <a:endParaRPr lang="ja-JP" sz="100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</a:endParaRPr>
                    </a:p>
                    <a:p>
                      <a:pPr>
                        <a:buNone/>
                      </a:pPr>
                      <a:endParaRPr lang="ja-JP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游明朝" panose="02020400000000000000" pitchFamily="18" charset="-128"/>
                        </a:rPr>
                        <a:t>640</a:t>
                      </a:r>
                      <a:endParaRPr lang="ja-JP" sz="10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</a:endParaRPr>
                    </a:p>
                    <a:p>
                      <a:pPr>
                        <a:buNone/>
                      </a:pPr>
                      <a:endParaRPr lang="ja-JP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828429"/>
                  </a:ext>
                </a:extLst>
              </a:tr>
            </a:tbl>
          </a:graphicData>
        </a:graphic>
      </p:graphicFrame>
      <p:sp>
        <p:nvSpPr>
          <p:cNvPr id="8" name="Text 0">
            <a:extLst>
              <a:ext uri="{FF2B5EF4-FFF2-40B4-BE49-F238E27FC236}">
                <a16:creationId xmlns:a16="http://schemas.microsoft.com/office/drawing/2014/main" id="{2A02BA68-03FC-92A1-4D02-F5AA092A9F8C}"/>
              </a:ext>
            </a:extLst>
          </p:cNvPr>
          <p:cNvSpPr/>
          <p:nvPr/>
        </p:nvSpPr>
        <p:spPr>
          <a:xfrm>
            <a:off x="380010" y="326571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3600" b="1" dirty="0">
                <a:solidFill>
                  <a:srgbClr val="000000"/>
                </a:solidFill>
              </a:rPr>
              <a:t>表と図がある</a:t>
            </a:r>
            <a:endParaRPr lang="en-US" sz="36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BA3632C-4499-F8B1-03EF-43C736D8A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73" y="-168508"/>
            <a:ext cx="2100837" cy="143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ja-JP" altLang="en-US"/>
          </a:p>
        </p:txBody>
      </p:sp>
      <p:pic>
        <p:nvPicPr>
          <p:cNvPr id="2049" name="図 1">
            <a:extLst>
              <a:ext uri="{FF2B5EF4-FFF2-40B4-BE49-F238E27FC236}">
                <a16:creationId xmlns:a16="http://schemas.microsoft.com/office/drawing/2014/main" id="{66F9606B-AB0E-0F0C-6B22-8808DB2E4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230" y="2718255"/>
            <a:ext cx="1397338" cy="128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407D7363-CE26-E772-5F3C-8A634EF3B50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16317" y="4053935"/>
            <a:ext cx="2100837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rPr>
              <a:t>図 </a:t>
            </a:r>
            <a:r>
              <a:rPr kumimoji="0" lang="en-US" altLang="ja-JP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rPr>
              <a:t>1</a:t>
            </a:r>
            <a:r>
              <a:rPr kumimoji="0" lang="ja-JP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rPr>
              <a:t>ドーナツ</a:t>
            </a:r>
            <a:endParaRPr kumimoji="0" lang="ja-JP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9F29AA87-1662-9691-6E6C-CF249436E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5982" y="2764976"/>
            <a:ext cx="644009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600" b="0" i="0" u="none" strike="noStrike" cap="none" normalizeH="0" baseline="0" dirty="0">
                <a:ln>
                  <a:noFill/>
                </a:ln>
                <a:solidFill>
                  <a:srgbClr val="2E74B5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調査結果</a:t>
            </a:r>
            <a:endParaRPr kumimoji="0" lang="ja-JP" altLang="ja-JP" sz="1600" b="0" i="0" u="none" strike="noStrike" cap="none" normalizeH="0" baseline="0" dirty="0">
              <a:ln>
                <a:noFill/>
              </a:ln>
              <a:solidFill>
                <a:srgbClr val="2E74B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rPr>
              <a:t>表 </a:t>
            </a:r>
            <a:r>
              <a:rPr kumimoji="0" lang="en-US" altLang="ja-JP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rPr>
              <a:t>2</a:t>
            </a:r>
            <a:r>
              <a:rPr kumimoji="0" lang="ja-JP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rPr>
              <a:t>　生命保険</a:t>
            </a:r>
            <a:endParaRPr kumimoji="0" lang="ja-JP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2" name="図 1">
            <a:extLst>
              <a:ext uri="{FF2B5EF4-FFF2-40B4-BE49-F238E27FC236}">
                <a16:creationId xmlns:a16="http://schemas.microsoft.com/office/drawing/2014/main" id="{572C91DD-50CA-E977-49FF-254C2E38C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0053" y="3314824"/>
            <a:ext cx="4038474" cy="1489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6">
            <a:extLst>
              <a:ext uri="{FF2B5EF4-FFF2-40B4-BE49-F238E27FC236}">
                <a16:creationId xmlns:a16="http://schemas.microsoft.com/office/drawing/2014/main" id="{CBA721E1-FB1D-18D6-CA4A-C4B40B3CF35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368385" y="4804095"/>
            <a:ext cx="644009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32807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108</Words>
  <Application>Microsoft Office PowerPoint</Application>
  <PresentationFormat>画面に合わせる (16:9)</PresentationFormat>
  <Paragraphs>63</Paragraphs>
  <Slides>6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游明朝</vt:lpstr>
      <vt:lpstr>Arial</vt:lpstr>
      <vt:lpstr>Times New Roman</vt:lpstr>
      <vt:lpstr>Wingdings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月次売上レポート (pptx fixture)</dc:title>
  <dc:subject>PptxGenJS Presentation</dc:subject>
  <dc:creator>til-fixture</dc:creator>
  <cp:lastModifiedBy>ishibashi kazufusa</cp:lastModifiedBy>
  <cp:revision>2</cp:revision>
  <dcterms:created xsi:type="dcterms:W3CDTF">2026-05-14T13:45:13Z</dcterms:created>
  <dcterms:modified xsi:type="dcterms:W3CDTF">2026-05-16T14:43:16Z</dcterms:modified>
</cp:coreProperties>
</file>