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30"/>
  </p:notesMasterIdLst>
  <p:handoutMasterIdLst>
    <p:handoutMasterId r:id="rId31"/>
  </p:handoutMasterIdLst>
  <p:sldIdLst>
    <p:sldId id="817" r:id="rId2"/>
    <p:sldId id="617" r:id="rId3"/>
    <p:sldId id="618" r:id="rId4"/>
    <p:sldId id="641" r:id="rId5"/>
    <p:sldId id="642" r:id="rId6"/>
    <p:sldId id="643" r:id="rId7"/>
    <p:sldId id="652" r:id="rId8"/>
    <p:sldId id="722" r:id="rId9"/>
    <p:sldId id="657" r:id="rId10"/>
    <p:sldId id="720" r:id="rId11"/>
    <p:sldId id="728" r:id="rId12"/>
    <p:sldId id="748" r:id="rId13"/>
    <p:sldId id="808" r:id="rId14"/>
    <p:sldId id="721" r:id="rId15"/>
    <p:sldId id="730" r:id="rId16"/>
    <p:sldId id="802" r:id="rId17"/>
    <p:sldId id="732" r:id="rId18"/>
    <p:sldId id="768" r:id="rId19"/>
    <p:sldId id="769" r:id="rId20"/>
    <p:sldId id="772" r:id="rId21"/>
    <p:sldId id="773" r:id="rId22"/>
    <p:sldId id="774" r:id="rId23"/>
    <p:sldId id="775" r:id="rId24"/>
    <p:sldId id="777" r:id="rId25"/>
    <p:sldId id="778" r:id="rId26"/>
    <p:sldId id="779" r:id="rId27"/>
    <p:sldId id="780" r:id="rId28"/>
    <p:sldId id="781" r:id="rId29"/>
  </p:sldIdLst>
  <p:sldSz cx="6858000" cy="9906000" type="A4"/>
  <p:notesSz cx="6735763" cy="9866313"/>
  <p:defaultTextStyle>
    <a:defPPr>
      <a:defRPr lang="ja-JP"/>
    </a:defPPr>
    <a:lvl1pPr algn="ctr" rtl="0" fontAlgn="base">
      <a:spcBef>
        <a:spcPct val="0"/>
      </a:spcBef>
      <a:spcAft>
        <a:spcPct val="0"/>
      </a:spcAft>
      <a:defRPr kumimoji="1" sz="3200" kern="1200">
        <a:solidFill>
          <a:schemeClr val="tx1"/>
        </a:solidFill>
        <a:latin typeface="Century" panose="02040604050505020304" pitchFamily="18" charset="0"/>
        <a:ea typeface="ＭＳ Ｐゴシック" panose="020B0600070205080204" pitchFamily="50" charset="-128"/>
        <a:cs typeface="+mn-cs"/>
      </a:defRPr>
    </a:lvl1pPr>
    <a:lvl2pPr marL="457200" algn="ctr" rtl="0" fontAlgn="base">
      <a:spcBef>
        <a:spcPct val="0"/>
      </a:spcBef>
      <a:spcAft>
        <a:spcPct val="0"/>
      </a:spcAft>
      <a:defRPr kumimoji="1" sz="3200" kern="1200">
        <a:solidFill>
          <a:schemeClr val="tx1"/>
        </a:solidFill>
        <a:latin typeface="Century" panose="02040604050505020304" pitchFamily="18" charset="0"/>
        <a:ea typeface="ＭＳ Ｐゴシック" panose="020B0600070205080204" pitchFamily="50" charset="-128"/>
        <a:cs typeface="+mn-cs"/>
      </a:defRPr>
    </a:lvl2pPr>
    <a:lvl3pPr marL="914400" algn="ctr" rtl="0" fontAlgn="base">
      <a:spcBef>
        <a:spcPct val="0"/>
      </a:spcBef>
      <a:spcAft>
        <a:spcPct val="0"/>
      </a:spcAft>
      <a:defRPr kumimoji="1" sz="3200" kern="1200">
        <a:solidFill>
          <a:schemeClr val="tx1"/>
        </a:solidFill>
        <a:latin typeface="Century" panose="02040604050505020304" pitchFamily="18" charset="0"/>
        <a:ea typeface="ＭＳ Ｐゴシック" panose="020B0600070205080204" pitchFamily="50" charset="-128"/>
        <a:cs typeface="+mn-cs"/>
      </a:defRPr>
    </a:lvl3pPr>
    <a:lvl4pPr marL="1371600" algn="ctr" rtl="0" fontAlgn="base">
      <a:spcBef>
        <a:spcPct val="0"/>
      </a:spcBef>
      <a:spcAft>
        <a:spcPct val="0"/>
      </a:spcAft>
      <a:defRPr kumimoji="1" sz="3200" kern="1200">
        <a:solidFill>
          <a:schemeClr val="tx1"/>
        </a:solidFill>
        <a:latin typeface="Century" panose="02040604050505020304" pitchFamily="18" charset="0"/>
        <a:ea typeface="ＭＳ Ｐゴシック" panose="020B0600070205080204" pitchFamily="50" charset="-128"/>
        <a:cs typeface="+mn-cs"/>
      </a:defRPr>
    </a:lvl4pPr>
    <a:lvl5pPr marL="1828800" algn="ctr" rtl="0" fontAlgn="base">
      <a:spcBef>
        <a:spcPct val="0"/>
      </a:spcBef>
      <a:spcAft>
        <a:spcPct val="0"/>
      </a:spcAft>
      <a:defRPr kumimoji="1" sz="3200" kern="1200">
        <a:solidFill>
          <a:schemeClr val="tx1"/>
        </a:solidFill>
        <a:latin typeface="Century" panose="02040604050505020304" pitchFamily="18" charset="0"/>
        <a:ea typeface="ＭＳ Ｐゴシック" panose="020B0600070205080204" pitchFamily="50" charset="-128"/>
        <a:cs typeface="+mn-cs"/>
      </a:defRPr>
    </a:lvl5pPr>
    <a:lvl6pPr marL="2286000" algn="l" defTabSz="914400" rtl="0" eaLnBrk="1" latinLnBrk="0" hangingPunct="1">
      <a:defRPr kumimoji="1" sz="3200" kern="1200">
        <a:solidFill>
          <a:schemeClr val="tx1"/>
        </a:solidFill>
        <a:latin typeface="Century" panose="02040604050505020304" pitchFamily="18" charset="0"/>
        <a:ea typeface="ＭＳ Ｐゴシック" panose="020B0600070205080204" pitchFamily="50" charset="-128"/>
        <a:cs typeface="+mn-cs"/>
      </a:defRPr>
    </a:lvl6pPr>
    <a:lvl7pPr marL="2743200" algn="l" defTabSz="914400" rtl="0" eaLnBrk="1" latinLnBrk="0" hangingPunct="1">
      <a:defRPr kumimoji="1" sz="3200" kern="1200">
        <a:solidFill>
          <a:schemeClr val="tx1"/>
        </a:solidFill>
        <a:latin typeface="Century" panose="02040604050505020304" pitchFamily="18" charset="0"/>
        <a:ea typeface="ＭＳ Ｐゴシック" panose="020B0600070205080204" pitchFamily="50" charset="-128"/>
        <a:cs typeface="+mn-cs"/>
      </a:defRPr>
    </a:lvl7pPr>
    <a:lvl8pPr marL="3200400" algn="l" defTabSz="914400" rtl="0" eaLnBrk="1" latinLnBrk="0" hangingPunct="1">
      <a:defRPr kumimoji="1" sz="3200" kern="1200">
        <a:solidFill>
          <a:schemeClr val="tx1"/>
        </a:solidFill>
        <a:latin typeface="Century" panose="02040604050505020304" pitchFamily="18" charset="0"/>
        <a:ea typeface="ＭＳ Ｐゴシック" panose="020B0600070205080204" pitchFamily="50" charset="-128"/>
        <a:cs typeface="+mn-cs"/>
      </a:defRPr>
    </a:lvl8pPr>
    <a:lvl9pPr marL="3657600" algn="l" defTabSz="914400" rtl="0" eaLnBrk="1" latinLnBrk="0" hangingPunct="1">
      <a:defRPr kumimoji="1" sz="3200" kern="1200">
        <a:solidFill>
          <a:schemeClr val="tx1"/>
        </a:solidFill>
        <a:latin typeface="Century" panose="02040604050505020304" pitchFamily="18"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498">
          <p15:clr>
            <a:srgbClr val="A4A3A4"/>
          </p15:clr>
        </p15:guide>
        <p15:guide id="2" orient="horz" pos="5712">
          <p15:clr>
            <a:srgbClr val="A4A3A4"/>
          </p15:clr>
        </p15:guide>
        <p15:guide id="3" orient="horz" pos="768">
          <p15:clr>
            <a:srgbClr val="A4A3A4"/>
          </p15:clr>
        </p15:guide>
        <p15:guide id="4" orient="horz" pos="1008">
          <p15:clr>
            <a:srgbClr val="A4A3A4"/>
          </p15:clr>
        </p15:guide>
        <p15:guide id="5" pos="3984">
          <p15:clr>
            <a:srgbClr val="A4A3A4"/>
          </p15:clr>
        </p15:guide>
        <p15:guide id="6" pos="2160">
          <p15:clr>
            <a:srgbClr val="A4A3A4"/>
          </p15:clr>
        </p15:guide>
        <p15:guide id="7" pos="336">
          <p15:clr>
            <a:srgbClr val="A4A3A4"/>
          </p15:clr>
        </p15:guide>
        <p15:guide id="8" pos="4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CC"/>
    <a:srgbClr val="FF9933"/>
    <a:srgbClr val="6600CC"/>
    <a:srgbClr val="969696"/>
    <a:srgbClr val="CCFFFF"/>
    <a:srgbClr val="99CCFF"/>
    <a:srgbClr val="000099"/>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116" autoAdjust="0"/>
    <p:restoredTop sz="96929" autoAdjust="0"/>
  </p:normalViewPr>
  <p:slideViewPr>
    <p:cSldViewPr>
      <p:cViewPr varScale="1">
        <p:scale>
          <a:sx n="58" d="100"/>
          <a:sy n="58" d="100"/>
        </p:scale>
        <p:origin x="1492" y="40"/>
      </p:cViewPr>
      <p:guideLst>
        <p:guide orient="horz" pos="498"/>
        <p:guide orient="horz" pos="5712"/>
        <p:guide orient="horz" pos="768"/>
        <p:guide orient="horz" pos="1008"/>
        <p:guide pos="3984"/>
        <p:guide pos="2160"/>
        <p:guide pos="336"/>
        <p:guide pos="480"/>
      </p:guideLst>
    </p:cSldViewPr>
  </p:slideViewPr>
  <p:outlineViewPr>
    <p:cViewPr>
      <p:scale>
        <a:sx n="20" d="100"/>
        <a:sy n="20"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A43293B-194D-E5A0-BB71-26A89DB6BBD4}"/>
              </a:ext>
            </a:extLst>
          </p:cNvPr>
          <p:cNvSpPr>
            <a:spLocks noGrp="1" noChangeArrowheads="1"/>
          </p:cNvSpPr>
          <p:nvPr>
            <p:ph type="hdr" sz="quarter"/>
          </p:nvPr>
        </p:nvSpPr>
        <p:spPr bwMode="auto">
          <a:xfrm>
            <a:off x="-25400" y="33338"/>
            <a:ext cx="2930525"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l" defTabSz="936625">
              <a:defRPr sz="1000" i="1">
                <a:latin typeface="Times New Roman" panose="02020603050405020304" pitchFamily="18" charset="0"/>
              </a:defRPr>
            </a:lvl1pPr>
          </a:lstStyle>
          <a:p>
            <a:endParaRPr lang="en-US" altLang="ja-JP"/>
          </a:p>
        </p:txBody>
      </p:sp>
      <p:sp>
        <p:nvSpPr>
          <p:cNvPr id="3075" name="Rectangle 3">
            <a:extLst>
              <a:ext uri="{FF2B5EF4-FFF2-40B4-BE49-F238E27FC236}">
                <a16:creationId xmlns:a16="http://schemas.microsoft.com/office/drawing/2014/main" id="{B78D5800-2767-970A-ED08-2122A1AC4C48}"/>
              </a:ext>
            </a:extLst>
          </p:cNvPr>
          <p:cNvSpPr>
            <a:spLocks noGrp="1" noChangeArrowheads="1"/>
          </p:cNvSpPr>
          <p:nvPr>
            <p:ph type="dt" sz="quarter" idx="1"/>
          </p:nvPr>
        </p:nvSpPr>
        <p:spPr bwMode="auto">
          <a:xfrm>
            <a:off x="3829050" y="33338"/>
            <a:ext cx="2930525"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defTabSz="936625">
              <a:defRPr sz="1000" i="1">
                <a:latin typeface="Times New Roman" panose="02020603050405020304" pitchFamily="18" charset="0"/>
              </a:defRPr>
            </a:lvl1pPr>
          </a:lstStyle>
          <a:p>
            <a:endParaRPr lang="en-US" altLang="ja-JP"/>
          </a:p>
        </p:txBody>
      </p:sp>
      <p:sp>
        <p:nvSpPr>
          <p:cNvPr id="3076" name="Rectangle 4">
            <a:extLst>
              <a:ext uri="{FF2B5EF4-FFF2-40B4-BE49-F238E27FC236}">
                <a16:creationId xmlns:a16="http://schemas.microsoft.com/office/drawing/2014/main" id="{A33900F0-9948-6A63-17E5-C1C0C73D661F}"/>
              </a:ext>
            </a:extLst>
          </p:cNvPr>
          <p:cNvSpPr>
            <a:spLocks noGrp="1" noChangeArrowheads="1"/>
          </p:cNvSpPr>
          <p:nvPr>
            <p:ph type="ftr" sz="quarter" idx="2"/>
          </p:nvPr>
        </p:nvSpPr>
        <p:spPr bwMode="auto">
          <a:xfrm>
            <a:off x="-25400" y="9372600"/>
            <a:ext cx="29305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l" defTabSz="936625">
              <a:defRPr sz="1000" i="1">
                <a:latin typeface="Times New Roman" panose="02020603050405020304" pitchFamily="18" charset="0"/>
              </a:defRPr>
            </a:lvl1pPr>
          </a:lstStyle>
          <a:p>
            <a:endParaRPr lang="en-US" altLang="ja-JP"/>
          </a:p>
        </p:txBody>
      </p:sp>
      <p:sp>
        <p:nvSpPr>
          <p:cNvPr id="3077" name="Rectangle 5">
            <a:extLst>
              <a:ext uri="{FF2B5EF4-FFF2-40B4-BE49-F238E27FC236}">
                <a16:creationId xmlns:a16="http://schemas.microsoft.com/office/drawing/2014/main" id="{8E9E1599-8EC2-6004-AF11-897102524449}"/>
              </a:ext>
            </a:extLst>
          </p:cNvPr>
          <p:cNvSpPr>
            <a:spLocks noGrp="1" noChangeArrowheads="1"/>
          </p:cNvSpPr>
          <p:nvPr>
            <p:ph type="sldNum" sz="quarter" idx="3"/>
          </p:nvPr>
        </p:nvSpPr>
        <p:spPr bwMode="auto">
          <a:xfrm>
            <a:off x="3829050" y="9372600"/>
            <a:ext cx="29305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defTabSz="936625">
              <a:defRPr sz="1000" i="1">
                <a:latin typeface="Times New Roman" panose="02020603050405020304" pitchFamily="18" charset="0"/>
              </a:defRPr>
            </a:lvl1pPr>
          </a:lstStyle>
          <a:p>
            <a:fld id="{211CC55E-11B2-485D-9237-A82670BF7887}" type="slidenum">
              <a:rPr lang="en-US" altLang="ja-JP"/>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A692A96-E3FB-E611-7FD9-10E6C5DC75D7}"/>
              </a:ext>
            </a:extLst>
          </p:cNvPr>
          <p:cNvSpPr>
            <a:spLocks noGrp="1" noChangeArrowheads="1"/>
          </p:cNvSpPr>
          <p:nvPr>
            <p:ph type="hdr" sz="quarter"/>
          </p:nvPr>
        </p:nvSpPr>
        <p:spPr bwMode="auto">
          <a:xfrm>
            <a:off x="-26988" y="33338"/>
            <a:ext cx="2932113"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l" defTabSz="936625">
              <a:defRPr sz="1000" i="1">
                <a:latin typeface="Times New Roman" panose="02020603050405020304" pitchFamily="18" charset="0"/>
              </a:defRPr>
            </a:lvl1pPr>
          </a:lstStyle>
          <a:p>
            <a:endParaRPr lang="en-US" altLang="ja-JP"/>
          </a:p>
        </p:txBody>
      </p:sp>
      <p:sp>
        <p:nvSpPr>
          <p:cNvPr id="2051" name="Rectangle 3">
            <a:extLst>
              <a:ext uri="{FF2B5EF4-FFF2-40B4-BE49-F238E27FC236}">
                <a16:creationId xmlns:a16="http://schemas.microsoft.com/office/drawing/2014/main" id="{B7D5BD4B-C22D-180B-91B9-CDB0A07EFB64}"/>
              </a:ext>
            </a:extLst>
          </p:cNvPr>
          <p:cNvSpPr>
            <a:spLocks noGrp="1" noChangeArrowheads="1"/>
          </p:cNvSpPr>
          <p:nvPr>
            <p:ph type="dt" idx="1"/>
          </p:nvPr>
        </p:nvSpPr>
        <p:spPr bwMode="auto">
          <a:xfrm>
            <a:off x="3829050" y="33338"/>
            <a:ext cx="2932113"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defTabSz="936625">
              <a:defRPr sz="1000" i="1">
                <a:latin typeface="Times New Roman" panose="02020603050405020304" pitchFamily="18" charset="0"/>
              </a:defRPr>
            </a:lvl1pPr>
          </a:lstStyle>
          <a:p>
            <a:endParaRPr lang="en-US" altLang="ja-JP"/>
          </a:p>
        </p:txBody>
      </p:sp>
      <p:sp>
        <p:nvSpPr>
          <p:cNvPr id="2052" name="Rectangle 4">
            <a:extLst>
              <a:ext uri="{FF2B5EF4-FFF2-40B4-BE49-F238E27FC236}">
                <a16:creationId xmlns:a16="http://schemas.microsoft.com/office/drawing/2014/main" id="{405C3F98-0681-76FF-FF57-D36F70A7831D}"/>
              </a:ext>
            </a:extLst>
          </p:cNvPr>
          <p:cNvSpPr>
            <a:spLocks noGrp="1" noRot="1" noChangeAspect="1" noChangeArrowheads="1" noTextEdit="1"/>
          </p:cNvSpPr>
          <p:nvPr>
            <p:ph type="sldImg" idx="2"/>
          </p:nvPr>
        </p:nvSpPr>
        <p:spPr bwMode="auto">
          <a:xfrm>
            <a:off x="2073275" y="730250"/>
            <a:ext cx="2587625" cy="3736975"/>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A4EE36F5-C2EE-0DA2-A0AB-D03BFC99493D}"/>
              </a:ext>
            </a:extLst>
          </p:cNvPr>
          <p:cNvSpPr>
            <a:spLocks noGrp="1" noChangeArrowheads="1"/>
          </p:cNvSpPr>
          <p:nvPr>
            <p:ph type="body" sz="quarter" idx="3"/>
          </p:nvPr>
        </p:nvSpPr>
        <p:spPr bwMode="auto">
          <a:xfrm>
            <a:off x="900113" y="4702175"/>
            <a:ext cx="4933950" cy="444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662" tIns="46038" rIns="93662" bIns="46038" numCol="1" anchor="t" anchorCtr="0" compatLnSpc="1">
            <a:prstTxWarp prst="textNoShape">
              <a:avLst/>
            </a:prstTxWarp>
          </a:bodyPr>
          <a:lstStyle/>
          <a:p>
            <a:pPr lvl="0"/>
            <a:r>
              <a:rPr lang="ja-JP" altLang="en-US"/>
              <a:t>マスターテキストの書式設定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054" name="Rectangle 6">
            <a:extLst>
              <a:ext uri="{FF2B5EF4-FFF2-40B4-BE49-F238E27FC236}">
                <a16:creationId xmlns:a16="http://schemas.microsoft.com/office/drawing/2014/main" id="{723FFC56-2B0F-BDAA-4095-5F0536C5153B}"/>
              </a:ext>
            </a:extLst>
          </p:cNvPr>
          <p:cNvSpPr>
            <a:spLocks noGrp="1" noChangeArrowheads="1"/>
          </p:cNvSpPr>
          <p:nvPr>
            <p:ph type="ftr" sz="quarter" idx="4"/>
          </p:nvPr>
        </p:nvSpPr>
        <p:spPr bwMode="auto">
          <a:xfrm>
            <a:off x="-26988" y="9372600"/>
            <a:ext cx="293211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l" defTabSz="936625">
              <a:defRPr sz="1000" i="1">
                <a:latin typeface="Times New Roman" panose="02020603050405020304" pitchFamily="18" charset="0"/>
              </a:defRPr>
            </a:lvl1pPr>
          </a:lstStyle>
          <a:p>
            <a:endParaRPr lang="en-US" altLang="ja-JP"/>
          </a:p>
        </p:txBody>
      </p:sp>
      <p:sp>
        <p:nvSpPr>
          <p:cNvPr id="2055" name="Rectangle 7">
            <a:extLst>
              <a:ext uri="{FF2B5EF4-FFF2-40B4-BE49-F238E27FC236}">
                <a16:creationId xmlns:a16="http://schemas.microsoft.com/office/drawing/2014/main" id="{1C5BC474-B416-9E63-90D3-AD094D23939C}"/>
              </a:ext>
            </a:extLst>
          </p:cNvPr>
          <p:cNvSpPr>
            <a:spLocks noGrp="1" noChangeArrowheads="1"/>
          </p:cNvSpPr>
          <p:nvPr>
            <p:ph type="sldNum" sz="quarter" idx="5"/>
          </p:nvPr>
        </p:nvSpPr>
        <p:spPr bwMode="auto">
          <a:xfrm>
            <a:off x="3829050" y="9372600"/>
            <a:ext cx="293211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defTabSz="936625">
              <a:defRPr sz="1000" i="1">
                <a:latin typeface="Times New Roman" panose="02020603050405020304" pitchFamily="18" charset="0"/>
              </a:defRPr>
            </a:lvl1pPr>
          </a:lstStyle>
          <a:p>
            <a:fld id="{C654DA5E-1F14-486F-A024-789EC41E367B}"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defTabSz="936625" rtl="0" fontAlgn="base">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1pPr>
    <a:lvl2pPr marL="461963" algn="l" defTabSz="936625" rtl="0" fontAlgn="base">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2pPr>
    <a:lvl3pPr marL="925513" algn="l" defTabSz="936625" rtl="0" fontAlgn="base">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3pPr>
    <a:lvl4pPr marL="1387475" algn="l" defTabSz="936625" rtl="0" fontAlgn="base">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4pPr>
    <a:lvl5pPr marL="1851025" algn="l" defTabSz="936625" rtl="0" fontAlgn="base">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5FB784-CF8A-C7C1-6301-77D926A4820E}"/>
              </a:ext>
            </a:extLst>
          </p:cNvPr>
          <p:cNvSpPr>
            <a:spLocks noGrp="1"/>
          </p:cNvSpPr>
          <p:nvPr>
            <p:ph type="title"/>
          </p:nvPr>
        </p:nvSpPr>
        <p:spPr/>
        <p:txBody>
          <a:bodyPr/>
          <a:lstStyle/>
          <a:p>
            <a:r>
              <a:rPr lang="ja-JP" altLang="en-US"/>
              <a:t>マスター タイトルの書式設定</a:t>
            </a:r>
          </a:p>
        </p:txBody>
      </p:sp>
      <p:sp>
        <p:nvSpPr>
          <p:cNvPr id="3" name="コンテンツ プレースホルダー 2">
            <a:extLst>
              <a:ext uri="{FF2B5EF4-FFF2-40B4-BE49-F238E27FC236}">
                <a16:creationId xmlns:a16="http://schemas.microsoft.com/office/drawing/2014/main" id="{E528DE8D-13D9-C079-8E71-0739B56C263F}"/>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474200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BB7118-A708-06C6-8719-B29A472942AF}"/>
              </a:ext>
            </a:extLst>
          </p:cNvPr>
          <p:cNvSpPr>
            <a:spLocks noGrp="1"/>
          </p:cNvSpPr>
          <p:nvPr>
            <p:ph type="title"/>
          </p:nvPr>
        </p:nvSpPr>
        <p:spPr>
          <a:xfrm>
            <a:off x="468313" y="2470150"/>
            <a:ext cx="5915025" cy="4119563"/>
          </a:xfrm>
        </p:spPr>
        <p:txBody>
          <a:bodyPr anchor="b"/>
          <a:lstStyle>
            <a:lvl1pPr>
              <a:defRPr sz="6000"/>
            </a:lvl1pPr>
          </a:lstStyle>
          <a:p>
            <a:r>
              <a:rPr lang="ja-JP" altLang="en-US"/>
              <a:t>マスター タイトルの書式設定</a:t>
            </a:r>
          </a:p>
        </p:txBody>
      </p:sp>
      <p:sp>
        <p:nvSpPr>
          <p:cNvPr id="3" name="テキスト プレースホルダー 2">
            <a:extLst>
              <a:ext uri="{FF2B5EF4-FFF2-40B4-BE49-F238E27FC236}">
                <a16:creationId xmlns:a16="http://schemas.microsoft.com/office/drawing/2014/main" id="{08DD8968-348A-8BC7-281D-3E47752CAFA2}"/>
              </a:ext>
            </a:extLst>
          </p:cNvPr>
          <p:cNvSpPr>
            <a:spLocks noGrp="1"/>
          </p:cNvSpPr>
          <p:nvPr>
            <p:ph type="body" idx="1"/>
          </p:nvPr>
        </p:nvSpPr>
        <p:spPr>
          <a:xfrm>
            <a:off x="468313" y="6629400"/>
            <a:ext cx="5915025" cy="21669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ja-JP" altLang="en-US"/>
              <a:t>マスター テキストの書式設定</a:t>
            </a:r>
          </a:p>
        </p:txBody>
      </p:sp>
    </p:spTree>
    <p:extLst>
      <p:ext uri="{BB962C8B-B14F-4D97-AF65-F5344CB8AC3E}">
        <p14:creationId xmlns:p14="http://schemas.microsoft.com/office/powerpoint/2010/main" val="3724464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ADE17A-36E2-05EA-D07D-D64D20DED342}"/>
              </a:ext>
            </a:extLst>
          </p:cNvPr>
          <p:cNvSpPr>
            <a:spLocks noGrp="1"/>
          </p:cNvSpPr>
          <p:nvPr>
            <p:ph type="title"/>
          </p:nvPr>
        </p:nvSpPr>
        <p:spPr/>
        <p:txBody>
          <a:bodyPr/>
          <a:lstStyle/>
          <a:p>
            <a:r>
              <a:rPr lang="ja-JP" altLang="en-US"/>
              <a:t>マスター タイトルの書式設定</a:t>
            </a:r>
          </a:p>
        </p:txBody>
      </p:sp>
      <p:sp>
        <p:nvSpPr>
          <p:cNvPr id="3" name="コンテンツ プレースホルダー 2">
            <a:extLst>
              <a:ext uri="{FF2B5EF4-FFF2-40B4-BE49-F238E27FC236}">
                <a16:creationId xmlns:a16="http://schemas.microsoft.com/office/drawing/2014/main" id="{8FCE9D06-3B0E-D15B-4FFB-541370368939}"/>
              </a:ext>
            </a:extLst>
          </p:cNvPr>
          <p:cNvSpPr>
            <a:spLocks noGrp="1"/>
          </p:cNvSpPr>
          <p:nvPr>
            <p:ph sz="half" idx="1"/>
          </p:nvPr>
        </p:nvSpPr>
        <p:spPr>
          <a:xfrm>
            <a:off x="363538" y="838200"/>
            <a:ext cx="2941637" cy="67786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a:extLst>
              <a:ext uri="{FF2B5EF4-FFF2-40B4-BE49-F238E27FC236}">
                <a16:creationId xmlns:a16="http://schemas.microsoft.com/office/drawing/2014/main" id="{E676E239-138C-47CF-D3C5-BC98422725D4}"/>
              </a:ext>
            </a:extLst>
          </p:cNvPr>
          <p:cNvSpPr>
            <a:spLocks noGrp="1"/>
          </p:cNvSpPr>
          <p:nvPr>
            <p:ph sz="half" idx="2"/>
          </p:nvPr>
        </p:nvSpPr>
        <p:spPr>
          <a:xfrm>
            <a:off x="3457575" y="838200"/>
            <a:ext cx="2943225" cy="67786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090519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991A01-73C8-6E00-4F6F-90A956ED6342}"/>
              </a:ext>
            </a:extLst>
          </p:cNvPr>
          <p:cNvSpPr>
            <a:spLocks noGrp="1"/>
          </p:cNvSpPr>
          <p:nvPr>
            <p:ph type="title"/>
          </p:nvPr>
        </p:nvSpPr>
        <p:spPr>
          <a:xfrm>
            <a:off x="473075" y="527050"/>
            <a:ext cx="5915025" cy="1914525"/>
          </a:xfrm>
        </p:spPr>
        <p:txBody>
          <a:bodyPr/>
          <a:lstStyle/>
          <a:p>
            <a:r>
              <a:rPr lang="ja-JP" altLang="en-US"/>
              <a:t>マスター タイトルの書式設定</a:t>
            </a:r>
          </a:p>
        </p:txBody>
      </p:sp>
      <p:sp>
        <p:nvSpPr>
          <p:cNvPr id="3" name="テキスト プレースホルダー 2">
            <a:extLst>
              <a:ext uri="{FF2B5EF4-FFF2-40B4-BE49-F238E27FC236}">
                <a16:creationId xmlns:a16="http://schemas.microsoft.com/office/drawing/2014/main" id="{A864EB0C-49B0-FECF-CEA6-49D2AA488BE7}"/>
              </a:ext>
            </a:extLst>
          </p:cNvPr>
          <p:cNvSpPr>
            <a:spLocks noGrp="1"/>
          </p:cNvSpPr>
          <p:nvPr>
            <p:ph type="body" idx="1"/>
          </p:nvPr>
        </p:nvSpPr>
        <p:spPr>
          <a:xfrm>
            <a:off x="473075" y="2428875"/>
            <a:ext cx="2900363" cy="1189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469699D7-52FB-4EE1-608E-28479A694DEC}"/>
              </a:ext>
            </a:extLst>
          </p:cNvPr>
          <p:cNvSpPr>
            <a:spLocks noGrp="1"/>
          </p:cNvSpPr>
          <p:nvPr>
            <p:ph sz="half" idx="2"/>
          </p:nvPr>
        </p:nvSpPr>
        <p:spPr>
          <a:xfrm>
            <a:off x="473075" y="3617913"/>
            <a:ext cx="2900363" cy="53228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a:extLst>
              <a:ext uri="{FF2B5EF4-FFF2-40B4-BE49-F238E27FC236}">
                <a16:creationId xmlns:a16="http://schemas.microsoft.com/office/drawing/2014/main" id="{B33109A4-F127-2738-7916-36CF9BA1249D}"/>
              </a:ext>
            </a:extLst>
          </p:cNvPr>
          <p:cNvSpPr>
            <a:spLocks noGrp="1"/>
          </p:cNvSpPr>
          <p:nvPr>
            <p:ph type="body" sz="quarter" idx="3"/>
          </p:nvPr>
        </p:nvSpPr>
        <p:spPr>
          <a:xfrm>
            <a:off x="3471863" y="2428875"/>
            <a:ext cx="2916237" cy="1189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30C52C95-AC2D-D101-FE2E-C09AA2082327}"/>
              </a:ext>
            </a:extLst>
          </p:cNvPr>
          <p:cNvSpPr>
            <a:spLocks noGrp="1"/>
          </p:cNvSpPr>
          <p:nvPr>
            <p:ph sz="quarter" idx="4"/>
          </p:nvPr>
        </p:nvSpPr>
        <p:spPr>
          <a:xfrm>
            <a:off x="3471863" y="3617913"/>
            <a:ext cx="2916237" cy="53228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566378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D9261-946E-3A14-879C-399506327CFF}"/>
              </a:ext>
            </a:extLst>
          </p:cNvPr>
          <p:cNvSpPr>
            <a:spLocks noGrp="1"/>
          </p:cNvSpPr>
          <p:nvPr>
            <p:ph type="title"/>
          </p:nvPr>
        </p:nvSpPr>
        <p:spPr/>
        <p:txBody>
          <a:bodyPr/>
          <a:lstStyle/>
          <a:p>
            <a:r>
              <a:rPr lang="ja-JP" altLang="en-US"/>
              <a:t>マスター タイトルの書式設定</a:t>
            </a:r>
          </a:p>
        </p:txBody>
      </p:sp>
    </p:spTree>
    <p:extLst>
      <p:ext uri="{BB962C8B-B14F-4D97-AF65-F5344CB8AC3E}">
        <p14:creationId xmlns:p14="http://schemas.microsoft.com/office/powerpoint/2010/main" val="1783485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316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5EF62A-4C38-8470-C0EE-ADC9FB4AC170}"/>
              </a:ext>
            </a:extLst>
          </p:cNvPr>
          <p:cNvSpPr>
            <a:spLocks noGrp="1"/>
          </p:cNvSpPr>
          <p:nvPr>
            <p:ph type="title"/>
          </p:nvPr>
        </p:nvSpPr>
        <p:spPr>
          <a:xfrm>
            <a:off x="473075" y="660400"/>
            <a:ext cx="2211388" cy="2311400"/>
          </a:xfrm>
        </p:spPr>
        <p:txBody>
          <a:bodyPr anchor="b"/>
          <a:lstStyle>
            <a:lvl1pPr>
              <a:defRPr sz="3200"/>
            </a:lvl1pPr>
          </a:lstStyle>
          <a:p>
            <a:r>
              <a:rPr lang="ja-JP" altLang="en-US"/>
              <a:t>マスター タイトルの書式設定</a:t>
            </a:r>
          </a:p>
        </p:txBody>
      </p:sp>
      <p:sp>
        <p:nvSpPr>
          <p:cNvPr id="3" name="コンテンツ プレースホルダー 2">
            <a:extLst>
              <a:ext uri="{FF2B5EF4-FFF2-40B4-BE49-F238E27FC236}">
                <a16:creationId xmlns:a16="http://schemas.microsoft.com/office/drawing/2014/main" id="{01331FBB-6058-1A02-3692-105AAB373082}"/>
              </a:ext>
            </a:extLst>
          </p:cNvPr>
          <p:cNvSpPr>
            <a:spLocks noGrp="1"/>
          </p:cNvSpPr>
          <p:nvPr>
            <p:ph idx="1"/>
          </p:nvPr>
        </p:nvSpPr>
        <p:spPr>
          <a:xfrm>
            <a:off x="2916238" y="1425575"/>
            <a:ext cx="3471862" cy="70405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a:extLst>
              <a:ext uri="{FF2B5EF4-FFF2-40B4-BE49-F238E27FC236}">
                <a16:creationId xmlns:a16="http://schemas.microsoft.com/office/drawing/2014/main" id="{4B5F87C5-29DC-F8C0-02BB-D9F788E209B5}"/>
              </a:ext>
            </a:extLst>
          </p:cNvPr>
          <p:cNvSpPr>
            <a:spLocks noGrp="1"/>
          </p:cNvSpPr>
          <p:nvPr>
            <p:ph type="body" sz="half" idx="2"/>
          </p:nvPr>
        </p:nvSpPr>
        <p:spPr>
          <a:xfrm>
            <a:off x="473075" y="2971800"/>
            <a:ext cx="2211388" cy="55054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4214468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5F0E16-DA64-13E4-E827-6678F03F46CE}"/>
              </a:ext>
            </a:extLst>
          </p:cNvPr>
          <p:cNvSpPr>
            <a:spLocks noGrp="1"/>
          </p:cNvSpPr>
          <p:nvPr>
            <p:ph type="title"/>
          </p:nvPr>
        </p:nvSpPr>
        <p:spPr>
          <a:xfrm>
            <a:off x="473075" y="660400"/>
            <a:ext cx="2211388" cy="2311400"/>
          </a:xfrm>
        </p:spPr>
        <p:txBody>
          <a:bodyPr anchor="b"/>
          <a:lstStyle>
            <a:lvl1pPr>
              <a:defRPr sz="3200"/>
            </a:lvl1pPr>
          </a:lstStyle>
          <a:p>
            <a:r>
              <a:rPr lang="ja-JP" altLang="en-US"/>
              <a:t>マスター タイトルの書式設定</a:t>
            </a:r>
          </a:p>
        </p:txBody>
      </p:sp>
      <p:sp>
        <p:nvSpPr>
          <p:cNvPr id="3" name="図プレースホルダー 2">
            <a:extLst>
              <a:ext uri="{FF2B5EF4-FFF2-40B4-BE49-F238E27FC236}">
                <a16:creationId xmlns:a16="http://schemas.microsoft.com/office/drawing/2014/main" id="{A7DC6716-331A-CE8D-7C67-B4DA84C3D515}"/>
              </a:ext>
            </a:extLst>
          </p:cNvPr>
          <p:cNvSpPr>
            <a:spLocks noGrp="1"/>
          </p:cNvSpPr>
          <p:nvPr>
            <p:ph type="pic" idx="1"/>
          </p:nvPr>
        </p:nvSpPr>
        <p:spPr>
          <a:xfrm>
            <a:off x="2916238" y="1425575"/>
            <a:ext cx="3471862" cy="70405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ー 3">
            <a:extLst>
              <a:ext uri="{FF2B5EF4-FFF2-40B4-BE49-F238E27FC236}">
                <a16:creationId xmlns:a16="http://schemas.microsoft.com/office/drawing/2014/main" id="{E0BC2871-F6E4-9E6F-0EC0-1274EE8AFE6B}"/>
              </a:ext>
            </a:extLst>
          </p:cNvPr>
          <p:cNvSpPr>
            <a:spLocks noGrp="1"/>
          </p:cNvSpPr>
          <p:nvPr>
            <p:ph type="body" sz="half" idx="2"/>
          </p:nvPr>
        </p:nvSpPr>
        <p:spPr>
          <a:xfrm>
            <a:off x="473075" y="2971800"/>
            <a:ext cx="2211388" cy="55054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4185688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EAB31C-87EF-3B32-CC9D-CB24B642EE3D}"/>
              </a:ext>
            </a:extLst>
          </p:cNvPr>
          <p:cNvSpPr>
            <a:spLocks noGrp="1"/>
          </p:cNvSpPr>
          <p:nvPr>
            <p:ph type="title"/>
          </p:nvPr>
        </p:nvSpPr>
        <p:spPr/>
        <p:txBody>
          <a:bodyPr/>
          <a:lstStyle/>
          <a:p>
            <a:r>
              <a:rPr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C54EBBF-C9AC-6020-DFCE-C836283EEBDF}"/>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5770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4AF1A1F-3AE4-D048-65DE-731FBA061214}"/>
              </a:ext>
            </a:extLst>
          </p:cNvPr>
          <p:cNvSpPr>
            <a:spLocks noGrp="1"/>
          </p:cNvSpPr>
          <p:nvPr>
            <p:ph type="title" orient="vert"/>
          </p:nvPr>
        </p:nvSpPr>
        <p:spPr>
          <a:xfrm>
            <a:off x="4838700" y="457200"/>
            <a:ext cx="1562100" cy="1058863"/>
          </a:xfrm>
        </p:spPr>
        <p:txBody>
          <a:bodyPr vert="eaVert"/>
          <a:lstStyle/>
          <a:p>
            <a:r>
              <a:rPr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71E2533-5666-4F94-5A1D-CD98FDBE016C}"/>
              </a:ext>
            </a:extLst>
          </p:cNvPr>
          <p:cNvSpPr>
            <a:spLocks noGrp="1"/>
          </p:cNvSpPr>
          <p:nvPr>
            <p:ph type="body" orient="vert" idx="1"/>
          </p:nvPr>
        </p:nvSpPr>
        <p:spPr>
          <a:xfrm>
            <a:off x="152400" y="457200"/>
            <a:ext cx="4533900" cy="105886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821013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a:extLst>
              <a:ext uri="{FF2B5EF4-FFF2-40B4-BE49-F238E27FC236}">
                <a16:creationId xmlns:a16="http://schemas.microsoft.com/office/drawing/2014/main" id="{007E7B93-7130-9834-18D5-25AF79735433}"/>
              </a:ext>
            </a:extLst>
          </p:cNvPr>
          <p:cNvSpPr>
            <a:spLocks noGrp="1" noChangeArrowheads="1"/>
          </p:cNvSpPr>
          <p:nvPr>
            <p:ph type="body" idx="1"/>
          </p:nvPr>
        </p:nvSpPr>
        <p:spPr bwMode="auto">
          <a:xfrm>
            <a:off x="363538" y="838200"/>
            <a:ext cx="60372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ja-JP" altLang="en-US"/>
              <a:t>マスターテキストの書式設定</a:t>
            </a:r>
          </a:p>
        </p:txBody>
      </p:sp>
      <p:sp>
        <p:nvSpPr>
          <p:cNvPr id="1041" name="Rectangle 17">
            <a:extLst>
              <a:ext uri="{FF2B5EF4-FFF2-40B4-BE49-F238E27FC236}">
                <a16:creationId xmlns:a16="http://schemas.microsoft.com/office/drawing/2014/main" id="{D66818B9-9CF1-D8E2-D620-9DF6340EAA1D}"/>
              </a:ext>
            </a:extLst>
          </p:cNvPr>
          <p:cNvSpPr>
            <a:spLocks noChangeArrowheads="1"/>
          </p:cNvSpPr>
          <p:nvPr/>
        </p:nvSpPr>
        <p:spPr bwMode="auto">
          <a:xfrm>
            <a:off x="3216275" y="9677400"/>
            <a:ext cx="423863"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fld id="{05F994BA-3394-4069-9A22-6D0F48DBCB9D}" type="slidenum">
              <a:rPr lang="en-US" altLang="ja-JP" sz="1100">
                <a:latin typeface="Arial" panose="020B0604020202020204" pitchFamily="34" charset="0"/>
              </a:rPr>
              <a:pPr algn="l" eaLnBrk="0" hangingPunct="0"/>
              <a:t>‹#›</a:t>
            </a:fld>
            <a:endParaRPr lang="en-US" altLang="ja-JP" sz="1100">
              <a:latin typeface="Arial" panose="020B0604020202020204" pitchFamily="34" charset="0"/>
            </a:endParaRPr>
          </a:p>
        </p:txBody>
      </p:sp>
      <p:sp>
        <p:nvSpPr>
          <p:cNvPr id="1056" name="Rectangle 32">
            <a:extLst>
              <a:ext uri="{FF2B5EF4-FFF2-40B4-BE49-F238E27FC236}">
                <a16:creationId xmlns:a16="http://schemas.microsoft.com/office/drawing/2014/main" id="{36D9807A-DB16-AA53-FAAF-39F2C1E205DB}"/>
              </a:ext>
            </a:extLst>
          </p:cNvPr>
          <p:cNvSpPr>
            <a:spLocks noGrp="1" noChangeArrowheads="1"/>
          </p:cNvSpPr>
          <p:nvPr>
            <p:ph type="title"/>
          </p:nvPr>
        </p:nvSpPr>
        <p:spPr bwMode="auto">
          <a:xfrm>
            <a:off x="152400" y="457200"/>
            <a:ext cx="5791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kumimoji="1" sz="1100" b="1" kern="1200">
          <a:solidFill>
            <a:schemeClr val="tx2"/>
          </a:solidFill>
          <a:latin typeface="+mj-lt"/>
          <a:ea typeface="+mj-ea"/>
          <a:cs typeface="+mj-cs"/>
        </a:defRPr>
      </a:lvl1pPr>
      <a:lvl2pPr algn="l" rtl="0" fontAlgn="base">
        <a:lnSpc>
          <a:spcPct val="90000"/>
        </a:lnSpc>
        <a:spcBef>
          <a:spcPct val="0"/>
        </a:spcBef>
        <a:spcAft>
          <a:spcPct val="0"/>
        </a:spcAft>
        <a:defRPr kumimoji="1" sz="1100" b="1">
          <a:solidFill>
            <a:schemeClr val="tx2"/>
          </a:solidFill>
          <a:latin typeface="Arial" panose="020B0604020202020204" pitchFamily="34" charset="0"/>
          <a:ea typeface="ＭＳ Ｐゴシック" panose="020B0600070205080204" pitchFamily="50" charset="-128"/>
        </a:defRPr>
      </a:lvl2pPr>
      <a:lvl3pPr algn="l" rtl="0" fontAlgn="base">
        <a:lnSpc>
          <a:spcPct val="90000"/>
        </a:lnSpc>
        <a:spcBef>
          <a:spcPct val="0"/>
        </a:spcBef>
        <a:spcAft>
          <a:spcPct val="0"/>
        </a:spcAft>
        <a:defRPr kumimoji="1" sz="1100" b="1">
          <a:solidFill>
            <a:schemeClr val="tx2"/>
          </a:solidFill>
          <a:latin typeface="Arial" panose="020B0604020202020204" pitchFamily="34" charset="0"/>
          <a:ea typeface="ＭＳ Ｐゴシック" panose="020B0600070205080204" pitchFamily="50" charset="-128"/>
        </a:defRPr>
      </a:lvl3pPr>
      <a:lvl4pPr algn="l" rtl="0" fontAlgn="base">
        <a:lnSpc>
          <a:spcPct val="90000"/>
        </a:lnSpc>
        <a:spcBef>
          <a:spcPct val="0"/>
        </a:spcBef>
        <a:spcAft>
          <a:spcPct val="0"/>
        </a:spcAft>
        <a:defRPr kumimoji="1" sz="1100" b="1">
          <a:solidFill>
            <a:schemeClr val="tx2"/>
          </a:solidFill>
          <a:latin typeface="Arial" panose="020B0604020202020204" pitchFamily="34" charset="0"/>
          <a:ea typeface="ＭＳ Ｐゴシック" panose="020B0600070205080204" pitchFamily="50" charset="-128"/>
        </a:defRPr>
      </a:lvl4pPr>
      <a:lvl5pPr algn="l" rtl="0" fontAlgn="base">
        <a:lnSpc>
          <a:spcPct val="90000"/>
        </a:lnSpc>
        <a:spcBef>
          <a:spcPct val="0"/>
        </a:spcBef>
        <a:spcAft>
          <a:spcPct val="0"/>
        </a:spcAft>
        <a:defRPr kumimoji="1" sz="1100" b="1">
          <a:solidFill>
            <a:schemeClr val="tx2"/>
          </a:solidFill>
          <a:latin typeface="Arial" panose="020B0604020202020204" pitchFamily="34" charset="0"/>
          <a:ea typeface="ＭＳ Ｐゴシック" panose="020B0600070205080204" pitchFamily="50" charset="-128"/>
        </a:defRPr>
      </a:lvl5pPr>
      <a:lvl6pPr marL="457200" algn="l" rtl="0" fontAlgn="base">
        <a:lnSpc>
          <a:spcPct val="90000"/>
        </a:lnSpc>
        <a:spcBef>
          <a:spcPct val="0"/>
        </a:spcBef>
        <a:spcAft>
          <a:spcPct val="0"/>
        </a:spcAft>
        <a:defRPr kumimoji="1" sz="1100" b="1">
          <a:solidFill>
            <a:schemeClr val="tx2"/>
          </a:solidFill>
          <a:latin typeface="Arial" panose="020B0604020202020204" pitchFamily="34" charset="0"/>
          <a:ea typeface="ＭＳ Ｐゴシック" panose="020B0600070205080204" pitchFamily="50" charset="-128"/>
        </a:defRPr>
      </a:lvl6pPr>
      <a:lvl7pPr marL="914400" algn="l" rtl="0" fontAlgn="base">
        <a:lnSpc>
          <a:spcPct val="90000"/>
        </a:lnSpc>
        <a:spcBef>
          <a:spcPct val="0"/>
        </a:spcBef>
        <a:spcAft>
          <a:spcPct val="0"/>
        </a:spcAft>
        <a:defRPr kumimoji="1" sz="1100" b="1">
          <a:solidFill>
            <a:schemeClr val="tx2"/>
          </a:solidFill>
          <a:latin typeface="Arial" panose="020B0604020202020204" pitchFamily="34" charset="0"/>
          <a:ea typeface="ＭＳ Ｐゴシック" panose="020B0600070205080204" pitchFamily="50" charset="-128"/>
        </a:defRPr>
      </a:lvl7pPr>
      <a:lvl8pPr marL="1371600" algn="l" rtl="0" fontAlgn="base">
        <a:lnSpc>
          <a:spcPct val="90000"/>
        </a:lnSpc>
        <a:spcBef>
          <a:spcPct val="0"/>
        </a:spcBef>
        <a:spcAft>
          <a:spcPct val="0"/>
        </a:spcAft>
        <a:defRPr kumimoji="1" sz="1100" b="1">
          <a:solidFill>
            <a:schemeClr val="tx2"/>
          </a:solidFill>
          <a:latin typeface="Arial" panose="020B0604020202020204" pitchFamily="34" charset="0"/>
          <a:ea typeface="ＭＳ Ｐゴシック" panose="020B0600070205080204" pitchFamily="50" charset="-128"/>
        </a:defRPr>
      </a:lvl8pPr>
      <a:lvl9pPr marL="1828800" algn="l" rtl="0" fontAlgn="base">
        <a:lnSpc>
          <a:spcPct val="90000"/>
        </a:lnSpc>
        <a:spcBef>
          <a:spcPct val="0"/>
        </a:spcBef>
        <a:spcAft>
          <a:spcPct val="0"/>
        </a:spcAft>
        <a:defRPr kumimoji="1" sz="1100" b="1">
          <a:solidFill>
            <a:schemeClr val="tx2"/>
          </a:solidFill>
          <a:latin typeface="Arial" panose="020B0604020202020204" pitchFamily="34" charset="0"/>
          <a:ea typeface="ＭＳ Ｐゴシック" panose="020B0600070205080204" pitchFamily="50" charset="-128"/>
        </a:defRPr>
      </a:lvl9pPr>
    </p:titleStyle>
    <p:bodyStyle>
      <a:lvl1pPr algn="l" rtl="0" fontAlgn="base">
        <a:spcBef>
          <a:spcPct val="20000"/>
        </a:spcBef>
        <a:spcAft>
          <a:spcPct val="0"/>
        </a:spcAft>
        <a:buFont typeface="Wingdings" panose="05000000000000000000" pitchFamily="2" charset="2"/>
        <a:defRPr kumimoji="1" sz="1000" kern="1200">
          <a:solidFill>
            <a:schemeClr val="tx1"/>
          </a:solidFill>
          <a:latin typeface="+mn-lt"/>
          <a:ea typeface="+mn-ea"/>
          <a:cs typeface="+mn-cs"/>
        </a:defRPr>
      </a:lvl1pPr>
      <a:lvl2pPr marL="561975" indent="-184150" algn="l" rtl="0" fontAlgn="base">
        <a:spcBef>
          <a:spcPct val="20000"/>
        </a:spcBef>
        <a:spcAft>
          <a:spcPct val="0"/>
        </a:spcAft>
        <a:buFont typeface="Wingdings" panose="05000000000000000000" pitchFamily="2" charset="2"/>
        <a:defRPr kumimoji="1" sz="1000" kern="1200">
          <a:solidFill>
            <a:schemeClr val="tx1"/>
          </a:solidFill>
          <a:latin typeface="Times New Roman" panose="02020603050405020304" pitchFamily="18" charset="0"/>
          <a:ea typeface="+mj-ea"/>
          <a:cs typeface="+mn-cs"/>
        </a:defRPr>
      </a:lvl2pPr>
      <a:lvl3pPr marL="1184275" indent="-228600" algn="l" rtl="0" fontAlgn="base">
        <a:spcBef>
          <a:spcPct val="20000"/>
        </a:spcBef>
        <a:spcAft>
          <a:spcPct val="0"/>
        </a:spcAft>
        <a:buFont typeface="Symbol" panose="05050102010706020507" pitchFamily="18" charset="2"/>
        <a:defRPr kumimoji="1" sz="1100" kern="1200">
          <a:solidFill>
            <a:schemeClr val="tx1"/>
          </a:solidFill>
          <a:latin typeface="Times New Roman" panose="02020603050405020304" pitchFamily="18" charset="0"/>
          <a:ea typeface="+mj-ea"/>
          <a:cs typeface="+mn-cs"/>
        </a:defRPr>
      </a:lvl3pPr>
      <a:lvl4pPr marL="1603375" indent="-228600" algn="l" rtl="0" fontAlgn="base">
        <a:spcBef>
          <a:spcPct val="20000"/>
        </a:spcBef>
        <a:spcAft>
          <a:spcPct val="0"/>
        </a:spcAft>
        <a:buFont typeface="Symbol" panose="05050102010706020507" pitchFamily="18" charset="2"/>
        <a:buChar char="·"/>
        <a:defRPr kumimoji="1" sz="1100" kern="1200">
          <a:solidFill>
            <a:schemeClr val="tx1"/>
          </a:solidFill>
          <a:latin typeface="Times New Roman" panose="02020603050405020304" pitchFamily="18" charset="0"/>
          <a:ea typeface="+mj-ea"/>
          <a:cs typeface="+mn-cs"/>
        </a:defRPr>
      </a:lvl4pPr>
      <a:lvl5pPr marL="2022475" indent="-228600" algn="l" rtl="0" fontAlgn="base">
        <a:spcBef>
          <a:spcPct val="20000"/>
        </a:spcBef>
        <a:spcAft>
          <a:spcPct val="0"/>
        </a:spcAft>
        <a:buFont typeface="Symbol" panose="05050102010706020507" pitchFamily="18" charset="2"/>
        <a:buChar char="-"/>
        <a:defRPr kumimoji="1" sz="1100" kern="1200">
          <a:solidFill>
            <a:schemeClr val="tx1"/>
          </a:solidFill>
          <a:latin typeface="Times New Roman" panose="02020603050405020304" pitchFamily="18" charset="0"/>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slideLayout" Target="../slideLayouts/slideLayout7.xml"/><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30594" name="Rectangle 2">
            <a:extLst>
              <a:ext uri="{FF2B5EF4-FFF2-40B4-BE49-F238E27FC236}">
                <a16:creationId xmlns:a16="http://schemas.microsoft.com/office/drawing/2014/main" id="{C2152D8D-FDFE-303A-5D27-89C8B9C12BDF}"/>
              </a:ext>
            </a:extLst>
          </p:cNvPr>
          <p:cNvSpPr>
            <a:spLocks noChangeArrowheads="1"/>
          </p:cNvSpPr>
          <p:nvPr/>
        </p:nvSpPr>
        <p:spPr bwMode="auto">
          <a:xfrm>
            <a:off x="762000" y="1295400"/>
            <a:ext cx="44958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800">
                <a:latin typeface="Arial" panose="020B0604020202020204" pitchFamily="34" charset="0"/>
                <a:ea typeface="HGPｺﾞｼｯｸE" panose="020B0900000000000000" pitchFamily="50" charset="-128"/>
              </a:rPr>
              <a:t>経営助言</a:t>
            </a:r>
          </a:p>
        </p:txBody>
      </p:sp>
      <p:sp>
        <p:nvSpPr>
          <p:cNvPr id="2030595" name="Line 3">
            <a:extLst>
              <a:ext uri="{FF2B5EF4-FFF2-40B4-BE49-F238E27FC236}">
                <a16:creationId xmlns:a16="http://schemas.microsoft.com/office/drawing/2014/main" id="{FE36CD4D-EF6A-E822-B26D-84B82211002B}"/>
              </a:ext>
            </a:extLst>
          </p:cNvPr>
          <p:cNvSpPr>
            <a:spLocks noChangeShapeType="1"/>
          </p:cNvSpPr>
          <p:nvPr/>
        </p:nvSpPr>
        <p:spPr bwMode="auto">
          <a:xfrm>
            <a:off x="685800" y="1219200"/>
            <a:ext cx="533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2030596" name="Line 4">
            <a:extLst>
              <a:ext uri="{FF2B5EF4-FFF2-40B4-BE49-F238E27FC236}">
                <a16:creationId xmlns:a16="http://schemas.microsoft.com/office/drawing/2014/main" id="{9D490024-74EF-2D30-151B-A21BB31CF01F}"/>
              </a:ext>
            </a:extLst>
          </p:cNvPr>
          <p:cNvSpPr>
            <a:spLocks noChangeShapeType="1"/>
          </p:cNvSpPr>
          <p:nvPr/>
        </p:nvSpPr>
        <p:spPr bwMode="auto">
          <a:xfrm>
            <a:off x="685800" y="1828800"/>
            <a:ext cx="533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22370" name="Rectangle 2">
            <a:extLst>
              <a:ext uri="{FF2B5EF4-FFF2-40B4-BE49-F238E27FC236}">
                <a16:creationId xmlns:a16="http://schemas.microsoft.com/office/drawing/2014/main" id="{43D98622-069B-F457-F49F-0E26B4709868}"/>
              </a:ext>
            </a:extLst>
          </p:cNvPr>
          <p:cNvSpPr>
            <a:spLocks noChangeArrowheads="1"/>
          </p:cNvSpPr>
          <p:nvPr/>
        </p:nvSpPr>
        <p:spPr bwMode="auto">
          <a:xfrm>
            <a:off x="790575" y="685800"/>
            <a:ext cx="5257800" cy="8991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285750" indent="-285750" algn="l">
              <a:defRPr kumimoji="1" sz="2400">
                <a:solidFill>
                  <a:schemeClr val="tx1"/>
                </a:solidFill>
                <a:latin typeface="Times New Roman" panose="02020603050405020304" pitchFamily="18" charset="0"/>
                <a:ea typeface="ＭＳ Ｐゴシック" panose="020B0600070205080204" pitchFamily="50" charset="-128"/>
              </a:defRPr>
            </a:lvl1pPr>
            <a:lvl2pPr marL="865188" indent="-304800" algn="l">
              <a:defRPr kumimoji="1" sz="2400">
                <a:solidFill>
                  <a:schemeClr val="tx1"/>
                </a:solidFill>
                <a:latin typeface="Times New Roman" panose="02020603050405020304" pitchFamily="18" charset="0"/>
                <a:ea typeface="ＭＳ Ｐゴシック" panose="020B0600070205080204" pitchFamily="50" charset="-128"/>
              </a:defRPr>
            </a:lvl2pPr>
            <a:lvl3pPr marL="1246188" indent="-179388" algn="l">
              <a:defRPr kumimoji="1" sz="2400">
                <a:solidFill>
                  <a:schemeClr val="tx1"/>
                </a:solidFill>
                <a:latin typeface="Times New Roman" panose="02020603050405020304" pitchFamily="18" charset="0"/>
                <a:ea typeface="ＭＳ Ｐゴシック" panose="020B0600070205080204" pitchFamily="50" charset="-128"/>
              </a:defRPr>
            </a:lvl3pPr>
            <a:lvl4pPr marL="1436688"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40000"/>
              </a:lnSpc>
            </a:pPr>
            <a:r>
              <a:rPr lang="en-US" altLang="ja-JP" sz="1000">
                <a:latin typeface="ＭＳ Ｐゴシック" panose="020B0600070205080204" pitchFamily="50" charset="-128"/>
              </a:rPr>
              <a:t>						</a:t>
            </a:r>
            <a:r>
              <a:rPr lang="en-US" altLang="ja-JP" sz="1000" u="sng">
                <a:latin typeface="ＭＳ Ｐゴシック" panose="020B0600070205080204" pitchFamily="50" charset="-128"/>
              </a:rPr>
              <a:t>Page</a:t>
            </a:r>
            <a:endParaRPr lang="en-US" altLang="ja-JP" sz="1000">
              <a:latin typeface="ＭＳ Ｐゴシック" panose="020B0600070205080204" pitchFamily="50" charset="-128"/>
            </a:endParaRPr>
          </a:p>
          <a:p>
            <a:pPr>
              <a:lnSpc>
                <a:spcPct val="140000"/>
              </a:lnSpc>
            </a:pPr>
            <a:endParaRPr lang="en-US" altLang="ja-JP" sz="1000">
              <a:latin typeface="ＭＳ Ｐゴシック" panose="020B0600070205080204" pitchFamily="50" charset="-128"/>
            </a:endParaRPr>
          </a:p>
          <a:p>
            <a:pPr>
              <a:lnSpc>
                <a:spcPct val="140000"/>
              </a:lnSpc>
            </a:pPr>
            <a:r>
              <a:rPr lang="en-US" altLang="ja-JP" sz="1000">
                <a:latin typeface="ＭＳ Ｐゴシック" panose="020B0600070205080204" pitchFamily="50" charset="-128"/>
              </a:rPr>
              <a:t>Ⅰ</a:t>
            </a:r>
            <a:r>
              <a:rPr lang="ja-JP" altLang="en-US" sz="1000">
                <a:latin typeface="ＭＳ Ｐゴシック" panose="020B0600070205080204" pitchFamily="50" charset="-128"/>
              </a:rPr>
              <a:t>　財務管理サービス人材による経営助言へのニーズ</a:t>
            </a:r>
            <a:endParaRPr lang="ja-JP" altLang="en-US" sz="1000" u="sng">
              <a:latin typeface="ＭＳ Ｐゴシック" panose="020B0600070205080204" pitchFamily="50" charset="-128"/>
            </a:endParaRPr>
          </a:p>
          <a:p>
            <a:pPr lvl="1">
              <a:lnSpc>
                <a:spcPct val="140000"/>
              </a:lnSpc>
            </a:pPr>
            <a:r>
              <a:rPr lang="en-US" altLang="ja-JP" sz="1000">
                <a:latin typeface="ＭＳ Ｐゴシック" panose="020B0600070205080204" pitchFamily="50" charset="-128"/>
              </a:rPr>
              <a:t>1</a:t>
            </a:r>
            <a:r>
              <a:rPr lang="ja-JP" altLang="en-US" sz="1000">
                <a:latin typeface="ＭＳ Ｐゴシック" panose="020B0600070205080204" pitchFamily="50" charset="-128"/>
              </a:rPr>
              <a:t>　財務管理サービス人材の企業へのかかわり方</a:t>
            </a:r>
          </a:p>
          <a:p>
            <a:pPr lvl="2">
              <a:lnSpc>
                <a:spcPct val="140000"/>
              </a:lnSpc>
              <a:buFontTx/>
              <a:buChar char="•"/>
            </a:pPr>
            <a:r>
              <a:rPr lang="ja-JP" altLang="en-US" sz="1000">
                <a:latin typeface="ＭＳ Ｐゴシック" panose="020B0600070205080204" pitchFamily="50" charset="-128"/>
              </a:rPr>
              <a:t>財務管理サービス人材をめぐる環境変化		  ３</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会計専門家と企業とのかかわり方		  ４</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各専門家の現状			  ６</a:t>
            </a:r>
            <a:r>
              <a:rPr lang="en-US" altLang="ja-JP" sz="1000">
                <a:latin typeface="ＭＳ Ｐゴシック" panose="020B0600070205080204" pitchFamily="50" charset="-128"/>
              </a:rPr>
              <a:t>P</a:t>
            </a:r>
          </a:p>
          <a:p>
            <a:pPr lvl="2">
              <a:lnSpc>
                <a:spcPct val="140000"/>
              </a:lnSpc>
            </a:pPr>
            <a:r>
              <a:rPr lang="en-US" altLang="ja-JP" sz="1000">
                <a:latin typeface="ＭＳ Ｐゴシック" panose="020B0600070205080204" pitchFamily="50" charset="-128"/>
              </a:rPr>
              <a:t>	</a:t>
            </a:r>
          </a:p>
          <a:p>
            <a:pPr>
              <a:lnSpc>
                <a:spcPct val="140000"/>
              </a:lnSpc>
            </a:pPr>
            <a:r>
              <a:rPr lang="en-US" altLang="ja-JP" sz="1000">
                <a:latin typeface="ＭＳ Ｐゴシック" panose="020B0600070205080204" pitchFamily="50" charset="-128"/>
              </a:rPr>
              <a:t>Ⅱ</a:t>
            </a:r>
            <a:r>
              <a:rPr lang="ja-JP" altLang="en-US" sz="1000">
                <a:latin typeface="ＭＳ Ｐゴシック" panose="020B0600070205080204" pitchFamily="50" charset="-128"/>
              </a:rPr>
              <a:t>　財務上の問題分析</a:t>
            </a:r>
          </a:p>
          <a:p>
            <a:pPr lvl="1">
              <a:lnSpc>
                <a:spcPct val="140000"/>
              </a:lnSpc>
            </a:pPr>
            <a:r>
              <a:rPr lang="en-US" altLang="ja-JP" sz="1000">
                <a:latin typeface="ＭＳ Ｐゴシック" panose="020B0600070205080204" pitchFamily="50" charset="-128"/>
              </a:rPr>
              <a:t>1</a:t>
            </a:r>
            <a:r>
              <a:rPr lang="ja-JP" altLang="en-US" sz="1000">
                <a:latin typeface="ＭＳ Ｐゴシック" panose="020B0600070205080204" pitchFamily="50" charset="-128"/>
              </a:rPr>
              <a:t>　企業財務に関する基本的な考え方</a:t>
            </a:r>
          </a:p>
          <a:p>
            <a:pPr lvl="2">
              <a:lnSpc>
                <a:spcPct val="140000"/>
              </a:lnSpc>
              <a:buFontTx/>
              <a:buChar char="•"/>
            </a:pPr>
            <a:r>
              <a:rPr lang="ja-JP" altLang="en-US" sz="1000">
                <a:latin typeface="ＭＳ Ｐゴシック" panose="020B0600070205080204" pitchFamily="50" charset="-128"/>
              </a:rPr>
              <a:t>ストックとフローの対応関係			  ７</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財務分析の体系			  ８</a:t>
            </a:r>
            <a:r>
              <a:rPr lang="en-US" altLang="ja-JP" sz="1000">
                <a:latin typeface="ＭＳ Ｐゴシック" panose="020B0600070205080204" pitchFamily="50" charset="-128"/>
              </a:rPr>
              <a:t>P</a:t>
            </a:r>
          </a:p>
          <a:p>
            <a:pPr lvl="1">
              <a:lnSpc>
                <a:spcPct val="140000"/>
              </a:lnSpc>
            </a:pPr>
            <a:r>
              <a:rPr lang="en-US" altLang="ja-JP" sz="1000">
                <a:latin typeface="ＭＳ Ｐゴシック" panose="020B0600070205080204" pitchFamily="50" charset="-128"/>
              </a:rPr>
              <a:t>2</a:t>
            </a:r>
            <a:r>
              <a:rPr lang="ja-JP" altLang="en-US" sz="1000">
                <a:latin typeface="ＭＳ Ｐゴシック" panose="020B0600070205080204" pitchFamily="50" charset="-128"/>
              </a:rPr>
              <a:t>　損益構造に関する分析		  　</a:t>
            </a:r>
          </a:p>
          <a:p>
            <a:pPr lvl="2">
              <a:lnSpc>
                <a:spcPct val="140000"/>
              </a:lnSpc>
              <a:buFontTx/>
              <a:buChar char="•"/>
            </a:pPr>
            <a:r>
              <a:rPr lang="ja-JP" altLang="en-US" sz="1000">
                <a:latin typeface="ＭＳ Ｐゴシック" panose="020B0600070205080204" pitchFamily="50" charset="-128"/>
              </a:rPr>
              <a:t>損益分岐点分析の意義と算出の考え方		  ９</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固定費・変動費の分類に関する留意点		１１</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損益分岐点売上高引き下げに関する留意点		１１</a:t>
            </a:r>
            <a:r>
              <a:rPr lang="en-US" altLang="ja-JP" sz="1000">
                <a:latin typeface="ＭＳ Ｐゴシック" panose="020B0600070205080204" pitchFamily="50" charset="-128"/>
              </a:rPr>
              <a:t>P</a:t>
            </a:r>
          </a:p>
          <a:p>
            <a:pPr lvl="1">
              <a:lnSpc>
                <a:spcPct val="140000"/>
              </a:lnSpc>
            </a:pPr>
            <a:r>
              <a:rPr lang="en-US" altLang="ja-JP" sz="1000">
                <a:latin typeface="ＭＳ Ｐゴシック" panose="020B0600070205080204" pitchFamily="50" charset="-128"/>
              </a:rPr>
              <a:t>3</a:t>
            </a:r>
            <a:r>
              <a:rPr lang="ja-JP" altLang="en-US" sz="1000">
                <a:latin typeface="ＭＳ Ｐゴシック" panose="020B0600070205080204" pitchFamily="50" charset="-128"/>
              </a:rPr>
              <a:t>　投資の採算性に関する分析	  </a:t>
            </a:r>
          </a:p>
          <a:p>
            <a:pPr lvl="2">
              <a:lnSpc>
                <a:spcPct val="140000"/>
              </a:lnSpc>
              <a:buFontTx/>
              <a:buChar char="•"/>
            </a:pPr>
            <a:r>
              <a:rPr lang="ja-JP" altLang="en-US" sz="1000">
                <a:latin typeface="ＭＳ Ｐゴシック" panose="020B0600070205080204" pitchFamily="50" charset="-128"/>
              </a:rPr>
              <a:t>設備投資計画の実態			１３</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現代の設備投資に必要な視点		１５</a:t>
            </a:r>
            <a:r>
              <a:rPr lang="en-US" altLang="ja-JP" sz="1000">
                <a:latin typeface="ＭＳ Ｐゴシック" panose="020B0600070205080204" pitchFamily="50" charset="-128"/>
              </a:rPr>
              <a:t>P</a:t>
            </a:r>
          </a:p>
          <a:p>
            <a:pPr lvl="2">
              <a:lnSpc>
                <a:spcPct val="140000"/>
              </a:lnSpc>
            </a:pPr>
            <a:endParaRPr lang="en-US" altLang="ja-JP" sz="1000">
              <a:latin typeface="ＭＳ Ｐゴシック" panose="020B0600070205080204" pitchFamily="50" charset="-128"/>
            </a:endParaRPr>
          </a:p>
          <a:p>
            <a:pPr>
              <a:lnSpc>
                <a:spcPct val="140000"/>
              </a:lnSpc>
            </a:pPr>
            <a:r>
              <a:rPr lang="en-US" altLang="ja-JP" sz="1000">
                <a:latin typeface="ＭＳ Ｐゴシック" panose="020B0600070205080204" pitchFamily="50" charset="-128"/>
              </a:rPr>
              <a:t>Ⅲ</a:t>
            </a:r>
            <a:r>
              <a:rPr lang="ja-JP" altLang="en-US" sz="1000">
                <a:latin typeface="ＭＳ Ｐゴシック" panose="020B0600070205080204" pitchFamily="50" charset="-128"/>
              </a:rPr>
              <a:t>　経営助言の実践に関する論点</a:t>
            </a:r>
          </a:p>
          <a:p>
            <a:pPr lvl="1">
              <a:lnSpc>
                <a:spcPct val="140000"/>
              </a:lnSpc>
            </a:pPr>
            <a:r>
              <a:rPr lang="en-US" altLang="ja-JP" sz="1000">
                <a:latin typeface="ＭＳ Ｐゴシック" panose="020B0600070205080204" pitchFamily="50" charset="-128"/>
              </a:rPr>
              <a:t>1</a:t>
            </a:r>
            <a:r>
              <a:rPr lang="ja-JP" altLang="en-US" sz="1000">
                <a:latin typeface="ＭＳ Ｐゴシック" panose="020B0600070205080204" pitchFamily="50" charset="-128"/>
              </a:rPr>
              <a:t>　マーケティングの考え方</a:t>
            </a:r>
          </a:p>
          <a:p>
            <a:pPr lvl="2">
              <a:lnSpc>
                <a:spcPct val="140000"/>
              </a:lnSpc>
              <a:buFontTx/>
              <a:buChar char="•"/>
            </a:pPr>
            <a:r>
              <a:rPr lang="ja-JP" altLang="en-US" sz="1000">
                <a:latin typeface="ＭＳ Ｐゴシック" panose="020B0600070205080204" pitchFamily="50" charset="-128"/>
              </a:rPr>
              <a:t>マーケティング思考の必要性		１７</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マーケティングの全体像			１８</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ターゲット市場・顧客の決定			２０</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４Ｐ（マーケティング・ミックス）の決定		２３</a:t>
            </a:r>
            <a:r>
              <a:rPr lang="en-US" altLang="ja-JP" sz="1000">
                <a:latin typeface="ＭＳ Ｐゴシック" panose="020B0600070205080204" pitchFamily="50" charset="-128"/>
              </a:rPr>
              <a:t>P</a:t>
            </a:r>
          </a:p>
          <a:p>
            <a:pPr lvl="1">
              <a:lnSpc>
                <a:spcPct val="140000"/>
              </a:lnSpc>
            </a:pPr>
            <a:r>
              <a:rPr lang="en-US" altLang="ja-JP" sz="1000">
                <a:latin typeface="ＭＳ Ｐゴシック" panose="020B0600070205080204" pitchFamily="50" charset="-128"/>
              </a:rPr>
              <a:t>2</a:t>
            </a:r>
            <a:r>
              <a:rPr lang="ja-JP" altLang="en-US" sz="1000">
                <a:latin typeface="ＭＳ Ｐゴシック" panose="020B0600070205080204" pitchFamily="50" charset="-128"/>
              </a:rPr>
              <a:t>　ＩＴの活用</a:t>
            </a:r>
          </a:p>
          <a:p>
            <a:pPr lvl="2">
              <a:lnSpc>
                <a:spcPct val="140000"/>
              </a:lnSpc>
              <a:buFontTx/>
              <a:buChar char="•"/>
            </a:pPr>
            <a:r>
              <a:rPr lang="ja-JP" altLang="en-US" sz="1000">
                <a:latin typeface="ＭＳ Ｐゴシック" panose="020B0600070205080204" pitchFamily="50" charset="-128"/>
              </a:rPr>
              <a:t>中堅／中小企業におけるＩＴパッケージの活用	２９</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中堅／中小企業におけるＥＲＰ導入の概要		３１</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ＥＲＰ導入に関わる人材　ＩＴコーディネーター		３４</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ＥＲＰ導入に財務管理サービス人材が提供できるサービス	３５</a:t>
            </a:r>
            <a:r>
              <a:rPr lang="en-US" altLang="ja-JP" sz="1000">
                <a:latin typeface="ＭＳ Ｐゴシック" panose="020B0600070205080204" pitchFamily="50" charset="-128"/>
              </a:rPr>
              <a:t>P</a:t>
            </a:r>
          </a:p>
          <a:p>
            <a:pPr lvl="1">
              <a:lnSpc>
                <a:spcPct val="140000"/>
              </a:lnSpc>
            </a:pPr>
            <a:r>
              <a:rPr lang="en-US" altLang="ja-JP" sz="1000">
                <a:latin typeface="ＭＳ Ｐゴシック" panose="020B0600070205080204" pitchFamily="50" charset="-128"/>
              </a:rPr>
              <a:t>3</a:t>
            </a:r>
            <a:r>
              <a:rPr lang="ja-JP" altLang="en-US" sz="1000">
                <a:latin typeface="ＭＳ Ｐゴシック" panose="020B0600070205080204" pitchFamily="50" charset="-128"/>
              </a:rPr>
              <a:t>　管理会計の強化・充実</a:t>
            </a:r>
          </a:p>
          <a:p>
            <a:pPr lvl="2">
              <a:lnSpc>
                <a:spcPct val="140000"/>
              </a:lnSpc>
              <a:buFontTx/>
              <a:buChar char="•"/>
            </a:pPr>
            <a:r>
              <a:rPr lang="ja-JP" altLang="en-US" sz="1000">
                <a:latin typeface="ＭＳ Ｐゴシック" panose="020B0600070205080204" pitchFamily="50" charset="-128"/>
              </a:rPr>
              <a:t>経理業務の省力化と高度化			３７</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管理会計の目的・特徴			３８</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詳細な単位別の収益・費用構造管理の事例		３９</a:t>
            </a:r>
            <a:r>
              <a:rPr lang="en-US" altLang="ja-JP" sz="1000">
                <a:latin typeface="ＭＳ Ｐゴシック" panose="020B0600070205080204" pitchFamily="50" charset="-128"/>
              </a:rPr>
              <a:t>P</a:t>
            </a:r>
          </a:p>
          <a:p>
            <a:pPr lvl="2">
              <a:lnSpc>
                <a:spcPct val="140000"/>
              </a:lnSpc>
            </a:pPr>
            <a:r>
              <a:rPr lang="en-US" altLang="ja-JP" sz="1000">
                <a:latin typeface="ＭＳ Ｐゴシック" panose="020B0600070205080204" pitchFamily="50" charset="-128"/>
              </a:rPr>
              <a:t>	</a:t>
            </a:r>
          </a:p>
          <a:p>
            <a:pPr lvl="2">
              <a:lnSpc>
                <a:spcPct val="140000"/>
              </a:lnSpc>
              <a:buFontTx/>
              <a:buChar char="•"/>
            </a:pPr>
            <a:endParaRPr lang="en-US" altLang="ja-JP" sz="1000">
              <a:latin typeface="ＭＳ Ｐゴシック" panose="020B0600070205080204" pitchFamily="50" charset="-128"/>
            </a:endParaRPr>
          </a:p>
        </p:txBody>
      </p:sp>
      <p:sp>
        <p:nvSpPr>
          <p:cNvPr id="1722371" name="Text Box 3">
            <a:extLst>
              <a:ext uri="{FF2B5EF4-FFF2-40B4-BE49-F238E27FC236}">
                <a16:creationId xmlns:a16="http://schemas.microsoft.com/office/drawing/2014/main" id="{3BC110A4-4CFC-11CE-B6FC-FF284D718A95}"/>
              </a:ext>
            </a:extLst>
          </p:cNvPr>
          <p:cNvSpPr txBox="1">
            <a:spLocks noChangeArrowheads="1"/>
          </p:cNvSpPr>
          <p:nvPr/>
        </p:nvSpPr>
        <p:spPr bwMode="auto">
          <a:xfrm>
            <a:off x="533400" y="304800"/>
            <a:ext cx="57912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ja-JP" altLang="en-US" sz="1400" i="1">
                <a:latin typeface="Arial" panose="020B0604020202020204" pitchFamily="34" charset="0"/>
                <a:ea typeface="HGPｺﾞｼｯｸE" panose="020B0900000000000000" pitchFamily="50" charset="-128"/>
              </a:rPr>
              <a:t>目次</a:t>
            </a:r>
            <a:endParaRPr lang="ja-JP" altLang="en-US" sz="1000">
              <a:latin typeface="Arial" panose="020B0604020202020204" pitchFamily="34" charset="0"/>
              <a:ea typeface="ＭＳ Ｐ明朝" panose="02020600040205080304" pitchFamily="18" charset="-128"/>
            </a:endParaRPr>
          </a:p>
        </p:txBody>
      </p:sp>
      <p:sp>
        <p:nvSpPr>
          <p:cNvPr id="1722372" name="Line 4">
            <a:extLst>
              <a:ext uri="{FF2B5EF4-FFF2-40B4-BE49-F238E27FC236}">
                <a16:creationId xmlns:a16="http://schemas.microsoft.com/office/drawing/2014/main" id="{5E5C4DBD-E7DC-9E8E-8A24-68DB6D546EA6}"/>
              </a:ext>
            </a:extLst>
          </p:cNvPr>
          <p:cNvSpPr>
            <a:spLocks noChangeShapeType="1"/>
          </p:cNvSpPr>
          <p:nvPr/>
        </p:nvSpPr>
        <p:spPr bwMode="auto">
          <a:xfrm flipV="1">
            <a:off x="533400" y="228600"/>
            <a:ext cx="5791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22373" name="Line 5">
            <a:extLst>
              <a:ext uri="{FF2B5EF4-FFF2-40B4-BE49-F238E27FC236}">
                <a16:creationId xmlns:a16="http://schemas.microsoft.com/office/drawing/2014/main" id="{3F602727-BB6C-C29C-930A-4FF98E1AB476}"/>
              </a:ext>
            </a:extLst>
          </p:cNvPr>
          <p:cNvSpPr>
            <a:spLocks noChangeShapeType="1"/>
          </p:cNvSpPr>
          <p:nvPr/>
        </p:nvSpPr>
        <p:spPr bwMode="auto">
          <a:xfrm>
            <a:off x="533400" y="6858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23394" name="Rectangle 2">
            <a:extLst>
              <a:ext uri="{FF2B5EF4-FFF2-40B4-BE49-F238E27FC236}">
                <a16:creationId xmlns:a16="http://schemas.microsoft.com/office/drawing/2014/main" id="{81ECC42C-85ED-A209-B4D7-0318D84CF28B}"/>
              </a:ext>
            </a:extLst>
          </p:cNvPr>
          <p:cNvSpPr>
            <a:spLocks noChangeArrowheads="1"/>
          </p:cNvSpPr>
          <p:nvPr/>
        </p:nvSpPr>
        <p:spPr bwMode="auto">
          <a:xfrm>
            <a:off x="790575" y="685800"/>
            <a:ext cx="5257800" cy="792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285750" indent="-285750" algn="l">
              <a:defRPr kumimoji="1" sz="2400">
                <a:solidFill>
                  <a:schemeClr val="tx1"/>
                </a:solidFill>
                <a:latin typeface="Times New Roman" panose="02020603050405020304" pitchFamily="18" charset="0"/>
                <a:ea typeface="ＭＳ Ｐゴシック" panose="020B0600070205080204" pitchFamily="50" charset="-128"/>
              </a:defRPr>
            </a:lvl1pPr>
            <a:lvl2pPr marL="865188" indent="-304800" algn="l">
              <a:defRPr kumimoji="1" sz="2400">
                <a:solidFill>
                  <a:schemeClr val="tx1"/>
                </a:solidFill>
                <a:latin typeface="Times New Roman" panose="02020603050405020304" pitchFamily="18" charset="0"/>
                <a:ea typeface="ＭＳ Ｐゴシック" panose="020B0600070205080204" pitchFamily="50" charset="-128"/>
              </a:defRPr>
            </a:lvl2pPr>
            <a:lvl3pPr marL="1246188" indent="-179388" algn="l">
              <a:defRPr kumimoji="1" sz="2400">
                <a:solidFill>
                  <a:schemeClr val="tx1"/>
                </a:solidFill>
                <a:latin typeface="Times New Roman" panose="02020603050405020304" pitchFamily="18" charset="0"/>
                <a:ea typeface="ＭＳ Ｐゴシック" panose="020B0600070205080204" pitchFamily="50" charset="-128"/>
              </a:defRPr>
            </a:lvl3pPr>
            <a:lvl4pPr marL="1436688"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40000"/>
              </a:lnSpc>
            </a:pPr>
            <a:r>
              <a:rPr lang="en-US" altLang="ja-JP" sz="1000">
                <a:latin typeface="ＭＳ Ｐゴシック" panose="020B0600070205080204" pitchFamily="50" charset="-128"/>
              </a:rPr>
              <a:t>						</a:t>
            </a:r>
            <a:r>
              <a:rPr lang="en-US" altLang="ja-JP" sz="1000" u="sng">
                <a:latin typeface="ＭＳ Ｐゴシック" panose="020B0600070205080204" pitchFamily="50" charset="-128"/>
              </a:rPr>
              <a:t>Page</a:t>
            </a:r>
            <a:endParaRPr lang="en-US" altLang="ja-JP" sz="1000">
              <a:latin typeface="ＭＳ Ｐゴシック" panose="020B0600070205080204" pitchFamily="50" charset="-128"/>
            </a:endParaRPr>
          </a:p>
          <a:p>
            <a:pPr>
              <a:lnSpc>
                <a:spcPct val="140000"/>
              </a:lnSpc>
            </a:pPr>
            <a:endParaRPr lang="en-US" altLang="ja-JP" sz="1000">
              <a:latin typeface="ＭＳ Ｐゴシック" panose="020B0600070205080204" pitchFamily="50" charset="-128"/>
            </a:endParaRPr>
          </a:p>
          <a:p>
            <a:pPr>
              <a:lnSpc>
                <a:spcPct val="140000"/>
              </a:lnSpc>
            </a:pPr>
            <a:r>
              <a:rPr lang="en-US" altLang="ja-JP" sz="1000">
                <a:latin typeface="ＭＳ Ｐゴシック" panose="020B0600070205080204" pitchFamily="50" charset="-128"/>
              </a:rPr>
              <a:t>Ⅳ</a:t>
            </a:r>
            <a:r>
              <a:rPr lang="ja-JP" altLang="en-US" sz="1000">
                <a:latin typeface="ＭＳ Ｐゴシック" panose="020B0600070205080204" pitchFamily="50" charset="-128"/>
              </a:rPr>
              <a:t>　資金調達についての助言</a:t>
            </a:r>
          </a:p>
          <a:p>
            <a:pPr lvl="1">
              <a:lnSpc>
                <a:spcPct val="140000"/>
              </a:lnSpc>
            </a:pPr>
            <a:r>
              <a:rPr lang="en-US" altLang="ja-JP" sz="1000">
                <a:latin typeface="ＭＳ Ｐゴシック" panose="020B0600070205080204" pitchFamily="50" charset="-128"/>
              </a:rPr>
              <a:t>1</a:t>
            </a:r>
            <a:r>
              <a:rPr lang="ja-JP" altLang="en-US" sz="1000">
                <a:latin typeface="ＭＳ Ｐゴシック" panose="020B0600070205080204" pitchFamily="50" charset="-128"/>
              </a:rPr>
              <a:t>　中堅／中小企業における金融機関借入		</a:t>
            </a:r>
          </a:p>
          <a:p>
            <a:pPr lvl="2">
              <a:lnSpc>
                <a:spcPct val="140000"/>
              </a:lnSpc>
              <a:buFontTx/>
              <a:buChar char="•"/>
            </a:pPr>
            <a:r>
              <a:rPr lang="ja-JP" altLang="en-US" sz="1000">
                <a:latin typeface="ＭＳ Ｐゴシック" panose="020B0600070205080204" pitchFamily="50" charset="-128"/>
              </a:rPr>
              <a:t>借入についての環境変化			４１</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信用格付／債務者区分の改善と信頼性向上		４３</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ビジネスローン			４５</a:t>
            </a:r>
            <a:r>
              <a:rPr lang="en-US" altLang="ja-JP" sz="1000">
                <a:latin typeface="ＭＳ Ｐゴシック" panose="020B0600070205080204" pitchFamily="50" charset="-128"/>
              </a:rPr>
              <a:t>P</a:t>
            </a:r>
          </a:p>
          <a:p>
            <a:pPr lvl="1">
              <a:lnSpc>
                <a:spcPct val="140000"/>
              </a:lnSpc>
            </a:pPr>
            <a:r>
              <a:rPr lang="en-US" altLang="ja-JP" sz="1000">
                <a:latin typeface="ＭＳ Ｐゴシック" panose="020B0600070205080204" pitchFamily="50" charset="-128"/>
              </a:rPr>
              <a:t>2</a:t>
            </a:r>
            <a:r>
              <a:rPr lang="ja-JP" altLang="en-US" sz="1000">
                <a:latin typeface="ＭＳ Ｐゴシック" panose="020B0600070205080204" pitchFamily="50" charset="-128"/>
              </a:rPr>
              <a:t>　金融機関と財務サービス提供会社・団体の連携事例		</a:t>
            </a:r>
          </a:p>
          <a:p>
            <a:pPr lvl="2">
              <a:lnSpc>
                <a:spcPct val="140000"/>
              </a:lnSpc>
              <a:buFontTx/>
              <a:buChar char="•"/>
            </a:pPr>
            <a:r>
              <a:rPr lang="ja-JP" altLang="en-US" sz="1000">
                <a:latin typeface="ＭＳ Ｐゴシック" panose="020B0600070205080204" pitchFamily="50" charset="-128"/>
              </a:rPr>
              <a:t>金融機関と会計専門家／システム会社等が		４７</a:t>
            </a:r>
            <a:r>
              <a:rPr lang="en-US" altLang="ja-JP" sz="1000">
                <a:latin typeface="ＭＳ Ｐゴシック" panose="020B0600070205080204" pitchFamily="50" charset="-128"/>
              </a:rPr>
              <a:t>P</a:t>
            </a:r>
          </a:p>
          <a:p>
            <a:pPr lvl="2">
              <a:lnSpc>
                <a:spcPct val="140000"/>
              </a:lnSpc>
            </a:pPr>
            <a:r>
              <a:rPr lang="en-US" altLang="ja-JP" sz="1000">
                <a:latin typeface="ＭＳ Ｐゴシック" panose="020B0600070205080204" pitchFamily="50" charset="-128"/>
              </a:rPr>
              <a:t>	</a:t>
            </a:r>
            <a:r>
              <a:rPr lang="ja-JP" altLang="en-US" sz="1000">
                <a:latin typeface="ＭＳ Ｐゴシック" panose="020B0600070205080204" pitchFamily="50" charset="-128"/>
              </a:rPr>
              <a:t>連携して行う新しいビジネスローン</a:t>
            </a:r>
          </a:p>
          <a:p>
            <a:pPr lvl="2">
              <a:lnSpc>
                <a:spcPct val="140000"/>
              </a:lnSpc>
              <a:buFontTx/>
              <a:buChar char="•"/>
            </a:pPr>
            <a:r>
              <a:rPr lang="ja-JP" altLang="en-US" sz="1000">
                <a:latin typeface="ＭＳ Ｐゴシック" panose="020B0600070205080204" pitchFamily="50" charset="-128"/>
              </a:rPr>
              <a:t>提携ローン商品と財務管理サービス人材		５４</a:t>
            </a:r>
            <a:r>
              <a:rPr lang="en-US" altLang="ja-JP" sz="1000">
                <a:latin typeface="ＭＳ Ｐゴシック" panose="020B0600070205080204" pitchFamily="50" charset="-128"/>
              </a:rPr>
              <a:t>P</a:t>
            </a:r>
          </a:p>
          <a:p>
            <a:pPr lvl="1">
              <a:lnSpc>
                <a:spcPct val="140000"/>
              </a:lnSpc>
            </a:pPr>
            <a:r>
              <a:rPr lang="en-US" altLang="ja-JP" sz="1000">
                <a:latin typeface="ＭＳ Ｐゴシック" panose="020B0600070205080204" pitchFamily="50" charset="-128"/>
              </a:rPr>
              <a:t>3</a:t>
            </a:r>
            <a:r>
              <a:rPr lang="ja-JP" altLang="en-US" sz="1000">
                <a:latin typeface="ＭＳ Ｐゴシック" panose="020B0600070205080204" pitchFamily="50" charset="-128"/>
              </a:rPr>
              <a:t>　各種の資金調達方法			</a:t>
            </a:r>
          </a:p>
          <a:p>
            <a:pPr lvl="2">
              <a:lnSpc>
                <a:spcPct val="140000"/>
              </a:lnSpc>
              <a:buFontTx/>
              <a:buChar char="•"/>
            </a:pPr>
            <a:r>
              <a:rPr lang="ja-JP" altLang="en-US" sz="1000">
                <a:latin typeface="ＭＳ Ｐゴシック" panose="020B0600070205080204" pitchFamily="50" charset="-128"/>
              </a:rPr>
              <a:t>資金調達の各種手法			５５</a:t>
            </a:r>
            <a:r>
              <a:rPr lang="en-US" altLang="ja-JP" sz="1000">
                <a:latin typeface="ＭＳ Ｐゴシック" panose="020B0600070205080204" pitchFamily="50" charset="-128"/>
              </a:rPr>
              <a:t>P</a:t>
            </a:r>
          </a:p>
          <a:p>
            <a:pPr lvl="1">
              <a:lnSpc>
                <a:spcPct val="140000"/>
              </a:lnSpc>
            </a:pPr>
            <a:endParaRPr lang="en-US" altLang="ja-JP" sz="1000">
              <a:latin typeface="ＭＳ Ｐゴシック" panose="020B0600070205080204" pitchFamily="50" charset="-128"/>
            </a:endParaRPr>
          </a:p>
          <a:p>
            <a:pPr>
              <a:lnSpc>
                <a:spcPct val="140000"/>
              </a:lnSpc>
            </a:pPr>
            <a:r>
              <a:rPr lang="en-US" altLang="ja-JP" sz="1000">
                <a:latin typeface="ＭＳ Ｐゴシック" panose="020B0600070205080204" pitchFamily="50" charset="-128"/>
              </a:rPr>
              <a:t>Ⅴ</a:t>
            </a:r>
            <a:r>
              <a:rPr lang="ja-JP" altLang="en-US" sz="1000">
                <a:latin typeface="ＭＳ Ｐゴシック" panose="020B0600070205080204" pitchFamily="50" charset="-128"/>
              </a:rPr>
              <a:t>　財務管理サービスに関連した新しい動向</a:t>
            </a:r>
          </a:p>
          <a:p>
            <a:pPr lvl="1">
              <a:lnSpc>
                <a:spcPct val="140000"/>
              </a:lnSpc>
            </a:pPr>
            <a:r>
              <a:rPr lang="en-US" altLang="ja-JP" sz="1000">
                <a:latin typeface="ＭＳ Ｐゴシック" panose="020B0600070205080204" pitchFamily="50" charset="-128"/>
              </a:rPr>
              <a:t>1</a:t>
            </a:r>
            <a:r>
              <a:rPr lang="ja-JP" altLang="en-US" sz="1000">
                <a:latin typeface="ＭＳ Ｐゴシック" panose="020B0600070205080204" pitchFamily="50" charset="-128"/>
              </a:rPr>
              <a:t>　中小企業の会計基準			</a:t>
            </a:r>
          </a:p>
          <a:p>
            <a:pPr lvl="2">
              <a:lnSpc>
                <a:spcPct val="140000"/>
              </a:lnSpc>
              <a:buFontTx/>
              <a:buChar char="•"/>
            </a:pPr>
            <a:r>
              <a:rPr lang="ja-JP" altLang="en-US" sz="1000">
                <a:latin typeface="ＭＳ Ｐゴシック" panose="020B0600070205080204" pitchFamily="50" charset="-128"/>
              </a:rPr>
              <a:t>中小企業の会計基準の目的・背景		５７</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中小企業庁「中小企業の会計」		５８</a:t>
            </a:r>
            <a:r>
              <a:rPr lang="en-US" altLang="ja-JP" sz="1000">
                <a:latin typeface="ＭＳ Ｐゴシック" panose="020B0600070205080204" pitchFamily="50" charset="-128"/>
              </a:rPr>
              <a:t>P</a:t>
            </a:r>
          </a:p>
          <a:p>
            <a:pPr lvl="1">
              <a:lnSpc>
                <a:spcPct val="140000"/>
              </a:lnSpc>
            </a:pPr>
            <a:r>
              <a:rPr lang="en-US" altLang="ja-JP" sz="1000">
                <a:latin typeface="ＭＳ Ｐゴシック" panose="020B0600070205080204" pitchFamily="50" charset="-128"/>
              </a:rPr>
              <a:t>2</a:t>
            </a:r>
            <a:r>
              <a:rPr lang="ja-JP" altLang="en-US" sz="1000">
                <a:latin typeface="ＭＳ Ｐゴシック" panose="020B0600070205080204" pitchFamily="50" charset="-128"/>
              </a:rPr>
              <a:t>　バランス・スコアカード		</a:t>
            </a:r>
          </a:p>
          <a:p>
            <a:pPr lvl="2">
              <a:lnSpc>
                <a:spcPct val="140000"/>
              </a:lnSpc>
              <a:buFontTx/>
              <a:buChar char="•"/>
            </a:pPr>
            <a:r>
              <a:rPr lang="ja-JP" altLang="en-US" sz="1000">
                <a:latin typeface="ＭＳ Ｐゴシック" panose="020B0600070205080204" pitchFamily="50" charset="-128"/>
              </a:rPr>
              <a:t>バランス・スコアカード（ＢＳＣ）とは		５９</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バランス・スコアカードの作成手順		６１</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事例：　水産加工業Ａ社のＢＳＣ		６２</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ＢＳＣ活用による経営助言			６４</a:t>
            </a:r>
            <a:r>
              <a:rPr lang="en-US" altLang="ja-JP" sz="1000">
                <a:latin typeface="ＭＳ Ｐゴシック" panose="020B0600070205080204" pitchFamily="50" charset="-128"/>
              </a:rPr>
              <a:t>P </a:t>
            </a:r>
          </a:p>
          <a:p>
            <a:pPr lvl="1">
              <a:lnSpc>
                <a:spcPct val="140000"/>
              </a:lnSpc>
            </a:pPr>
            <a:r>
              <a:rPr lang="en-US" altLang="ja-JP" sz="1000">
                <a:latin typeface="ＭＳ Ｐゴシック" panose="020B0600070205080204" pitchFamily="50" charset="-128"/>
              </a:rPr>
              <a:t>3</a:t>
            </a:r>
            <a:r>
              <a:rPr lang="ja-JP" altLang="en-US" sz="1000">
                <a:latin typeface="ＭＳ Ｐゴシック" panose="020B0600070205080204" pitchFamily="50" charset="-128"/>
              </a:rPr>
              <a:t>　連結納税				</a:t>
            </a:r>
          </a:p>
          <a:p>
            <a:pPr lvl="2">
              <a:lnSpc>
                <a:spcPct val="140000"/>
              </a:lnSpc>
              <a:buFontTx/>
              <a:buChar char="•"/>
            </a:pPr>
            <a:r>
              <a:rPr lang="ja-JP" altLang="en-US" sz="1000">
                <a:latin typeface="ＭＳ Ｐゴシック" panose="020B0600070205080204" pitchFamily="50" charset="-128"/>
              </a:rPr>
              <a:t>連結納税の目的・背景とその仕組み		６５</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連結納税の手続・計算の手順		６６</a:t>
            </a:r>
            <a:r>
              <a:rPr lang="en-US" altLang="ja-JP" sz="1000">
                <a:latin typeface="ＭＳ Ｐゴシック" panose="020B0600070205080204" pitchFamily="50" charset="-128"/>
              </a:rPr>
              <a:t>P</a:t>
            </a:r>
          </a:p>
          <a:p>
            <a:pPr lvl="1">
              <a:lnSpc>
                <a:spcPct val="140000"/>
              </a:lnSpc>
            </a:pPr>
            <a:r>
              <a:rPr lang="en-US" altLang="ja-JP" sz="1000">
                <a:latin typeface="ＭＳ Ｐゴシック" panose="020B0600070205080204" pitchFamily="50" charset="-128"/>
              </a:rPr>
              <a:t>4</a:t>
            </a:r>
            <a:r>
              <a:rPr lang="ja-JP" altLang="en-US" sz="1000">
                <a:latin typeface="ＭＳ Ｐゴシック" panose="020B0600070205080204" pitchFamily="50" charset="-128"/>
              </a:rPr>
              <a:t>　電子申告		</a:t>
            </a:r>
          </a:p>
          <a:p>
            <a:pPr lvl="2">
              <a:lnSpc>
                <a:spcPct val="140000"/>
              </a:lnSpc>
              <a:buFontTx/>
              <a:buChar char="•"/>
            </a:pPr>
            <a:r>
              <a:rPr lang="ja-JP" altLang="en-US" sz="1000">
                <a:latin typeface="ＭＳ Ｐゴシック" panose="020B0600070205080204" pitchFamily="50" charset="-128"/>
              </a:rPr>
              <a:t>電子申告導入の目的・背景とそのメリット		６９</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電子申告のための事前準備		７０</a:t>
            </a:r>
            <a:r>
              <a:rPr lang="en-US" altLang="ja-JP" sz="1000">
                <a:latin typeface="ＭＳ Ｐゴシック" panose="020B0600070205080204" pitchFamily="50" charset="-128"/>
              </a:rPr>
              <a:t>P</a:t>
            </a:r>
          </a:p>
          <a:p>
            <a:pPr lvl="2">
              <a:lnSpc>
                <a:spcPct val="140000"/>
              </a:lnSpc>
              <a:buFontTx/>
              <a:buChar char="•"/>
            </a:pPr>
            <a:r>
              <a:rPr lang="ja-JP" altLang="en-US" sz="1000">
                <a:latin typeface="ＭＳ Ｐゴシック" panose="020B0600070205080204" pitchFamily="50" charset="-128"/>
              </a:rPr>
              <a:t>電子申告・納税の手続き			７０</a:t>
            </a:r>
            <a:r>
              <a:rPr lang="en-US" altLang="ja-JP" sz="1000">
                <a:latin typeface="ＭＳ Ｐゴシック" panose="020B0600070205080204" pitchFamily="50" charset="-128"/>
              </a:rPr>
              <a:t>P</a:t>
            </a:r>
          </a:p>
          <a:p>
            <a:pPr lvl="1">
              <a:lnSpc>
                <a:spcPct val="140000"/>
              </a:lnSpc>
            </a:pPr>
            <a:r>
              <a:rPr lang="en-US" altLang="ja-JP" sz="1000">
                <a:latin typeface="ＭＳ Ｐゴシック" panose="020B0600070205080204" pitchFamily="50" charset="-128"/>
              </a:rPr>
              <a:t>	</a:t>
            </a:r>
          </a:p>
        </p:txBody>
      </p:sp>
      <p:sp>
        <p:nvSpPr>
          <p:cNvPr id="1723395" name="Text Box 3">
            <a:extLst>
              <a:ext uri="{FF2B5EF4-FFF2-40B4-BE49-F238E27FC236}">
                <a16:creationId xmlns:a16="http://schemas.microsoft.com/office/drawing/2014/main" id="{2D3DC5FF-C1FE-1CCA-B39B-F8804BB5BF24}"/>
              </a:ext>
            </a:extLst>
          </p:cNvPr>
          <p:cNvSpPr txBox="1">
            <a:spLocks noChangeArrowheads="1"/>
          </p:cNvSpPr>
          <p:nvPr/>
        </p:nvSpPr>
        <p:spPr bwMode="auto">
          <a:xfrm>
            <a:off x="533400" y="304800"/>
            <a:ext cx="57912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ja-JP" altLang="en-US" sz="1400" i="1">
                <a:latin typeface="Arial" panose="020B0604020202020204" pitchFamily="34" charset="0"/>
                <a:ea typeface="HGPｺﾞｼｯｸE" panose="020B0900000000000000" pitchFamily="50" charset="-128"/>
              </a:rPr>
              <a:t>目次</a:t>
            </a:r>
            <a:endParaRPr lang="ja-JP" altLang="en-US" sz="1000">
              <a:latin typeface="Arial" panose="020B0604020202020204" pitchFamily="34" charset="0"/>
              <a:ea typeface="ＭＳ Ｐ明朝" panose="02020600040205080304" pitchFamily="18" charset="-128"/>
            </a:endParaRPr>
          </a:p>
        </p:txBody>
      </p:sp>
      <p:sp>
        <p:nvSpPr>
          <p:cNvPr id="1723396" name="Line 4">
            <a:extLst>
              <a:ext uri="{FF2B5EF4-FFF2-40B4-BE49-F238E27FC236}">
                <a16:creationId xmlns:a16="http://schemas.microsoft.com/office/drawing/2014/main" id="{3E2C5372-EA61-C0E5-4F79-4BA07705F070}"/>
              </a:ext>
            </a:extLst>
          </p:cNvPr>
          <p:cNvSpPr>
            <a:spLocks noChangeShapeType="1"/>
          </p:cNvSpPr>
          <p:nvPr/>
        </p:nvSpPr>
        <p:spPr bwMode="auto">
          <a:xfrm flipV="1">
            <a:off x="533400" y="228600"/>
            <a:ext cx="5791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23397" name="Line 5">
            <a:extLst>
              <a:ext uri="{FF2B5EF4-FFF2-40B4-BE49-F238E27FC236}">
                <a16:creationId xmlns:a16="http://schemas.microsoft.com/office/drawing/2014/main" id="{545F4345-E458-23E4-2ABF-34972D53086B}"/>
              </a:ext>
            </a:extLst>
          </p:cNvPr>
          <p:cNvSpPr>
            <a:spLocks noChangeShapeType="1"/>
          </p:cNvSpPr>
          <p:nvPr/>
        </p:nvSpPr>
        <p:spPr bwMode="auto">
          <a:xfrm>
            <a:off x="533400" y="6858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4114" name="Text Box 2">
            <a:extLst>
              <a:ext uri="{FF2B5EF4-FFF2-40B4-BE49-F238E27FC236}">
                <a16:creationId xmlns:a16="http://schemas.microsoft.com/office/drawing/2014/main" id="{C646B893-DB0C-37AF-38B2-0E0C020B170A}"/>
              </a:ext>
            </a:extLst>
          </p:cNvPr>
          <p:cNvSpPr txBox="1">
            <a:spLocks noChangeArrowheads="1"/>
          </p:cNvSpPr>
          <p:nvPr/>
        </p:nvSpPr>
        <p:spPr bwMode="auto">
          <a:xfrm>
            <a:off x="533400" y="304800"/>
            <a:ext cx="57912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ja-JP" sz="1400" i="1">
                <a:latin typeface="Arial" panose="020B0604020202020204" pitchFamily="34" charset="0"/>
                <a:ea typeface="HGPｺﾞｼｯｸE" panose="020B0900000000000000" pitchFamily="50" charset="-128"/>
              </a:rPr>
              <a:t>Ⅰ</a:t>
            </a:r>
            <a:r>
              <a:rPr lang="ja-JP" altLang="en-US" sz="1400" i="1">
                <a:latin typeface="Arial" panose="020B0604020202020204" pitchFamily="34" charset="0"/>
                <a:ea typeface="HGPｺﾞｼｯｸE" panose="020B0900000000000000" pitchFamily="50" charset="-128"/>
              </a:rPr>
              <a:t>　財務管理サービス人材による経営助言へのニーズ</a:t>
            </a:r>
            <a:br>
              <a:rPr lang="ja-JP" altLang="en-US" sz="1400" i="1">
                <a:latin typeface="Arial" panose="020B0604020202020204" pitchFamily="34" charset="0"/>
                <a:ea typeface="HGPｺﾞｼｯｸE" panose="020B0900000000000000" pitchFamily="50" charset="-128"/>
              </a:rPr>
            </a:br>
            <a:endParaRPr lang="ja-JP" altLang="en-US" sz="1400" i="1">
              <a:latin typeface="Arial" panose="020B0604020202020204" pitchFamily="34" charset="0"/>
              <a:ea typeface="HGPｺﾞｼｯｸE" panose="020B0900000000000000" pitchFamily="50" charset="-128"/>
            </a:endParaRPr>
          </a:p>
        </p:txBody>
      </p:sp>
      <p:sp>
        <p:nvSpPr>
          <p:cNvPr id="1754115" name="Line 3">
            <a:extLst>
              <a:ext uri="{FF2B5EF4-FFF2-40B4-BE49-F238E27FC236}">
                <a16:creationId xmlns:a16="http://schemas.microsoft.com/office/drawing/2014/main" id="{D41F0AC3-320B-C369-605A-1D1BC2B945CF}"/>
              </a:ext>
            </a:extLst>
          </p:cNvPr>
          <p:cNvSpPr>
            <a:spLocks noChangeShapeType="1"/>
          </p:cNvSpPr>
          <p:nvPr/>
        </p:nvSpPr>
        <p:spPr bwMode="auto">
          <a:xfrm flipV="1">
            <a:off x="533400" y="228600"/>
            <a:ext cx="5791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54116" name="Line 4">
            <a:extLst>
              <a:ext uri="{FF2B5EF4-FFF2-40B4-BE49-F238E27FC236}">
                <a16:creationId xmlns:a16="http://schemas.microsoft.com/office/drawing/2014/main" id="{178682EC-50DA-48E5-21DD-9F9B2157191C}"/>
              </a:ext>
            </a:extLst>
          </p:cNvPr>
          <p:cNvSpPr>
            <a:spLocks noChangeShapeType="1"/>
          </p:cNvSpPr>
          <p:nvPr/>
        </p:nvSpPr>
        <p:spPr bwMode="auto">
          <a:xfrm>
            <a:off x="533400" y="6858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54117" name="Oval 5">
            <a:extLst>
              <a:ext uri="{FF2B5EF4-FFF2-40B4-BE49-F238E27FC236}">
                <a16:creationId xmlns:a16="http://schemas.microsoft.com/office/drawing/2014/main" id="{41AE1046-0973-B97B-2A7D-5625A60AFCAC}"/>
              </a:ext>
            </a:extLst>
          </p:cNvPr>
          <p:cNvSpPr>
            <a:spLocks noChangeArrowheads="1"/>
          </p:cNvSpPr>
          <p:nvPr/>
        </p:nvSpPr>
        <p:spPr bwMode="auto">
          <a:xfrm>
            <a:off x="533400" y="914400"/>
            <a:ext cx="381000" cy="381000"/>
          </a:xfrm>
          <a:prstGeom prst="ellipse">
            <a:avLst/>
          </a:prstGeom>
          <a:gradFill rotWithShape="0">
            <a:gsLst>
              <a:gs pos="0">
                <a:srgbClr val="333333"/>
              </a:gs>
              <a:gs pos="100000">
                <a:schemeClr val="folHlink"/>
              </a:gs>
            </a:gsLst>
            <a:lin ang="2700000" scaled="1"/>
          </a:gradFill>
          <a:ln>
            <a:noFill/>
          </a:ln>
          <a:effectLst/>
          <a:extLst>
            <a:ext uri="{91240B29-F687-4F45-9708-019B960494DF}">
              <a14:hiddenLine xmlns:a14="http://schemas.microsoft.com/office/drawing/2010/main" w="3175">
                <a:solidFill>
                  <a:srgbClr val="99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b="1">
                <a:solidFill>
                  <a:schemeClr val="bg1"/>
                </a:solidFill>
                <a:latin typeface="Arial" panose="020B0604020202020204" pitchFamily="34" charset="0"/>
              </a:rPr>
              <a:t>1</a:t>
            </a:r>
          </a:p>
        </p:txBody>
      </p:sp>
      <p:sp>
        <p:nvSpPr>
          <p:cNvPr id="1754118" name="Rectangle 6">
            <a:extLst>
              <a:ext uri="{FF2B5EF4-FFF2-40B4-BE49-F238E27FC236}">
                <a16:creationId xmlns:a16="http://schemas.microsoft.com/office/drawing/2014/main" id="{50676B96-7A55-B4FC-DA5F-76F5B5BBC66A}"/>
              </a:ext>
            </a:extLst>
          </p:cNvPr>
          <p:cNvSpPr>
            <a:spLocks noChangeArrowheads="1"/>
          </p:cNvSpPr>
          <p:nvPr/>
        </p:nvSpPr>
        <p:spPr bwMode="auto">
          <a:xfrm>
            <a:off x="762000" y="9906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400" b="1"/>
              <a:t>財務管理サービス人材の企業へのかかわり方</a:t>
            </a:r>
          </a:p>
        </p:txBody>
      </p:sp>
      <p:sp>
        <p:nvSpPr>
          <p:cNvPr id="1754119" name="Line 7">
            <a:extLst>
              <a:ext uri="{FF2B5EF4-FFF2-40B4-BE49-F238E27FC236}">
                <a16:creationId xmlns:a16="http://schemas.microsoft.com/office/drawing/2014/main" id="{28296A74-96E2-02DB-C502-F64E7B6CA9CE}"/>
              </a:ext>
            </a:extLst>
          </p:cNvPr>
          <p:cNvSpPr>
            <a:spLocks noChangeShapeType="1"/>
          </p:cNvSpPr>
          <p:nvPr/>
        </p:nvSpPr>
        <p:spPr bwMode="auto">
          <a:xfrm>
            <a:off x="914400" y="1447800"/>
            <a:ext cx="1588" cy="609600"/>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54120" name="Rectangle 8">
            <a:extLst>
              <a:ext uri="{FF2B5EF4-FFF2-40B4-BE49-F238E27FC236}">
                <a16:creationId xmlns:a16="http://schemas.microsoft.com/office/drawing/2014/main" id="{B110303E-1413-F06E-8C0A-8C0AEB5114F9}"/>
              </a:ext>
            </a:extLst>
          </p:cNvPr>
          <p:cNvSpPr>
            <a:spLocks noChangeArrowheads="1"/>
          </p:cNvSpPr>
          <p:nvPr/>
        </p:nvSpPr>
        <p:spPr bwMode="auto">
          <a:xfrm>
            <a:off x="533400" y="22098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財務管理サービス人材をめぐる環境変化</a:t>
            </a:r>
          </a:p>
        </p:txBody>
      </p:sp>
      <p:sp>
        <p:nvSpPr>
          <p:cNvPr id="1754121" name="Line 9">
            <a:extLst>
              <a:ext uri="{FF2B5EF4-FFF2-40B4-BE49-F238E27FC236}">
                <a16:creationId xmlns:a16="http://schemas.microsoft.com/office/drawing/2014/main" id="{301B598A-AB59-06A3-49DB-94989721BCDF}"/>
              </a:ext>
            </a:extLst>
          </p:cNvPr>
          <p:cNvSpPr>
            <a:spLocks noChangeShapeType="1"/>
          </p:cNvSpPr>
          <p:nvPr/>
        </p:nvSpPr>
        <p:spPr bwMode="auto">
          <a:xfrm>
            <a:off x="533400" y="25146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54122" name="Rectangle 10">
            <a:extLst>
              <a:ext uri="{FF2B5EF4-FFF2-40B4-BE49-F238E27FC236}">
                <a16:creationId xmlns:a16="http://schemas.microsoft.com/office/drawing/2014/main" id="{A5745A90-68CB-85A7-8997-F9EF35AB9343}"/>
              </a:ext>
            </a:extLst>
          </p:cNvPr>
          <p:cNvSpPr>
            <a:spLocks noChangeArrowheads="1"/>
          </p:cNvSpPr>
          <p:nvPr/>
        </p:nvSpPr>
        <p:spPr bwMode="auto">
          <a:xfrm>
            <a:off x="914400" y="2514600"/>
            <a:ext cx="5410200" cy="30480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292100" indent="-101600"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kumimoji="0" lang="ja-JP" altLang="en-US" sz="1000">
                <a:latin typeface="ＭＳ Ｐ明朝" panose="02020600040205080304" pitchFamily="18" charset="-128"/>
                <a:ea typeface="ＭＳ Ｐ明朝" panose="02020600040205080304" pitchFamily="18" charset="-128"/>
              </a:rPr>
              <a:t>会計専門家をとりまく状況としては、税務申告・会計処理の電子化、更に会計事務の（会計事務所以外への）外注化などによる既存業務の機会減少と顧問料の低下が考えられます。特に、外注化、すなわちアウトソーシングに関しては、低料金で経理の記帳代行を行う専門のアウトソーシング会社の登場が脅威となっています。また、インターネットの普及により、ホームページなどで専門家の行う業務内容と顧問料のデータ開示が行われて、顧問料の相場の値崩れが起こる恐れも考えられます。更に公認会計士制度の変更などにより、会計専門家数の増加も見込まれ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金融機関職員についても、地域金融機関を中心として、取引先との長期的関係のなかから事業の将来性や経営者の資質などの情報を的確に捉えて融資を実行するリレーションシップバンキングが試みられており、そのためのノウハウ蓄積が求められてい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また中小企業診断士や経営指導員についても、経営ツールの複雑化や新たな経営手法の登場に対応して、より専門分野を強化することが求められると考えられます。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こうした観点から、財務管理サービス人材としては、より付加価値の高く新時代に対応したサービスの提供が求められるようになります。</a:t>
            </a:r>
          </a:p>
        </p:txBody>
      </p:sp>
      <p:sp>
        <p:nvSpPr>
          <p:cNvPr id="1754123" name="Rectangle 11">
            <a:extLst>
              <a:ext uri="{FF2B5EF4-FFF2-40B4-BE49-F238E27FC236}">
                <a16:creationId xmlns:a16="http://schemas.microsoft.com/office/drawing/2014/main" id="{1C2999D4-DAED-28A4-8410-33E44A0568F1}"/>
              </a:ext>
            </a:extLst>
          </p:cNvPr>
          <p:cNvSpPr>
            <a:spLocks noChangeArrowheads="1"/>
          </p:cNvSpPr>
          <p:nvPr/>
        </p:nvSpPr>
        <p:spPr bwMode="auto">
          <a:xfrm>
            <a:off x="914400" y="1371600"/>
            <a:ext cx="5334000" cy="68580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defTabSz="292100">
              <a:defRPr kumimoji="1" sz="2400">
                <a:solidFill>
                  <a:schemeClr val="tx1"/>
                </a:solidFill>
                <a:latin typeface="Times New Roman" panose="02020603050405020304" pitchFamily="18" charset="0"/>
                <a:ea typeface="ＭＳ Ｐゴシック" panose="020B0600070205080204" pitchFamily="50" charset="-128"/>
              </a:defRPr>
            </a:lvl1pPr>
            <a:lvl2pPr algn="l" defTabSz="292100">
              <a:defRPr kumimoji="1" sz="2400">
                <a:solidFill>
                  <a:schemeClr val="tx1"/>
                </a:solidFill>
                <a:latin typeface="Times New Roman" panose="02020603050405020304" pitchFamily="18" charset="0"/>
                <a:ea typeface="ＭＳ Ｐゴシック" panose="020B0600070205080204" pitchFamily="50" charset="-128"/>
              </a:defRPr>
            </a:lvl2pPr>
            <a:lvl3pPr algn="l" defTabSz="292100">
              <a:defRPr kumimoji="1" sz="2400">
                <a:solidFill>
                  <a:schemeClr val="tx1"/>
                </a:solidFill>
                <a:latin typeface="Times New Roman" panose="02020603050405020304" pitchFamily="18" charset="0"/>
                <a:ea typeface="ＭＳ Ｐゴシック" panose="020B0600070205080204" pitchFamily="50" charset="-128"/>
              </a:defRPr>
            </a:lvl3pPr>
            <a:lvl4pPr algn="l" defTabSz="292100">
              <a:defRPr kumimoji="1" sz="2400">
                <a:solidFill>
                  <a:schemeClr val="tx1"/>
                </a:solidFill>
                <a:latin typeface="Times New Roman" panose="02020603050405020304" pitchFamily="18" charset="0"/>
                <a:ea typeface="ＭＳ Ｐゴシック" panose="020B0600070205080204" pitchFamily="50" charset="-128"/>
              </a:defRPr>
            </a:lvl4pPr>
            <a:lvl5pPr algn="l" defTabSz="292100">
              <a:defRPr kumimoji="1" sz="2400">
                <a:solidFill>
                  <a:schemeClr val="tx1"/>
                </a:solidFill>
                <a:latin typeface="Times New Roman" panose="02020603050405020304" pitchFamily="18" charset="0"/>
                <a:ea typeface="ＭＳ Ｐゴシック" panose="020B0600070205080204" pitchFamily="50" charset="-128"/>
              </a:defRPr>
            </a:lvl5pPr>
            <a:lvl6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200">
                <a:latin typeface="ＭＳ Ｐゴシック" panose="020B0600070205080204" pitchFamily="50" charset="-128"/>
              </a:rPr>
              <a:t>ここでは、財務管理サービス人材をめぐる動向を踏まえながら、今後の企業とのかかわり方について検討します。</a:t>
            </a:r>
          </a:p>
        </p:txBody>
      </p:sp>
      <p:sp>
        <p:nvSpPr>
          <p:cNvPr id="1754133" name="Rectangle 21">
            <a:extLst>
              <a:ext uri="{FF2B5EF4-FFF2-40B4-BE49-F238E27FC236}">
                <a16:creationId xmlns:a16="http://schemas.microsoft.com/office/drawing/2014/main" id="{DF040D46-8555-C5AB-5104-1327DA14A2A5}"/>
              </a:ext>
            </a:extLst>
          </p:cNvPr>
          <p:cNvSpPr>
            <a:spLocks noChangeArrowheads="1"/>
          </p:cNvSpPr>
          <p:nvPr/>
        </p:nvSpPr>
        <p:spPr bwMode="auto">
          <a:xfrm>
            <a:off x="533400" y="56388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1-1-1</a:t>
            </a:r>
          </a:p>
        </p:txBody>
      </p:sp>
      <p:sp>
        <p:nvSpPr>
          <p:cNvPr id="1754134" name="Rectangle 22">
            <a:extLst>
              <a:ext uri="{FF2B5EF4-FFF2-40B4-BE49-F238E27FC236}">
                <a16:creationId xmlns:a16="http://schemas.microsoft.com/office/drawing/2014/main" id="{0B774C3D-1294-1D26-1C53-16FBD1372649}"/>
              </a:ext>
            </a:extLst>
          </p:cNvPr>
          <p:cNvSpPr>
            <a:spLocks noChangeArrowheads="1"/>
          </p:cNvSpPr>
          <p:nvPr/>
        </p:nvSpPr>
        <p:spPr bwMode="auto">
          <a:xfrm>
            <a:off x="1482725" y="56388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財務管理サービス人材をめぐる環境変化</a:t>
            </a:r>
          </a:p>
        </p:txBody>
      </p:sp>
      <p:sp>
        <p:nvSpPr>
          <p:cNvPr id="1754135" name="AutoShape 23">
            <a:extLst>
              <a:ext uri="{FF2B5EF4-FFF2-40B4-BE49-F238E27FC236}">
                <a16:creationId xmlns:a16="http://schemas.microsoft.com/office/drawing/2014/main" id="{A7880D5B-8E8E-3172-F23E-085008B086A0}"/>
              </a:ext>
            </a:extLst>
          </p:cNvPr>
          <p:cNvSpPr>
            <a:spLocks noChangeAspect="1" noChangeArrowheads="1"/>
          </p:cNvSpPr>
          <p:nvPr/>
        </p:nvSpPr>
        <p:spPr bwMode="auto">
          <a:xfrm>
            <a:off x="4521200" y="7818438"/>
            <a:ext cx="1803400" cy="1554162"/>
          </a:xfrm>
          <a:prstGeom prst="roundRect">
            <a:avLst>
              <a:gd name="adj" fmla="val 16667"/>
            </a:avLst>
          </a:prstGeom>
          <a:solidFill>
            <a:srgbClr val="C0C0C0">
              <a:alpha val="50000"/>
            </a:srgb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endParaRPr lang="ja-JP" altLang="en-US"/>
          </a:p>
        </p:txBody>
      </p:sp>
      <p:sp>
        <p:nvSpPr>
          <p:cNvPr id="1754136" name="AutoShape 24">
            <a:extLst>
              <a:ext uri="{FF2B5EF4-FFF2-40B4-BE49-F238E27FC236}">
                <a16:creationId xmlns:a16="http://schemas.microsoft.com/office/drawing/2014/main" id="{B58045E6-8AEB-B5FF-0ACE-96DC5322DF17}"/>
              </a:ext>
            </a:extLst>
          </p:cNvPr>
          <p:cNvSpPr>
            <a:spLocks noChangeAspect="1" noChangeArrowheads="1"/>
          </p:cNvSpPr>
          <p:nvPr/>
        </p:nvSpPr>
        <p:spPr bwMode="auto">
          <a:xfrm>
            <a:off x="533400" y="7818438"/>
            <a:ext cx="2133600" cy="1554162"/>
          </a:xfrm>
          <a:prstGeom prst="roundRect">
            <a:avLst>
              <a:gd name="adj" fmla="val 16667"/>
            </a:avLst>
          </a:prstGeom>
          <a:solidFill>
            <a:srgbClr val="C0C0C0">
              <a:alpha val="50000"/>
            </a:srgb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endParaRPr lang="ja-JP" altLang="en-US"/>
          </a:p>
        </p:txBody>
      </p:sp>
      <p:sp>
        <p:nvSpPr>
          <p:cNvPr id="1754137" name="Oval 25">
            <a:extLst>
              <a:ext uri="{FF2B5EF4-FFF2-40B4-BE49-F238E27FC236}">
                <a16:creationId xmlns:a16="http://schemas.microsoft.com/office/drawing/2014/main" id="{C9DA4ACE-AABD-4590-BAF9-7413FC8AF832}"/>
              </a:ext>
            </a:extLst>
          </p:cNvPr>
          <p:cNvSpPr>
            <a:spLocks noChangeAspect="1" noChangeArrowheads="1"/>
          </p:cNvSpPr>
          <p:nvPr/>
        </p:nvSpPr>
        <p:spPr bwMode="auto">
          <a:xfrm>
            <a:off x="1822450" y="5935663"/>
            <a:ext cx="3319463" cy="1684337"/>
          </a:xfrm>
          <a:prstGeom prst="ellipse">
            <a:avLst/>
          </a:prstGeom>
          <a:solidFill>
            <a:srgbClr val="C0C0C0">
              <a:alpha val="50000"/>
            </a:srgb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endParaRPr lang="ja-JP" altLang="en-US"/>
          </a:p>
        </p:txBody>
      </p:sp>
      <p:sp>
        <p:nvSpPr>
          <p:cNvPr id="1754138" name="Oval 26">
            <a:extLst>
              <a:ext uri="{FF2B5EF4-FFF2-40B4-BE49-F238E27FC236}">
                <a16:creationId xmlns:a16="http://schemas.microsoft.com/office/drawing/2014/main" id="{30DCFD3C-EE51-CB87-632C-1C369DF80B9E}"/>
              </a:ext>
            </a:extLst>
          </p:cNvPr>
          <p:cNvSpPr>
            <a:spLocks noChangeAspect="1" noChangeArrowheads="1"/>
          </p:cNvSpPr>
          <p:nvPr/>
        </p:nvSpPr>
        <p:spPr bwMode="auto">
          <a:xfrm>
            <a:off x="2465388" y="6480175"/>
            <a:ext cx="793750" cy="296863"/>
          </a:xfrm>
          <a:prstGeom prst="ellipse">
            <a:avLst/>
          </a:prstGeom>
          <a:solidFill>
            <a:schemeClr val="bg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r>
              <a:rPr lang="ja-JP" altLang="en-US" sz="900" b="1">
                <a:solidFill>
                  <a:schemeClr val="tx2"/>
                </a:solidFill>
                <a:latin typeface="Times New Roman" panose="02020603050405020304" pitchFamily="18" charset="0"/>
              </a:rPr>
              <a:t>公認会計士</a:t>
            </a:r>
          </a:p>
        </p:txBody>
      </p:sp>
      <p:sp>
        <p:nvSpPr>
          <p:cNvPr id="1754139" name="Oval 27">
            <a:extLst>
              <a:ext uri="{FF2B5EF4-FFF2-40B4-BE49-F238E27FC236}">
                <a16:creationId xmlns:a16="http://schemas.microsoft.com/office/drawing/2014/main" id="{0E06EEEC-E972-F012-88E6-D72BD30CA200}"/>
              </a:ext>
            </a:extLst>
          </p:cNvPr>
          <p:cNvSpPr>
            <a:spLocks noChangeAspect="1" noChangeArrowheads="1"/>
          </p:cNvSpPr>
          <p:nvPr/>
        </p:nvSpPr>
        <p:spPr bwMode="auto">
          <a:xfrm>
            <a:off x="2366963" y="6926263"/>
            <a:ext cx="792162" cy="296862"/>
          </a:xfrm>
          <a:prstGeom prst="ellipse">
            <a:avLst/>
          </a:prstGeom>
          <a:solidFill>
            <a:schemeClr val="bg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r>
              <a:rPr lang="ja-JP" altLang="en-US" sz="900" b="1">
                <a:solidFill>
                  <a:schemeClr val="tx2"/>
                </a:solidFill>
                <a:latin typeface="Times New Roman" panose="02020603050405020304" pitchFamily="18" charset="0"/>
              </a:rPr>
              <a:t>税理士</a:t>
            </a:r>
          </a:p>
        </p:txBody>
      </p:sp>
      <p:sp>
        <p:nvSpPr>
          <p:cNvPr id="1754140" name="Oval 28">
            <a:extLst>
              <a:ext uri="{FF2B5EF4-FFF2-40B4-BE49-F238E27FC236}">
                <a16:creationId xmlns:a16="http://schemas.microsoft.com/office/drawing/2014/main" id="{D823FD5F-CDE8-1B0E-8EE0-AFF5E7513F2D}"/>
              </a:ext>
            </a:extLst>
          </p:cNvPr>
          <p:cNvSpPr>
            <a:spLocks noChangeAspect="1" noChangeArrowheads="1"/>
          </p:cNvSpPr>
          <p:nvPr/>
        </p:nvSpPr>
        <p:spPr bwMode="auto">
          <a:xfrm>
            <a:off x="3457575" y="6430963"/>
            <a:ext cx="792163" cy="296862"/>
          </a:xfrm>
          <a:prstGeom prst="ellipse">
            <a:avLst/>
          </a:prstGeom>
          <a:solidFill>
            <a:schemeClr val="bg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r>
              <a:rPr lang="ja-JP" altLang="en-US" sz="900" b="1">
                <a:solidFill>
                  <a:schemeClr val="tx2"/>
                </a:solidFill>
                <a:latin typeface="Times New Roman" panose="02020603050405020304" pitchFamily="18" charset="0"/>
              </a:rPr>
              <a:t>金融機関職員</a:t>
            </a:r>
          </a:p>
        </p:txBody>
      </p:sp>
      <p:sp>
        <p:nvSpPr>
          <p:cNvPr id="1754141" name="Oval 29">
            <a:extLst>
              <a:ext uri="{FF2B5EF4-FFF2-40B4-BE49-F238E27FC236}">
                <a16:creationId xmlns:a16="http://schemas.microsoft.com/office/drawing/2014/main" id="{EC006DCB-DD91-F2C3-4FE7-724AF8B24A69}"/>
              </a:ext>
            </a:extLst>
          </p:cNvPr>
          <p:cNvSpPr>
            <a:spLocks noChangeAspect="1" noChangeArrowheads="1"/>
          </p:cNvSpPr>
          <p:nvPr/>
        </p:nvSpPr>
        <p:spPr bwMode="auto">
          <a:xfrm>
            <a:off x="3048000" y="7223125"/>
            <a:ext cx="914400" cy="298450"/>
          </a:xfrm>
          <a:prstGeom prst="ellipse">
            <a:avLst/>
          </a:prstGeom>
          <a:solidFill>
            <a:schemeClr val="bg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r>
              <a:rPr lang="ja-JP" altLang="en-US" sz="900" b="1">
                <a:solidFill>
                  <a:schemeClr val="tx2"/>
                </a:solidFill>
                <a:latin typeface="Times New Roman" panose="02020603050405020304" pitchFamily="18" charset="0"/>
              </a:rPr>
              <a:t>中小企業診断士</a:t>
            </a:r>
          </a:p>
        </p:txBody>
      </p:sp>
      <p:sp>
        <p:nvSpPr>
          <p:cNvPr id="1754142" name="Oval 30">
            <a:extLst>
              <a:ext uri="{FF2B5EF4-FFF2-40B4-BE49-F238E27FC236}">
                <a16:creationId xmlns:a16="http://schemas.microsoft.com/office/drawing/2014/main" id="{00F2FDC8-FAA0-A6FD-5A8E-47BBCB152574}"/>
              </a:ext>
            </a:extLst>
          </p:cNvPr>
          <p:cNvSpPr>
            <a:spLocks noChangeAspect="1" noChangeArrowheads="1"/>
          </p:cNvSpPr>
          <p:nvPr/>
        </p:nvSpPr>
        <p:spPr bwMode="auto">
          <a:xfrm>
            <a:off x="3654425" y="6877050"/>
            <a:ext cx="793750" cy="296863"/>
          </a:xfrm>
          <a:prstGeom prst="ellipse">
            <a:avLst/>
          </a:prstGeom>
          <a:solidFill>
            <a:schemeClr val="bg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r>
              <a:rPr lang="ja-JP" altLang="en-US" sz="900" b="1">
                <a:solidFill>
                  <a:schemeClr val="tx2"/>
                </a:solidFill>
                <a:latin typeface="Times New Roman" panose="02020603050405020304" pitchFamily="18" charset="0"/>
              </a:rPr>
              <a:t>経営指導員</a:t>
            </a:r>
          </a:p>
        </p:txBody>
      </p:sp>
      <p:sp>
        <p:nvSpPr>
          <p:cNvPr id="1754143" name="Text Box 31">
            <a:extLst>
              <a:ext uri="{FF2B5EF4-FFF2-40B4-BE49-F238E27FC236}">
                <a16:creationId xmlns:a16="http://schemas.microsoft.com/office/drawing/2014/main" id="{F9E3D87C-B4C4-C9FE-0B09-25E6F7579271}"/>
              </a:ext>
            </a:extLst>
          </p:cNvPr>
          <p:cNvSpPr txBox="1">
            <a:spLocks noChangeAspect="1" noChangeArrowheads="1"/>
          </p:cNvSpPr>
          <p:nvPr/>
        </p:nvSpPr>
        <p:spPr bwMode="auto">
          <a:xfrm>
            <a:off x="2493963" y="6096000"/>
            <a:ext cx="200183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spAutoFit/>
          </a:bodyPr>
          <a:lstStyle/>
          <a:p>
            <a:r>
              <a:rPr lang="ja-JP" altLang="en-US" sz="1000" b="1">
                <a:latin typeface="Times New Roman" panose="02020603050405020304" pitchFamily="18" charset="0"/>
              </a:rPr>
              <a:t>中小企業に対してサービスを提供</a:t>
            </a:r>
          </a:p>
          <a:p>
            <a:r>
              <a:rPr lang="ja-JP" altLang="en-US" sz="1000" b="1">
                <a:latin typeface="Times New Roman" panose="02020603050405020304" pitchFamily="18" charset="0"/>
              </a:rPr>
              <a:t>している専門家たち（例示）</a:t>
            </a:r>
          </a:p>
        </p:txBody>
      </p:sp>
      <p:sp>
        <p:nvSpPr>
          <p:cNvPr id="1754144" name="AutoShape 32">
            <a:extLst>
              <a:ext uri="{FF2B5EF4-FFF2-40B4-BE49-F238E27FC236}">
                <a16:creationId xmlns:a16="http://schemas.microsoft.com/office/drawing/2014/main" id="{223545BB-50CB-3C40-DE64-CF8CEDFDB945}"/>
              </a:ext>
            </a:extLst>
          </p:cNvPr>
          <p:cNvSpPr>
            <a:spLocks noChangeAspect="1" noChangeArrowheads="1"/>
          </p:cNvSpPr>
          <p:nvPr/>
        </p:nvSpPr>
        <p:spPr bwMode="auto">
          <a:xfrm>
            <a:off x="1028700" y="6629400"/>
            <a:ext cx="1181100" cy="346075"/>
          </a:xfrm>
          <a:prstGeom prst="wedgeRectCallout">
            <a:avLst>
              <a:gd name="adj1" fmla="val 75269"/>
              <a:gd name="adj2" fmla="val -69727"/>
            </a:avLst>
          </a:prstGeom>
          <a:solidFill>
            <a:schemeClr val="bg1"/>
          </a:solidFill>
          <a:ln w="9525">
            <a:solidFill>
              <a:srgbClr val="5F5F5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0" rIns="72000" bIns="0" anchor="ctr"/>
          <a:lstStyle/>
          <a:p>
            <a:pPr algn="l"/>
            <a:r>
              <a:rPr lang="ja-JP" altLang="en-US" sz="900">
                <a:solidFill>
                  <a:schemeClr val="tx2"/>
                </a:solidFill>
                <a:latin typeface="Times New Roman" panose="02020603050405020304" pitchFamily="18" charset="0"/>
              </a:rPr>
              <a:t>試験制度変更による増加が見込まれる</a:t>
            </a:r>
          </a:p>
        </p:txBody>
      </p:sp>
      <p:sp>
        <p:nvSpPr>
          <p:cNvPr id="1754146" name="AutoShape 34">
            <a:extLst>
              <a:ext uri="{FF2B5EF4-FFF2-40B4-BE49-F238E27FC236}">
                <a16:creationId xmlns:a16="http://schemas.microsoft.com/office/drawing/2014/main" id="{9D1F9468-B5BF-C2D7-C017-A35325471A1D}"/>
              </a:ext>
            </a:extLst>
          </p:cNvPr>
          <p:cNvSpPr>
            <a:spLocks noChangeAspect="1" noChangeArrowheads="1"/>
          </p:cNvSpPr>
          <p:nvPr/>
        </p:nvSpPr>
        <p:spPr bwMode="auto">
          <a:xfrm>
            <a:off x="2743200" y="7620000"/>
            <a:ext cx="1676400" cy="457200"/>
          </a:xfrm>
          <a:prstGeom prst="downArrow">
            <a:avLst>
              <a:gd name="adj1" fmla="val 50000"/>
              <a:gd name="adj2" fmla="val 45417"/>
            </a:avLst>
          </a:prstGeom>
          <a:solidFill>
            <a:srgbClr val="000099"/>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endParaRPr lang="ja-JP" altLang="en-US"/>
          </a:p>
        </p:txBody>
      </p:sp>
      <p:sp>
        <p:nvSpPr>
          <p:cNvPr id="1754147" name="Rectangle 35">
            <a:extLst>
              <a:ext uri="{FF2B5EF4-FFF2-40B4-BE49-F238E27FC236}">
                <a16:creationId xmlns:a16="http://schemas.microsoft.com/office/drawing/2014/main" id="{FA235921-6872-E7D8-F4E7-C4E38CAE87E7}"/>
              </a:ext>
            </a:extLst>
          </p:cNvPr>
          <p:cNvSpPr>
            <a:spLocks noChangeAspect="1" noChangeArrowheads="1"/>
          </p:cNvSpPr>
          <p:nvPr/>
        </p:nvSpPr>
        <p:spPr bwMode="auto">
          <a:xfrm>
            <a:off x="898525" y="7886700"/>
            <a:ext cx="1387475" cy="457200"/>
          </a:xfrm>
          <a:prstGeom prst="rect">
            <a:avLst/>
          </a:prstGeom>
          <a:solidFill>
            <a:schemeClr val="bg1"/>
          </a:solidFill>
          <a:ln w="6350">
            <a:solidFill>
              <a:srgbClr val="5F5F5F"/>
            </a:solidFill>
            <a:miter lim="800000"/>
            <a:headEnd/>
            <a:tailEnd/>
          </a:ln>
          <a:effectLst>
            <a:outerShdw dist="35921" dir="2700000" algn="ctr" rotWithShape="0">
              <a:schemeClr val="bg2"/>
            </a:outerShdw>
          </a:effec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b="1">
                <a:latin typeface="ＭＳ Ｐゴシック" panose="020B0600070205080204" pitchFamily="50" charset="-128"/>
              </a:rPr>
              <a:t>外注化</a:t>
            </a:r>
          </a:p>
          <a:p>
            <a:pPr algn="ctr"/>
            <a:r>
              <a:rPr lang="ja-JP" altLang="en-US" sz="800">
                <a:latin typeface="ＭＳ Ｐゴシック" panose="020B0600070205080204" pitchFamily="50" charset="-128"/>
              </a:rPr>
              <a:t>（経理業務アウトソーシング）</a:t>
            </a:r>
          </a:p>
        </p:txBody>
      </p:sp>
      <p:sp>
        <p:nvSpPr>
          <p:cNvPr id="1754148" name="Rectangle 36">
            <a:extLst>
              <a:ext uri="{FF2B5EF4-FFF2-40B4-BE49-F238E27FC236}">
                <a16:creationId xmlns:a16="http://schemas.microsoft.com/office/drawing/2014/main" id="{BEECAE25-662C-B48D-731E-9A7F40CB29A7}"/>
              </a:ext>
            </a:extLst>
          </p:cNvPr>
          <p:cNvSpPr>
            <a:spLocks noChangeAspect="1" noChangeArrowheads="1"/>
          </p:cNvSpPr>
          <p:nvPr/>
        </p:nvSpPr>
        <p:spPr bwMode="auto">
          <a:xfrm>
            <a:off x="4646613" y="7886700"/>
            <a:ext cx="1485900" cy="457200"/>
          </a:xfrm>
          <a:prstGeom prst="rect">
            <a:avLst/>
          </a:prstGeom>
          <a:solidFill>
            <a:schemeClr val="bg1"/>
          </a:solidFill>
          <a:ln w="6350">
            <a:solidFill>
              <a:srgbClr val="5F5F5F"/>
            </a:solidFill>
            <a:miter lim="800000"/>
            <a:headEnd/>
            <a:tailEnd/>
          </a:ln>
          <a:effectLst>
            <a:outerShdw dist="35921" dir="2700000" algn="ctr" rotWithShape="0">
              <a:schemeClr val="bg2"/>
            </a:outerShdw>
          </a:effec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b="1">
                <a:latin typeface="ＭＳ Ｐゴシック" panose="020B0600070205080204" pitchFamily="50" charset="-128"/>
              </a:rPr>
              <a:t>電子化</a:t>
            </a:r>
          </a:p>
          <a:p>
            <a:pPr algn="ctr"/>
            <a:r>
              <a:rPr lang="ja-JP" altLang="en-US" sz="800">
                <a:latin typeface="ＭＳ Ｐゴシック" panose="020B0600070205080204" pitchFamily="50" charset="-128"/>
              </a:rPr>
              <a:t>（経理業務システム化、</a:t>
            </a:r>
          </a:p>
          <a:p>
            <a:pPr algn="ctr"/>
            <a:r>
              <a:rPr lang="ja-JP" altLang="en-US" sz="800">
                <a:latin typeface="ＭＳ Ｐゴシック" panose="020B0600070205080204" pitchFamily="50" charset="-128"/>
              </a:rPr>
              <a:t>税務申告の電子化）</a:t>
            </a:r>
          </a:p>
        </p:txBody>
      </p:sp>
      <p:sp>
        <p:nvSpPr>
          <p:cNvPr id="1754149" name="Text Box 37">
            <a:extLst>
              <a:ext uri="{FF2B5EF4-FFF2-40B4-BE49-F238E27FC236}">
                <a16:creationId xmlns:a16="http://schemas.microsoft.com/office/drawing/2014/main" id="{871AEDED-C5BD-9AA0-71DA-6AFF31002894}"/>
              </a:ext>
            </a:extLst>
          </p:cNvPr>
          <p:cNvSpPr txBox="1">
            <a:spLocks noChangeAspect="1" noChangeArrowheads="1"/>
          </p:cNvSpPr>
          <p:nvPr/>
        </p:nvSpPr>
        <p:spPr bwMode="auto">
          <a:xfrm>
            <a:off x="3273425" y="7689850"/>
            <a:ext cx="617538"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spAutoFit/>
          </a:bodyPr>
          <a:lstStyle/>
          <a:p>
            <a:r>
              <a:rPr lang="ja-JP" altLang="en-US" sz="1000" b="1">
                <a:solidFill>
                  <a:schemeClr val="bg1"/>
                </a:solidFill>
                <a:latin typeface="Times New Roman" panose="02020603050405020304" pitchFamily="18" charset="0"/>
              </a:rPr>
              <a:t>サービス</a:t>
            </a:r>
          </a:p>
          <a:p>
            <a:r>
              <a:rPr lang="ja-JP" altLang="en-US" sz="1000" b="1">
                <a:solidFill>
                  <a:schemeClr val="bg1"/>
                </a:solidFill>
                <a:latin typeface="Times New Roman" panose="02020603050405020304" pitchFamily="18" charset="0"/>
              </a:rPr>
              <a:t>提供</a:t>
            </a:r>
          </a:p>
        </p:txBody>
      </p:sp>
      <p:sp>
        <p:nvSpPr>
          <p:cNvPr id="1754150" name="Oval 38">
            <a:extLst>
              <a:ext uri="{FF2B5EF4-FFF2-40B4-BE49-F238E27FC236}">
                <a16:creationId xmlns:a16="http://schemas.microsoft.com/office/drawing/2014/main" id="{025866B6-4A1D-DF3A-DD44-78C8A54CEA4A}"/>
              </a:ext>
            </a:extLst>
          </p:cNvPr>
          <p:cNvSpPr>
            <a:spLocks noChangeAspect="1" noChangeArrowheads="1"/>
          </p:cNvSpPr>
          <p:nvPr/>
        </p:nvSpPr>
        <p:spPr bwMode="auto">
          <a:xfrm>
            <a:off x="631825" y="8458200"/>
            <a:ext cx="739775" cy="433388"/>
          </a:xfrm>
          <a:prstGeom prst="ellipse">
            <a:avLst/>
          </a:prstGeom>
          <a:solidFill>
            <a:schemeClr val="bg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p>
            <a:r>
              <a:rPr lang="ja-JP" altLang="en-US" sz="800" b="1">
                <a:solidFill>
                  <a:schemeClr val="tx2"/>
                </a:solidFill>
                <a:latin typeface="Times New Roman" panose="02020603050405020304" pitchFamily="18" charset="0"/>
              </a:rPr>
              <a:t>経理・財務業務代行業者</a:t>
            </a:r>
          </a:p>
        </p:txBody>
      </p:sp>
      <p:sp>
        <p:nvSpPr>
          <p:cNvPr id="1754151" name="Oval 39">
            <a:extLst>
              <a:ext uri="{FF2B5EF4-FFF2-40B4-BE49-F238E27FC236}">
                <a16:creationId xmlns:a16="http://schemas.microsoft.com/office/drawing/2014/main" id="{57630428-373D-DA7B-6177-D417A7C13A49}"/>
              </a:ext>
            </a:extLst>
          </p:cNvPr>
          <p:cNvSpPr>
            <a:spLocks noChangeAspect="1" noChangeArrowheads="1"/>
          </p:cNvSpPr>
          <p:nvPr/>
        </p:nvSpPr>
        <p:spPr bwMode="auto">
          <a:xfrm>
            <a:off x="631825" y="8929688"/>
            <a:ext cx="739775" cy="434975"/>
          </a:xfrm>
          <a:prstGeom prst="ellipse">
            <a:avLst/>
          </a:prstGeom>
          <a:solidFill>
            <a:schemeClr val="bg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p>
            <a:r>
              <a:rPr lang="ja-JP" altLang="en-US" sz="800" b="1">
                <a:solidFill>
                  <a:schemeClr val="tx2"/>
                </a:solidFill>
                <a:latin typeface="Times New Roman" panose="02020603050405020304" pitchFamily="18" charset="0"/>
              </a:rPr>
              <a:t>間接業務</a:t>
            </a:r>
          </a:p>
          <a:p>
            <a:r>
              <a:rPr lang="ja-JP" altLang="en-US" sz="800" b="1">
                <a:solidFill>
                  <a:schemeClr val="tx2"/>
                </a:solidFill>
                <a:latin typeface="Times New Roman" panose="02020603050405020304" pitchFamily="18" charset="0"/>
              </a:rPr>
              <a:t>代行業者</a:t>
            </a:r>
          </a:p>
        </p:txBody>
      </p:sp>
      <p:sp>
        <p:nvSpPr>
          <p:cNvPr id="1754152" name="AutoShape 40">
            <a:extLst>
              <a:ext uri="{FF2B5EF4-FFF2-40B4-BE49-F238E27FC236}">
                <a16:creationId xmlns:a16="http://schemas.microsoft.com/office/drawing/2014/main" id="{464F8004-CE7E-EA57-89B6-BE8ADE9883A2}"/>
              </a:ext>
            </a:extLst>
          </p:cNvPr>
          <p:cNvSpPr>
            <a:spLocks noChangeAspect="1" noChangeArrowheads="1"/>
          </p:cNvSpPr>
          <p:nvPr/>
        </p:nvSpPr>
        <p:spPr bwMode="auto">
          <a:xfrm>
            <a:off x="4419600" y="6953250"/>
            <a:ext cx="1862138" cy="865188"/>
          </a:xfrm>
          <a:prstGeom prst="irregularSeal1">
            <a:avLst/>
          </a:prstGeom>
          <a:solidFill>
            <a:schemeClr val="bg1"/>
          </a:solidFill>
          <a:ln w="38100">
            <a:solidFill>
              <a:srgbClr val="5F5F5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endParaRPr lang="ja-JP" altLang="en-US"/>
          </a:p>
        </p:txBody>
      </p:sp>
      <p:sp>
        <p:nvSpPr>
          <p:cNvPr id="1754153" name="AutoShape 41">
            <a:extLst>
              <a:ext uri="{FF2B5EF4-FFF2-40B4-BE49-F238E27FC236}">
                <a16:creationId xmlns:a16="http://schemas.microsoft.com/office/drawing/2014/main" id="{C657F35D-2E89-A983-9449-0E47F579A5F8}"/>
              </a:ext>
            </a:extLst>
          </p:cNvPr>
          <p:cNvSpPr>
            <a:spLocks noChangeAspect="1" noChangeArrowheads="1"/>
          </p:cNvSpPr>
          <p:nvPr/>
        </p:nvSpPr>
        <p:spPr bwMode="auto">
          <a:xfrm>
            <a:off x="4754563" y="7086600"/>
            <a:ext cx="1189037" cy="544513"/>
          </a:xfrm>
          <a:prstGeom prst="wedgeRectCallout">
            <a:avLst>
              <a:gd name="adj1" fmla="val -136116"/>
              <a:gd name="adj2" fmla="val 14431"/>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00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0" rIns="72000" bIns="0" anchor="ctr"/>
          <a:lstStyle/>
          <a:p>
            <a:r>
              <a:rPr lang="ja-JP" altLang="en-US" sz="900">
                <a:solidFill>
                  <a:schemeClr val="tx2"/>
                </a:solidFill>
                <a:latin typeface="Times New Roman" panose="02020603050405020304" pitchFamily="18" charset="0"/>
              </a:rPr>
              <a:t>既存サービス枠内での供給過剰状態</a:t>
            </a:r>
          </a:p>
        </p:txBody>
      </p:sp>
      <p:sp>
        <p:nvSpPr>
          <p:cNvPr id="1754156" name="Text Box 44">
            <a:extLst>
              <a:ext uri="{FF2B5EF4-FFF2-40B4-BE49-F238E27FC236}">
                <a16:creationId xmlns:a16="http://schemas.microsoft.com/office/drawing/2014/main" id="{0840E439-7E4A-E865-FED9-B2D73EAA3E6D}"/>
              </a:ext>
            </a:extLst>
          </p:cNvPr>
          <p:cNvSpPr txBox="1">
            <a:spLocks noChangeAspect="1" noChangeArrowheads="1"/>
          </p:cNvSpPr>
          <p:nvPr/>
        </p:nvSpPr>
        <p:spPr bwMode="auto">
          <a:xfrm>
            <a:off x="1447800" y="8507413"/>
            <a:ext cx="1093788" cy="7334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0" rIns="72000" bIns="0">
            <a:spAutoFit/>
          </a:bodyPr>
          <a:lstStyle/>
          <a:p>
            <a:pPr algn="l"/>
            <a:r>
              <a:rPr lang="ja-JP" altLang="en-US" sz="800">
                <a:latin typeface="Times New Roman" panose="02020603050405020304" pitchFamily="18" charset="0"/>
              </a:rPr>
              <a:t>・記帳代行業務</a:t>
            </a:r>
          </a:p>
          <a:p>
            <a:pPr algn="l"/>
            <a:r>
              <a:rPr lang="ja-JP" altLang="en-US" sz="800">
                <a:latin typeface="Times New Roman" panose="02020603050405020304" pitchFamily="18" charset="0"/>
              </a:rPr>
              <a:t>・月次・年次決算業務</a:t>
            </a:r>
          </a:p>
          <a:p>
            <a:pPr algn="l"/>
            <a:r>
              <a:rPr lang="ja-JP" altLang="en-US" sz="800">
                <a:latin typeface="Times New Roman" panose="02020603050405020304" pitchFamily="18" charset="0"/>
              </a:rPr>
              <a:t>・予算･部門管理</a:t>
            </a:r>
          </a:p>
          <a:p>
            <a:pPr algn="l"/>
            <a:r>
              <a:rPr lang="ja-JP" altLang="en-US" sz="800">
                <a:latin typeface="Times New Roman" panose="02020603050405020304" pitchFamily="18" charset="0"/>
              </a:rPr>
              <a:t>・商法計算書類作成</a:t>
            </a:r>
          </a:p>
          <a:p>
            <a:pPr algn="l"/>
            <a:r>
              <a:rPr lang="ja-JP" altLang="en-US" sz="800">
                <a:latin typeface="Times New Roman" panose="02020603050405020304" pitchFamily="18" charset="0"/>
              </a:rPr>
              <a:t>・決算早期化支援</a:t>
            </a:r>
          </a:p>
          <a:p>
            <a:pPr algn="l"/>
            <a:r>
              <a:rPr lang="ja-JP" altLang="en-US" sz="800">
                <a:latin typeface="Times New Roman" panose="02020603050405020304" pitchFamily="18" charset="0"/>
              </a:rPr>
              <a:t>・給与計算　　等</a:t>
            </a:r>
          </a:p>
        </p:txBody>
      </p:sp>
      <p:sp>
        <p:nvSpPr>
          <p:cNvPr id="1754157" name="Text Box 45">
            <a:extLst>
              <a:ext uri="{FF2B5EF4-FFF2-40B4-BE49-F238E27FC236}">
                <a16:creationId xmlns:a16="http://schemas.microsoft.com/office/drawing/2014/main" id="{72A2B4AE-38E8-8ACA-E808-37E7031FBDF4}"/>
              </a:ext>
            </a:extLst>
          </p:cNvPr>
          <p:cNvSpPr txBox="1">
            <a:spLocks noChangeAspect="1" noChangeArrowheads="1"/>
          </p:cNvSpPr>
          <p:nvPr/>
        </p:nvSpPr>
        <p:spPr bwMode="auto">
          <a:xfrm>
            <a:off x="2790825" y="8305800"/>
            <a:ext cx="295275"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none" lIns="72000" tIns="0" rIns="72000" bIns="0">
            <a:spAutoFit/>
          </a:bodyPr>
          <a:lstStyle/>
          <a:p>
            <a:pPr algn="l"/>
            <a:r>
              <a:rPr lang="ja-JP" altLang="en-US" sz="1000" b="1">
                <a:solidFill>
                  <a:schemeClr val="tx2"/>
                </a:solidFill>
                <a:latin typeface="Times New Roman" panose="02020603050405020304" pitchFamily="18" charset="0"/>
              </a:rPr>
              <a:t>外注化</a:t>
            </a:r>
          </a:p>
        </p:txBody>
      </p:sp>
      <p:sp>
        <p:nvSpPr>
          <p:cNvPr id="1754158" name="Text Box 46">
            <a:extLst>
              <a:ext uri="{FF2B5EF4-FFF2-40B4-BE49-F238E27FC236}">
                <a16:creationId xmlns:a16="http://schemas.microsoft.com/office/drawing/2014/main" id="{4560A204-75B0-9A1D-56F5-6032B30437F5}"/>
              </a:ext>
            </a:extLst>
          </p:cNvPr>
          <p:cNvSpPr txBox="1">
            <a:spLocks noChangeAspect="1" noChangeArrowheads="1"/>
          </p:cNvSpPr>
          <p:nvPr/>
        </p:nvSpPr>
        <p:spPr bwMode="auto">
          <a:xfrm>
            <a:off x="4054475" y="8305800"/>
            <a:ext cx="295275" cy="381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none" lIns="72000" tIns="0" rIns="72000" bIns="0">
            <a:spAutoFit/>
          </a:bodyPr>
          <a:lstStyle/>
          <a:p>
            <a:pPr algn="l"/>
            <a:r>
              <a:rPr lang="ja-JP" altLang="en-US" sz="1000" b="1">
                <a:solidFill>
                  <a:schemeClr val="tx2"/>
                </a:solidFill>
                <a:latin typeface="Times New Roman" panose="02020603050405020304" pitchFamily="18" charset="0"/>
              </a:rPr>
              <a:t>自前化</a:t>
            </a:r>
          </a:p>
        </p:txBody>
      </p:sp>
      <p:sp>
        <p:nvSpPr>
          <p:cNvPr id="1754159" name="Text Box 47">
            <a:extLst>
              <a:ext uri="{FF2B5EF4-FFF2-40B4-BE49-F238E27FC236}">
                <a16:creationId xmlns:a16="http://schemas.microsoft.com/office/drawing/2014/main" id="{E306A3DA-8CE6-23F1-6183-86012504AEFF}"/>
              </a:ext>
            </a:extLst>
          </p:cNvPr>
          <p:cNvSpPr txBox="1">
            <a:spLocks noChangeAspect="1" noChangeArrowheads="1"/>
          </p:cNvSpPr>
          <p:nvPr/>
        </p:nvSpPr>
        <p:spPr bwMode="auto">
          <a:xfrm>
            <a:off x="4724400" y="8458200"/>
            <a:ext cx="1427163" cy="611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0" rIns="72000" bIns="0">
            <a:spAutoFit/>
          </a:bodyPr>
          <a:lstStyle/>
          <a:p>
            <a:pPr algn="l"/>
            <a:r>
              <a:rPr lang="ja-JP" altLang="en-US" sz="800">
                <a:latin typeface="Times New Roman" panose="02020603050405020304" pitchFamily="18" charset="0"/>
              </a:rPr>
              <a:t>・会計・経理システムによる</a:t>
            </a:r>
          </a:p>
          <a:p>
            <a:pPr algn="l"/>
            <a:r>
              <a:rPr lang="ja-JP" altLang="en-US" sz="800">
                <a:latin typeface="Times New Roman" panose="02020603050405020304" pitchFamily="18" charset="0"/>
              </a:rPr>
              <a:t>　業務の自前化</a:t>
            </a:r>
          </a:p>
          <a:p>
            <a:pPr algn="l"/>
            <a:r>
              <a:rPr lang="ja-JP" altLang="en-US" sz="800">
                <a:latin typeface="Times New Roman" panose="02020603050405020304" pitchFamily="18" charset="0"/>
              </a:rPr>
              <a:t> </a:t>
            </a:r>
            <a:r>
              <a:rPr lang="en-US" altLang="ja-JP" sz="800">
                <a:latin typeface="Times New Roman" panose="02020603050405020304" pitchFamily="18" charset="0"/>
              </a:rPr>
              <a:t>-</a:t>
            </a:r>
            <a:r>
              <a:rPr lang="ja-JP" altLang="en-US" sz="800">
                <a:latin typeface="Times New Roman" panose="02020603050405020304" pitchFamily="18" charset="0"/>
              </a:rPr>
              <a:t>記帳業務</a:t>
            </a:r>
          </a:p>
          <a:p>
            <a:pPr algn="l"/>
            <a:r>
              <a:rPr lang="ja-JP" altLang="en-US" sz="800">
                <a:latin typeface="Times New Roman" panose="02020603050405020304" pitchFamily="18" charset="0"/>
              </a:rPr>
              <a:t> </a:t>
            </a:r>
            <a:r>
              <a:rPr lang="en-US" altLang="ja-JP" sz="800">
                <a:latin typeface="Times New Roman" panose="02020603050405020304" pitchFamily="18" charset="0"/>
              </a:rPr>
              <a:t>-</a:t>
            </a:r>
            <a:r>
              <a:rPr lang="ja-JP" altLang="en-US" sz="800">
                <a:latin typeface="Times New Roman" panose="02020603050405020304" pitchFamily="18" charset="0"/>
              </a:rPr>
              <a:t>決算業務</a:t>
            </a:r>
          </a:p>
          <a:p>
            <a:pPr algn="l"/>
            <a:r>
              <a:rPr lang="ja-JP" altLang="en-US" sz="800">
                <a:latin typeface="Times New Roman" panose="02020603050405020304" pitchFamily="18" charset="0"/>
              </a:rPr>
              <a:t> </a:t>
            </a:r>
            <a:r>
              <a:rPr lang="en-US" altLang="ja-JP" sz="800">
                <a:latin typeface="Times New Roman" panose="02020603050405020304" pitchFamily="18" charset="0"/>
              </a:rPr>
              <a:t>-</a:t>
            </a:r>
            <a:r>
              <a:rPr lang="ja-JP" altLang="en-US" sz="800">
                <a:latin typeface="Times New Roman" panose="02020603050405020304" pitchFamily="18" charset="0"/>
              </a:rPr>
              <a:t>税務申告（最新）等</a:t>
            </a:r>
          </a:p>
        </p:txBody>
      </p:sp>
      <p:pic>
        <p:nvPicPr>
          <p:cNvPr id="1754160" name="Picture 48">
            <a:extLst>
              <a:ext uri="{FF2B5EF4-FFF2-40B4-BE49-F238E27FC236}">
                <a16:creationId xmlns:a16="http://schemas.microsoft.com/office/drawing/2014/main" id="{DE631843-53F8-E3E9-F58B-15A5BD2A5A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9450" y="8891588"/>
            <a:ext cx="534988" cy="450850"/>
          </a:xfrm>
          <a:prstGeom prst="rect">
            <a:avLst/>
          </a:prstGeom>
          <a:noFill/>
          <a:extLst>
            <a:ext uri="{909E8E84-426E-40DD-AFC4-6F175D3DCCD1}">
              <a14:hiddenFill xmlns:a14="http://schemas.microsoft.com/office/drawing/2010/main">
                <a:solidFill>
                  <a:srgbClr val="FFFFFF"/>
                </a:solidFill>
              </a14:hiddenFill>
            </a:ext>
          </a:extLst>
        </p:spPr>
      </p:pic>
      <p:grpSp>
        <p:nvGrpSpPr>
          <p:cNvPr id="1754161" name="Group 49">
            <a:extLst>
              <a:ext uri="{FF2B5EF4-FFF2-40B4-BE49-F238E27FC236}">
                <a16:creationId xmlns:a16="http://schemas.microsoft.com/office/drawing/2014/main" id="{82BA8980-A3BD-A585-7739-1F2119283A41}"/>
              </a:ext>
            </a:extLst>
          </p:cNvPr>
          <p:cNvGrpSpPr>
            <a:grpSpLocks noChangeAspect="1"/>
          </p:cNvGrpSpPr>
          <p:nvPr/>
        </p:nvGrpSpPr>
        <p:grpSpPr bwMode="auto">
          <a:xfrm>
            <a:off x="2266950" y="6381750"/>
            <a:ext cx="161925" cy="273050"/>
            <a:chOff x="1272" y="1344"/>
            <a:chExt cx="288" cy="488"/>
          </a:xfrm>
        </p:grpSpPr>
        <p:sp>
          <p:nvSpPr>
            <p:cNvPr id="1754162" name="Oval 50">
              <a:extLst>
                <a:ext uri="{FF2B5EF4-FFF2-40B4-BE49-F238E27FC236}">
                  <a16:creationId xmlns:a16="http://schemas.microsoft.com/office/drawing/2014/main" id="{3D355D6E-518E-319B-B1AA-A6095D13EC09}"/>
                </a:ext>
              </a:extLst>
            </p:cNvPr>
            <p:cNvSpPr>
              <a:spLocks noChangeAspect="1" noChangeArrowheads="1"/>
            </p:cNvSpPr>
            <p:nvPr/>
          </p:nvSpPr>
          <p:spPr bwMode="auto">
            <a:xfrm>
              <a:off x="1296" y="1344"/>
              <a:ext cx="240" cy="240"/>
            </a:xfrm>
            <a:prstGeom prst="ellipse">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sp>
          <p:nvSpPr>
            <p:cNvPr id="1754163" name="AutoShape 51">
              <a:extLst>
                <a:ext uri="{FF2B5EF4-FFF2-40B4-BE49-F238E27FC236}">
                  <a16:creationId xmlns:a16="http://schemas.microsoft.com/office/drawing/2014/main" id="{32AD1FC8-88CB-9BF2-E695-1A68A38EC465}"/>
                </a:ext>
              </a:extLst>
            </p:cNvPr>
            <p:cNvSpPr>
              <a:spLocks noChangeAspect="1" noChangeArrowheads="1"/>
            </p:cNvSpPr>
            <p:nvPr/>
          </p:nvSpPr>
          <p:spPr bwMode="auto">
            <a:xfrm flipV="1">
              <a:off x="1272" y="1544"/>
              <a:ext cx="288" cy="2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grpSp>
      <p:grpSp>
        <p:nvGrpSpPr>
          <p:cNvPr id="1754164" name="Group 52">
            <a:extLst>
              <a:ext uri="{FF2B5EF4-FFF2-40B4-BE49-F238E27FC236}">
                <a16:creationId xmlns:a16="http://schemas.microsoft.com/office/drawing/2014/main" id="{35A4158D-3891-2BFB-AFCE-ED983868AD11}"/>
              </a:ext>
            </a:extLst>
          </p:cNvPr>
          <p:cNvGrpSpPr>
            <a:grpSpLocks noChangeAspect="1"/>
          </p:cNvGrpSpPr>
          <p:nvPr/>
        </p:nvGrpSpPr>
        <p:grpSpPr bwMode="auto">
          <a:xfrm>
            <a:off x="2168525" y="6950075"/>
            <a:ext cx="160338" cy="273050"/>
            <a:chOff x="1272" y="1344"/>
            <a:chExt cx="288" cy="488"/>
          </a:xfrm>
        </p:grpSpPr>
        <p:sp>
          <p:nvSpPr>
            <p:cNvPr id="1754165" name="Oval 53">
              <a:extLst>
                <a:ext uri="{FF2B5EF4-FFF2-40B4-BE49-F238E27FC236}">
                  <a16:creationId xmlns:a16="http://schemas.microsoft.com/office/drawing/2014/main" id="{0E19FE4D-A54B-9F65-F907-BA52C0A30390}"/>
                </a:ext>
              </a:extLst>
            </p:cNvPr>
            <p:cNvSpPr>
              <a:spLocks noChangeAspect="1" noChangeArrowheads="1"/>
            </p:cNvSpPr>
            <p:nvPr/>
          </p:nvSpPr>
          <p:spPr bwMode="auto">
            <a:xfrm>
              <a:off x="1296" y="1344"/>
              <a:ext cx="240" cy="240"/>
            </a:xfrm>
            <a:prstGeom prst="ellipse">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sp>
          <p:nvSpPr>
            <p:cNvPr id="1754166" name="AutoShape 54">
              <a:extLst>
                <a:ext uri="{FF2B5EF4-FFF2-40B4-BE49-F238E27FC236}">
                  <a16:creationId xmlns:a16="http://schemas.microsoft.com/office/drawing/2014/main" id="{599610C4-4891-958A-3209-1F225BF84C47}"/>
                </a:ext>
              </a:extLst>
            </p:cNvPr>
            <p:cNvSpPr>
              <a:spLocks noChangeAspect="1" noChangeArrowheads="1"/>
            </p:cNvSpPr>
            <p:nvPr/>
          </p:nvSpPr>
          <p:spPr bwMode="auto">
            <a:xfrm flipV="1">
              <a:off x="1272" y="1544"/>
              <a:ext cx="288" cy="2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grpSp>
      <p:grpSp>
        <p:nvGrpSpPr>
          <p:cNvPr id="1754167" name="Group 55">
            <a:extLst>
              <a:ext uri="{FF2B5EF4-FFF2-40B4-BE49-F238E27FC236}">
                <a16:creationId xmlns:a16="http://schemas.microsoft.com/office/drawing/2014/main" id="{4C365DDF-9ED9-5CC4-E7EF-5E0DB35E1CE5}"/>
              </a:ext>
            </a:extLst>
          </p:cNvPr>
          <p:cNvGrpSpPr>
            <a:grpSpLocks noChangeAspect="1"/>
          </p:cNvGrpSpPr>
          <p:nvPr/>
        </p:nvGrpSpPr>
        <p:grpSpPr bwMode="auto">
          <a:xfrm>
            <a:off x="3357563" y="6926263"/>
            <a:ext cx="161925" cy="273050"/>
            <a:chOff x="1272" y="1344"/>
            <a:chExt cx="288" cy="488"/>
          </a:xfrm>
        </p:grpSpPr>
        <p:sp>
          <p:nvSpPr>
            <p:cNvPr id="1754168" name="Oval 56">
              <a:extLst>
                <a:ext uri="{FF2B5EF4-FFF2-40B4-BE49-F238E27FC236}">
                  <a16:creationId xmlns:a16="http://schemas.microsoft.com/office/drawing/2014/main" id="{90F86F63-7689-126A-9878-B03E485E8D09}"/>
                </a:ext>
              </a:extLst>
            </p:cNvPr>
            <p:cNvSpPr>
              <a:spLocks noChangeAspect="1" noChangeArrowheads="1"/>
            </p:cNvSpPr>
            <p:nvPr/>
          </p:nvSpPr>
          <p:spPr bwMode="auto">
            <a:xfrm>
              <a:off x="1296" y="1344"/>
              <a:ext cx="240" cy="240"/>
            </a:xfrm>
            <a:prstGeom prst="ellipse">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sp>
          <p:nvSpPr>
            <p:cNvPr id="1754169" name="AutoShape 57">
              <a:extLst>
                <a:ext uri="{FF2B5EF4-FFF2-40B4-BE49-F238E27FC236}">
                  <a16:creationId xmlns:a16="http://schemas.microsoft.com/office/drawing/2014/main" id="{B8C5A7D2-BE76-23DA-FB1A-1508682E5D0F}"/>
                </a:ext>
              </a:extLst>
            </p:cNvPr>
            <p:cNvSpPr>
              <a:spLocks noChangeAspect="1" noChangeArrowheads="1"/>
            </p:cNvSpPr>
            <p:nvPr/>
          </p:nvSpPr>
          <p:spPr bwMode="auto">
            <a:xfrm flipV="1">
              <a:off x="1272" y="1544"/>
              <a:ext cx="288" cy="2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grpSp>
      <p:grpSp>
        <p:nvGrpSpPr>
          <p:cNvPr id="1754170" name="Group 58">
            <a:extLst>
              <a:ext uri="{FF2B5EF4-FFF2-40B4-BE49-F238E27FC236}">
                <a16:creationId xmlns:a16="http://schemas.microsoft.com/office/drawing/2014/main" id="{5380ED61-D78E-DF90-C1A5-B652E4F9A467}"/>
              </a:ext>
            </a:extLst>
          </p:cNvPr>
          <p:cNvGrpSpPr>
            <a:grpSpLocks noChangeAspect="1"/>
          </p:cNvGrpSpPr>
          <p:nvPr/>
        </p:nvGrpSpPr>
        <p:grpSpPr bwMode="auto">
          <a:xfrm>
            <a:off x="4337050" y="6381750"/>
            <a:ext cx="160338" cy="273050"/>
            <a:chOff x="1272" y="1344"/>
            <a:chExt cx="288" cy="488"/>
          </a:xfrm>
        </p:grpSpPr>
        <p:sp>
          <p:nvSpPr>
            <p:cNvPr id="1754171" name="Oval 59">
              <a:extLst>
                <a:ext uri="{FF2B5EF4-FFF2-40B4-BE49-F238E27FC236}">
                  <a16:creationId xmlns:a16="http://schemas.microsoft.com/office/drawing/2014/main" id="{730DDFFB-C73D-8197-6355-8055E27088B2}"/>
                </a:ext>
              </a:extLst>
            </p:cNvPr>
            <p:cNvSpPr>
              <a:spLocks noChangeAspect="1" noChangeArrowheads="1"/>
            </p:cNvSpPr>
            <p:nvPr/>
          </p:nvSpPr>
          <p:spPr bwMode="auto">
            <a:xfrm>
              <a:off x="1296" y="1344"/>
              <a:ext cx="240" cy="240"/>
            </a:xfrm>
            <a:prstGeom prst="ellipse">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sp>
          <p:nvSpPr>
            <p:cNvPr id="1754172" name="AutoShape 60">
              <a:extLst>
                <a:ext uri="{FF2B5EF4-FFF2-40B4-BE49-F238E27FC236}">
                  <a16:creationId xmlns:a16="http://schemas.microsoft.com/office/drawing/2014/main" id="{871B1E3B-FC3B-2011-07B1-DA237A649E3F}"/>
                </a:ext>
              </a:extLst>
            </p:cNvPr>
            <p:cNvSpPr>
              <a:spLocks noChangeAspect="1" noChangeArrowheads="1"/>
            </p:cNvSpPr>
            <p:nvPr/>
          </p:nvSpPr>
          <p:spPr bwMode="auto">
            <a:xfrm flipV="1">
              <a:off x="1272" y="1544"/>
              <a:ext cx="288" cy="2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grpSp>
      <p:grpSp>
        <p:nvGrpSpPr>
          <p:cNvPr id="1754173" name="Group 61">
            <a:extLst>
              <a:ext uri="{FF2B5EF4-FFF2-40B4-BE49-F238E27FC236}">
                <a16:creationId xmlns:a16="http://schemas.microsoft.com/office/drawing/2014/main" id="{F5342DDF-592C-A394-FF82-4B9924E1F6A4}"/>
              </a:ext>
            </a:extLst>
          </p:cNvPr>
          <p:cNvGrpSpPr>
            <a:grpSpLocks noChangeAspect="1"/>
          </p:cNvGrpSpPr>
          <p:nvPr/>
        </p:nvGrpSpPr>
        <p:grpSpPr bwMode="auto">
          <a:xfrm>
            <a:off x="4533900" y="6702425"/>
            <a:ext cx="161925" cy="273050"/>
            <a:chOff x="1272" y="1344"/>
            <a:chExt cx="288" cy="488"/>
          </a:xfrm>
        </p:grpSpPr>
        <p:sp>
          <p:nvSpPr>
            <p:cNvPr id="1754174" name="Oval 62">
              <a:extLst>
                <a:ext uri="{FF2B5EF4-FFF2-40B4-BE49-F238E27FC236}">
                  <a16:creationId xmlns:a16="http://schemas.microsoft.com/office/drawing/2014/main" id="{77BD165B-38C4-219B-C255-AB58E8CF090D}"/>
                </a:ext>
              </a:extLst>
            </p:cNvPr>
            <p:cNvSpPr>
              <a:spLocks noChangeAspect="1" noChangeArrowheads="1"/>
            </p:cNvSpPr>
            <p:nvPr/>
          </p:nvSpPr>
          <p:spPr bwMode="auto">
            <a:xfrm>
              <a:off x="1296" y="1344"/>
              <a:ext cx="240" cy="240"/>
            </a:xfrm>
            <a:prstGeom prst="ellipse">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sp>
          <p:nvSpPr>
            <p:cNvPr id="1754175" name="AutoShape 63">
              <a:extLst>
                <a:ext uri="{FF2B5EF4-FFF2-40B4-BE49-F238E27FC236}">
                  <a16:creationId xmlns:a16="http://schemas.microsoft.com/office/drawing/2014/main" id="{05DE3C74-275D-3B95-55E0-22C13ED1E0EA}"/>
                </a:ext>
              </a:extLst>
            </p:cNvPr>
            <p:cNvSpPr>
              <a:spLocks noChangeAspect="1" noChangeArrowheads="1"/>
            </p:cNvSpPr>
            <p:nvPr/>
          </p:nvSpPr>
          <p:spPr bwMode="auto">
            <a:xfrm flipV="1">
              <a:off x="1272" y="1544"/>
              <a:ext cx="288" cy="2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grpSp>
      <p:sp>
        <p:nvSpPr>
          <p:cNvPr id="1754177" name="AutoShape 65">
            <a:extLst>
              <a:ext uri="{FF2B5EF4-FFF2-40B4-BE49-F238E27FC236}">
                <a16:creationId xmlns:a16="http://schemas.microsoft.com/office/drawing/2014/main" id="{BD61EA10-601C-777F-CF98-07CABC81A2FF}"/>
              </a:ext>
            </a:extLst>
          </p:cNvPr>
          <p:cNvSpPr>
            <a:spLocks noChangeArrowheads="1"/>
          </p:cNvSpPr>
          <p:nvPr/>
        </p:nvSpPr>
        <p:spPr bwMode="auto">
          <a:xfrm rot="-5426795">
            <a:off x="2362200" y="8382000"/>
            <a:ext cx="762000" cy="152400"/>
          </a:xfrm>
          <a:prstGeom prst="triangle">
            <a:avLst>
              <a:gd name="adj" fmla="val 50000"/>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endParaRPr lang="ja-JP" altLang="en-US"/>
          </a:p>
        </p:txBody>
      </p:sp>
      <p:sp>
        <p:nvSpPr>
          <p:cNvPr id="1754145" name="AutoShape 33">
            <a:extLst>
              <a:ext uri="{FF2B5EF4-FFF2-40B4-BE49-F238E27FC236}">
                <a16:creationId xmlns:a16="http://schemas.microsoft.com/office/drawing/2014/main" id="{803C0888-F7CF-AFA3-11F1-975342D571A8}"/>
              </a:ext>
            </a:extLst>
          </p:cNvPr>
          <p:cNvSpPr>
            <a:spLocks noChangeAspect="1" noChangeArrowheads="1"/>
          </p:cNvSpPr>
          <p:nvPr/>
        </p:nvSpPr>
        <p:spPr bwMode="auto">
          <a:xfrm>
            <a:off x="3048000" y="8289925"/>
            <a:ext cx="1066800" cy="396875"/>
          </a:xfrm>
          <a:prstGeom prst="roundRect">
            <a:avLst>
              <a:gd name="adj" fmla="val 16667"/>
            </a:avLst>
          </a:prstGeom>
          <a:noFill/>
          <a:ln w="9525">
            <a:solidFill>
              <a:schemeClr val="tx1"/>
            </a:solidFill>
            <a:round/>
            <a:headEnd type="none" w="sm" len="sm"/>
            <a:tailEnd type="none" w="sm" len="sm"/>
          </a:ln>
          <a:effectLst/>
          <a:extLst>
            <a:ext uri="{909E8E84-426E-40DD-AFC4-6F175D3DCCD1}">
              <a14:hiddenFill xmlns:a14="http://schemas.microsoft.com/office/drawing/2010/main">
                <a:gradFill rotWithShape="0">
                  <a:gsLst>
                    <a:gs pos="0">
                      <a:srgbClr val="FF5050"/>
                    </a:gs>
                    <a:gs pos="50000">
                      <a:srgbClr val="FF5050">
                        <a:gamma/>
                        <a:tint val="0"/>
                        <a:invGamma/>
                      </a:srgbClr>
                    </a:gs>
                    <a:gs pos="100000">
                      <a:srgbClr val="FF5050"/>
                    </a:gs>
                  </a:gsLst>
                  <a:lin ang="5400000" scaled="1"/>
                </a:gra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r>
              <a:rPr lang="ja-JP" altLang="en-US" sz="1100" b="1">
                <a:solidFill>
                  <a:schemeClr val="tx2"/>
                </a:solidFill>
                <a:latin typeface="Times New Roman" panose="02020603050405020304" pitchFamily="18" charset="0"/>
              </a:rPr>
              <a:t>中小企業</a:t>
            </a:r>
          </a:p>
        </p:txBody>
      </p:sp>
      <p:sp>
        <p:nvSpPr>
          <p:cNvPr id="1754178" name="AutoShape 66">
            <a:extLst>
              <a:ext uri="{FF2B5EF4-FFF2-40B4-BE49-F238E27FC236}">
                <a16:creationId xmlns:a16="http://schemas.microsoft.com/office/drawing/2014/main" id="{662EA933-DD39-F08B-5819-9FE413CC7B68}"/>
              </a:ext>
            </a:extLst>
          </p:cNvPr>
          <p:cNvSpPr>
            <a:spLocks noChangeArrowheads="1"/>
          </p:cNvSpPr>
          <p:nvPr/>
        </p:nvSpPr>
        <p:spPr bwMode="auto">
          <a:xfrm rot="5426795" flipH="1">
            <a:off x="4038600" y="8382000"/>
            <a:ext cx="762000" cy="152400"/>
          </a:xfrm>
          <a:prstGeom prst="triangle">
            <a:avLst>
              <a:gd name="adj" fmla="val 50000"/>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endParaRPr lang="ja-JP"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5139" name="Rectangle 3">
            <a:extLst>
              <a:ext uri="{FF2B5EF4-FFF2-40B4-BE49-F238E27FC236}">
                <a16:creationId xmlns:a16="http://schemas.microsoft.com/office/drawing/2014/main" id="{AA3CD3F3-920A-08B1-8019-AF8B9714E413}"/>
              </a:ext>
            </a:extLst>
          </p:cNvPr>
          <p:cNvSpPr>
            <a:spLocks noChangeArrowheads="1"/>
          </p:cNvSpPr>
          <p:nvPr/>
        </p:nvSpPr>
        <p:spPr bwMode="auto">
          <a:xfrm>
            <a:off x="914400" y="1600200"/>
            <a:ext cx="5410200" cy="37338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88900" algn="l">
              <a:defRPr kumimoji="1" sz="2400">
                <a:solidFill>
                  <a:schemeClr val="tx1"/>
                </a:solidFill>
                <a:latin typeface="Times New Roman" panose="02020603050405020304" pitchFamily="18" charset="0"/>
                <a:ea typeface="ＭＳ Ｐゴシック" panose="020B0600070205080204" pitchFamily="50" charset="-128"/>
              </a:defRPr>
            </a:lvl2pPr>
            <a:lvl3pPr marL="863600" indent="-101600"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kumimoji="0" lang="ja-JP" altLang="en-US" sz="1000">
                <a:latin typeface="ＭＳ Ｐ明朝" panose="02020600040205080304" pitchFamily="18" charset="-128"/>
                <a:ea typeface="ＭＳ Ｐ明朝" panose="02020600040205080304" pitchFamily="18" charset="-128"/>
              </a:rPr>
              <a:t>会計専門家については既存サービス枠内での供給過剰状態という現状がある一方で、会社の内部関係者（社外取締役・監査役・アドバイザリーボード）としての業務を担当することで企業のニーズに応えている専門家も存在し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平成</a:t>
            </a:r>
            <a:r>
              <a:rPr kumimoji="0" lang="en-US" altLang="ja-JP" sz="1000">
                <a:latin typeface="ＭＳ Ｐ明朝" panose="02020600040205080304" pitchFamily="18" charset="-128"/>
                <a:ea typeface="ＭＳ Ｐ明朝" panose="02020600040205080304" pitchFamily="18" charset="-128"/>
              </a:rPr>
              <a:t>14</a:t>
            </a:r>
            <a:r>
              <a:rPr kumimoji="0" lang="ja-JP" altLang="en-US" sz="1000">
                <a:latin typeface="ＭＳ Ｐ明朝" panose="02020600040205080304" pitchFamily="18" charset="-128"/>
                <a:ea typeface="ＭＳ Ｐ明朝" panose="02020600040205080304" pitchFamily="18" charset="-128"/>
              </a:rPr>
              <a:t>年改正商法により定義された「社外取締役」として、経営者・大学教授などの知識人や著名人・公認会計士・税理士等専門資格保有者といったメンバーが、企業内部の関係者として携わっています。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また、責任・権限が小さい顧問と責任・権限が大きい社外取締役の中間的な位置付けとして、商法には定義されてはいませんが、「アドバイザリーボード」が設置されることもあります。アドバイザリー　ボードのメンバーは、年数回のミーティングに参加して、広くグローバルな視点から、政治／社会／経済／先進企業の動向、およびアドバイザリースタッフ各々の専門分野における卓越した専門知識・見識など、多面的かつ客観的な意見を提示します。「アドバイザリーボード」についてのメリットとして、依頼する企業側としては社外取締役よりも報酬が安いことが、専門家側としては責任の度合が適度であることが挙げられます。また、企業側には「アドバイザリーボード」を通じて専門家のアドバイスを受けているということで、利害関係者に対して自社の信用力が向上するメリットもあり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更に今後は、会計専門家が「会計参与」として新しい形で企業のサポートを行うことも考えられます。</a:t>
            </a:r>
          </a:p>
          <a:p>
            <a:pPr>
              <a:lnSpc>
                <a:spcPct val="120000"/>
              </a:lnSpc>
            </a:pPr>
            <a:r>
              <a:rPr kumimoji="0" lang="ja-JP" altLang="en-US" sz="1000">
                <a:latin typeface="ＭＳ Ｐ明朝" panose="02020600040205080304" pitchFamily="18" charset="-128"/>
                <a:ea typeface="ＭＳ Ｐ明朝" panose="02020600040205080304" pitchFamily="18" charset="-128"/>
              </a:rPr>
              <a:t>いずれの形にせよ、会計専門家も自らのサービスの幅を広げて、企業に選ばれる財務管理サービス人材になることが求められます。</a:t>
            </a:r>
          </a:p>
        </p:txBody>
      </p:sp>
      <p:sp>
        <p:nvSpPr>
          <p:cNvPr id="1755140" name="Rectangle 4">
            <a:extLst>
              <a:ext uri="{FF2B5EF4-FFF2-40B4-BE49-F238E27FC236}">
                <a16:creationId xmlns:a16="http://schemas.microsoft.com/office/drawing/2014/main" id="{25A31980-E1AD-0886-65E9-773C274EFFDA}"/>
              </a:ext>
            </a:extLst>
          </p:cNvPr>
          <p:cNvSpPr>
            <a:spLocks noChangeArrowheads="1"/>
          </p:cNvSpPr>
          <p:nvPr/>
        </p:nvSpPr>
        <p:spPr bwMode="auto">
          <a:xfrm>
            <a:off x="533400" y="12954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会計専門家と企業とのかかわり方</a:t>
            </a:r>
          </a:p>
        </p:txBody>
      </p:sp>
      <p:sp>
        <p:nvSpPr>
          <p:cNvPr id="1755141" name="Line 5">
            <a:extLst>
              <a:ext uri="{FF2B5EF4-FFF2-40B4-BE49-F238E27FC236}">
                <a16:creationId xmlns:a16="http://schemas.microsoft.com/office/drawing/2014/main" id="{77A8E006-C7B3-CFCB-ADF1-480228878C97}"/>
              </a:ext>
            </a:extLst>
          </p:cNvPr>
          <p:cNvSpPr>
            <a:spLocks noChangeShapeType="1"/>
          </p:cNvSpPr>
          <p:nvPr/>
        </p:nvSpPr>
        <p:spPr bwMode="auto">
          <a:xfrm>
            <a:off x="533400" y="16002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55144" name="Rectangle 8">
            <a:extLst>
              <a:ext uri="{FF2B5EF4-FFF2-40B4-BE49-F238E27FC236}">
                <a16:creationId xmlns:a16="http://schemas.microsoft.com/office/drawing/2014/main" id="{6463277E-A3AE-E9FF-8BA7-14044A908ED5}"/>
              </a:ext>
            </a:extLst>
          </p:cNvPr>
          <p:cNvSpPr>
            <a:spLocks noChangeArrowheads="1"/>
          </p:cNvSpPr>
          <p:nvPr/>
        </p:nvSpPr>
        <p:spPr bwMode="auto">
          <a:xfrm>
            <a:off x="533400" y="55626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1-1-2</a:t>
            </a:r>
          </a:p>
        </p:txBody>
      </p:sp>
      <p:sp>
        <p:nvSpPr>
          <p:cNvPr id="1755145" name="Rectangle 9">
            <a:extLst>
              <a:ext uri="{FF2B5EF4-FFF2-40B4-BE49-F238E27FC236}">
                <a16:creationId xmlns:a16="http://schemas.microsoft.com/office/drawing/2014/main" id="{EB093C3F-DB13-084F-B0D5-7F0E6B418AEC}"/>
              </a:ext>
            </a:extLst>
          </p:cNvPr>
          <p:cNvSpPr>
            <a:spLocks noChangeArrowheads="1"/>
          </p:cNvSpPr>
          <p:nvPr/>
        </p:nvSpPr>
        <p:spPr bwMode="auto">
          <a:xfrm>
            <a:off x="1482725" y="55626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会計専門家と企業とのかかわり方</a:t>
            </a:r>
          </a:p>
        </p:txBody>
      </p:sp>
      <p:sp>
        <p:nvSpPr>
          <p:cNvPr id="1755146" name="AutoShape 10">
            <a:extLst>
              <a:ext uri="{FF2B5EF4-FFF2-40B4-BE49-F238E27FC236}">
                <a16:creationId xmlns:a16="http://schemas.microsoft.com/office/drawing/2014/main" id="{EE51BA77-04C1-4015-CE76-40A57A93B35C}"/>
              </a:ext>
            </a:extLst>
          </p:cNvPr>
          <p:cNvSpPr>
            <a:spLocks noChangeArrowheads="1"/>
          </p:cNvSpPr>
          <p:nvPr/>
        </p:nvSpPr>
        <p:spPr bwMode="auto">
          <a:xfrm>
            <a:off x="823913" y="6829425"/>
            <a:ext cx="1766887" cy="425450"/>
          </a:xfrm>
          <a:prstGeom prst="roundRect">
            <a:avLst>
              <a:gd name="adj" fmla="val 16667"/>
            </a:avLst>
          </a:prstGeom>
          <a:solidFill>
            <a:schemeClr val="hlink"/>
          </a:solidFill>
          <a:ln w="12700">
            <a:solidFill>
              <a:schemeClr val="bg2"/>
            </a:solidFill>
            <a:round/>
            <a:headEnd/>
            <a:tailEnd/>
          </a:ln>
          <a:effectLst>
            <a:outerShdw dist="35921" dir="2700000" algn="ctr" rotWithShape="0">
              <a:schemeClr val="bg2"/>
            </a:outerShdw>
          </a:effec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200" b="1">
                <a:latin typeface="ＭＳ Ｐゴシック" panose="020B0600070205080204" pitchFamily="50" charset="-128"/>
              </a:rPr>
              <a:t>監査役</a:t>
            </a:r>
          </a:p>
        </p:txBody>
      </p:sp>
      <p:sp>
        <p:nvSpPr>
          <p:cNvPr id="1755147" name="AutoShape 11">
            <a:extLst>
              <a:ext uri="{FF2B5EF4-FFF2-40B4-BE49-F238E27FC236}">
                <a16:creationId xmlns:a16="http://schemas.microsoft.com/office/drawing/2014/main" id="{6657EEF1-BC58-A62F-82DE-26A76AFC8E29}"/>
              </a:ext>
            </a:extLst>
          </p:cNvPr>
          <p:cNvSpPr>
            <a:spLocks noChangeArrowheads="1"/>
          </p:cNvSpPr>
          <p:nvPr/>
        </p:nvSpPr>
        <p:spPr bwMode="auto">
          <a:xfrm>
            <a:off x="823913" y="7415213"/>
            <a:ext cx="1766887" cy="427037"/>
          </a:xfrm>
          <a:prstGeom prst="roundRect">
            <a:avLst>
              <a:gd name="adj" fmla="val 16667"/>
            </a:avLst>
          </a:prstGeom>
          <a:solidFill>
            <a:schemeClr val="hlink"/>
          </a:solidFill>
          <a:ln w="12700">
            <a:solidFill>
              <a:schemeClr val="bg2"/>
            </a:solidFill>
            <a:round/>
            <a:headEnd/>
            <a:tailEnd/>
          </a:ln>
          <a:effectLst>
            <a:outerShdw dist="35921" dir="2700000" algn="ctr" rotWithShape="0">
              <a:schemeClr val="bg2"/>
            </a:outerShdw>
          </a:effec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200" b="1">
                <a:latin typeface="ＭＳ Ｐゴシック" panose="020B0600070205080204" pitchFamily="50" charset="-128"/>
              </a:rPr>
              <a:t>アドバイザリーボード</a:t>
            </a:r>
          </a:p>
        </p:txBody>
      </p:sp>
      <p:sp>
        <p:nvSpPr>
          <p:cNvPr id="1755148" name="Rectangle 12">
            <a:extLst>
              <a:ext uri="{FF2B5EF4-FFF2-40B4-BE49-F238E27FC236}">
                <a16:creationId xmlns:a16="http://schemas.microsoft.com/office/drawing/2014/main" id="{FFAA4886-A5BC-9518-7C94-A3E906AD5C93}"/>
              </a:ext>
            </a:extLst>
          </p:cNvPr>
          <p:cNvSpPr>
            <a:spLocks noChangeArrowheads="1"/>
          </p:cNvSpPr>
          <p:nvPr/>
        </p:nvSpPr>
        <p:spPr bwMode="ltGray">
          <a:xfrm>
            <a:off x="569913" y="5867400"/>
            <a:ext cx="2163762"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0" hangingPunct="0">
              <a:buFont typeface="Wingdings" panose="05000000000000000000" pitchFamily="2" charset="2"/>
              <a:buNone/>
            </a:pPr>
            <a:r>
              <a:rPr kumimoji="0" lang="ja-JP" altLang="en-US" sz="1100" u="sng">
                <a:latin typeface="Arial" panose="020B0604020202020204" pitchFamily="34" charset="0"/>
              </a:rPr>
              <a:t>企業の内部関係者としての係わり</a:t>
            </a:r>
          </a:p>
        </p:txBody>
      </p:sp>
      <p:sp>
        <p:nvSpPr>
          <p:cNvPr id="1755149" name="AutoShape 13">
            <a:extLst>
              <a:ext uri="{FF2B5EF4-FFF2-40B4-BE49-F238E27FC236}">
                <a16:creationId xmlns:a16="http://schemas.microsoft.com/office/drawing/2014/main" id="{021560CB-1B98-C8EB-40C6-38D1ACDC18CE}"/>
              </a:ext>
            </a:extLst>
          </p:cNvPr>
          <p:cNvSpPr>
            <a:spLocks noChangeArrowheads="1"/>
          </p:cNvSpPr>
          <p:nvPr/>
        </p:nvSpPr>
        <p:spPr bwMode="auto">
          <a:xfrm>
            <a:off x="4217988" y="6243638"/>
            <a:ext cx="2078037" cy="1598612"/>
          </a:xfrm>
          <a:prstGeom prst="roundRect">
            <a:avLst>
              <a:gd name="adj" fmla="val 16667"/>
            </a:avLst>
          </a:prstGeom>
          <a:solidFill>
            <a:schemeClr val="hlink"/>
          </a:solidFill>
          <a:ln w="12700">
            <a:solidFill>
              <a:schemeClr val="bg2"/>
            </a:solidFill>
            <a:round/>
            <a:headEnd/>
            <a:tailEnd/>
          </a:ln>
          <a:effectLst>
            <a:outerShdw dist="35921" dir="2700000" algn="ctr" rotWithShape="0">
              <a:schemeClr val="bg2"/>
            </a:outerShdw>
          </a:effec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200" b="1">
                <a:latin typeface="ＭＳ Ｐゴシック" panose="020B0600070205080204" pitchFamily="50" charset="-128"/>
              </a:rPr>
              <a:t>会計参与</a:t>
            </a:r>
            <a:endParaRPr lang="ja-JP" altLang="en-US" sz="1600" b="1">
              <a:latin typeface="ＭＳ Ｐゴシック" panose="020B0600070205080204" pitchFamily="50" charset="-128"/>
            </a:endParaRPr>
          </a:p>
          <a:p>
            <a:pPr algn="ctr"/>
            <a:endParaRPr lang="ja-JP" altLang="en-US" sz="1600" b="1">
              <a:latin typeface="ＭＳ Ｐゴシック" panose="020B0600070205080204" pitchFamily="50" charset="-128"/>
            </a:endParaRPr>
          </a:p>
          <a:p>
            <a:pPr algn="ctr"/>
            <a:endParaRPr lang="ja-JP" altLang="en-US" sz="1600" b="1">
              <a:latin typeface="ＭＳ Ｐゴシック" panose="020B0600070205080204" pitchFamily="50" charset="-128"/>
            </a:endParaRPr>
          </a:p>
          <a:p>
            <a:pPr algn="ctr"/>
            <a:endParaRPr lang="ja-JP" altLang="en-US" sz="1600" b="1">
              <a:latin typeface="ＭＳ Ｐゴシック" panose="020B0600070205080204" pitchFamily="50" charset="-128"/>
            </a:endParaRPr>
          </a:p>
          <a:p>
            <a:pPr algn="ctr"/>
            <a:endParaRPr lang="en-US" altLang="ja-JP" sz="1600" b="1">
              <a:latin typeface="ＭＳ Ｐゴシック" panose="020B0600070205080204" pitchFamily="50" charset="-128"/>
            </a:endParaRPr>
          </a:p>
        </p:txBody>
      </p:sp>
      <p:sp>
        <p:nvSpPr>
          <p:cNvPr id="1755150" name="Rectangle 14">
            <a:extLst>
              <a:ext uri="{FF2B5EF4-FFF2-40B4-BE49-F238E27FC236}">
                <a16:creationId xmlns:a16="http://schemas.microsoft.com/office/drawing/2014/main" id="{F4E73DE3-91D8-A5DF-271A-EBA2AEB9C457}"/>
              </a:ext>
            </a:extLst>
          </p:cNvPr>
          <p:cNvSpPr>
            <a:spLocks noChangeArrowheads="1"/>
          </p:cNvSpPr>
          <p:nvPr/>
        </p:nvSpPr>
        <p:spPr bwMode="ltGray">
          <a:xfrm>
            <a:off x="4270375" y="5783263"/>
            <a:ext cx="1989138" cy="428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0" hangingPunct="0">
              <a:buFont typeface="Wingdings" panose="05000000000000000000" pitchFamily="2" charset="2"/>
              <a:buNone/>
            </a:pPr>
            <a:r>
              <a:rPr kumimoji="0" lang="ja-JP" altLang="en-US" sz="1100" u="sng">
                <a:latin typeface="Arial" panose="020B0604020202020204" pitchFamily="34" charset="0"/>
              </a:rPr>
              <a:t>企業の内部者・外部者としての</a:t>
            </a:r>
          </a:p>
          <a:p>
            <a:pPr algn="ctr" eaLnBrk="0" hangingPunct="0">
              <a:buFont typeface="Wingdings" panose="05000000000000000000" pitchFamily="2" charset="2"/>
              <a:buNone/>
            </a:pPr>
            <a:r>
              <a:rPr kumimoji="0" lang="ja-JP" altLang="en-US" sz="1100" u="sng">
                <a:latin typeface="Arial" panose="020B0604020202020204" pitchFamily="34" charset="0"/>
              </a:rPr>
              <a:t>中間的な立場での係わり</a:t>
            </a:r>
          </a:p>
        </p:txBody>
      </p:sp>
      <p:sp>
        <p:nvSpPr>
          <p:cNvPr id="1755151" name="AutoShape 15">
            <a:extLst>
              <a:ext uri="{FF2B5EF4-FFF2-40B4-BE49-F238E27FC236}">
                <a16:creationId xmlns:a16="http://schemas.microsoft.com/office/drawing/2014/main" id="{5077E2CC-0330-2A2B-7D8E-22C3C9EC6801}"/>
              </a:ext>
            </a:extLst>
          </p:cNvPr>
          <p:cNvSpPr>
            <a:spLocks noChangeArrowheads="1"/>
          </p:cNvSpPr>
          <p:nvPr/>
        </p:nvSpPr>
        <p:spPr bwMode="auto">
          <a:xfrm>
            <a:off x="2938463" y="6243638"/>
            <a:ext cx="800100" cy="1598612"/>
          </a:xfrm>
          <a:prstGeom prst="roundRect">
            <a:avLst>
              <a:gd name="adj" fmla="val 16667"/>
            </a:avLst>
          </a:prstGeom>
          <a:solidFill>
            <a:schemeClr val="bg1"/>
          </a:solidFill>
          <a:ln w="12700">
            <a:solidFill>
              <a:schemeClr val="bg2"/>
            </a:solidFill>
            <a:round/>
            <a:headEnd/>
            <a:tailEnd/>
          </a:ln>
          <a:effectLst>
            <a:outerShdw dist="35921" dir="2700000" algn="ctr" rotWithShape="0">
              <a:schemeClr val="bg2"/>
            </a:outerShdw>
          </a:effec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200" b="1">
                <a:latin typeface="ＭＳ Ｐゴシック" panose="020B0600070205080204" pitchFamily="50" charset="-128"/>
              </a:rPr>
              <a:t>中小企業</a:t>
            </a:r>
          </a:p>
        </p:txBody>
      </p:sp>
      <p:sp>
        <p:nvSpPr>
          <p:cNvPr id="1755152" name="AutoShape 16">
            <a:extLst>
              <a:ext uri="{FF2B5EF4-FFF2-40B4-BE49-F238E27FC236}">
                <a16:creationId xmlns:a16="http://schemas.microsoft.com/office/drawing/2014/main" id="{801DDEED-26AC-515A-5666-8035C2F7E255}"/>
              </a:ext>
            </a:extLst>
          </p:cNvPr>
          <p:cNvSpPr>
            <a:spLocks noChangeArrowheads="1"/>
          </p:cNvSpPr>
          <p:nvPr/>
        </p:nvSpPr>
        <p:spPr bwMode="auto">
          <a:xfrm>
            <a:off x="823913" y="6243638"/>
            <a:ext cx="1766887" cy="425450"/>
          </a:xfrm>
          <a:prstGeom prst="roundRect">
            <a:avLst>
              <a:gd name="adj" fmla="val 16667"/>
            </a:avLst>
          </a:prstGeom>
          <a:solidFill>
            <a:schemeClr val="hlink"/>
          </a:solidFill>
          <a:ln w="12700">
            <a:solidFill>
              <a:schemeClr val="bg2"/>
            </a:solidFill>
            <a:round/>
            <a:headEnd/>
            <a:tailEnd/>
          </a:ln>
          <a:effectLst>
            <a:outerShdw dist="35921" dir="2700000" algn="ctr" rotWithShape="0">
              <a:schemeClr val="bg2"/>
            </a:outerShdw>
          </a:effec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200" b="1">
                <a:latin typeface="ＭＳ Ｐゴシック" panose="020B0600070205080204" pitchFamily="50" charset="-128"/>
              </a:rPr>
              <a:t>社外取締役</a:t>
            </a:r>
          </a:p>
        </p:txBody>
      </p:sp>
      <p:sp>
        <p:nvSpPr>
          <p:cNvPr id="1755153" name="AutoShape 17">
            <a:extLst>
              <a:ext uri="{FF2B5EF4-FFF2-40B4-BE49-F238E27FC236}">
                <a16:creationId xmlns:a16="http://schemas.microsoft.com/office/drawing/2014/main" id="{1AAA7E0B-7003-2A1A-2371-B79B6D4260BB}"/>
              </a:ext>
            </a:extLst>
          </p:cNvPr>
          <p:cNvSpPr>
            <a:spLocks noChangeArrowheads="1"/>
          </p:cNvSpPr>
          <p:nvPr/>
        </p:nvSpPr>
        <p:spPr bwMode="auto">
          <a:xfrm rot="5400000" flipH="1">
            <a:off x="2284413" y="7016750"/>
            <a:ext cx="1016000" cy="206375"/>
          </a:xfrm>
          <a:prstGeom prst="triangle">
            <a:avLst>
              <a:gd name="adj" fmla="val 50000"/>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55154" name="AutoShape 18">
            <a:extLst>
              <a:ext uri="{FF2B5EF4-FFF2-40B4-BE49-F238E27FC236}">
                <a16:creationId xmlns:a16="http://schemas.microsoft.com/office/drawing/2014/main" id="{B2DBADB4-7D7F-14EE-FCBA-CB1723432F53}"/>
              </a:ext>
            </a:extLst>
          </p:cNvPr>
          <p:cNvSpPr>
            <a:spLocks noChangeArrowheads="1"/>
          </p:cNvSpPr>
          <p:nvPr/>
        </p:nvSpPr>
        <p:spPr bwMode="auto">
          <a:xfrm rot="16200000" flipH="1">
            <a:off x="3497262" y="7016751"/>
            <a:ext cx="1014413" cy="214312"/>
          </a:xfrm>
          <a:prstGeom prst="triangle">
            <a:avLst>
              <a:gd name="adj" fmla="val 50000"/>
            </a:avLst>
          </a:prstGeom>
          <a:solidFill>
            <a:schemeClr val="accent2"/>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55155" name="Rectangle 19">
            <a:extLst>
              <a:ext uri="{FF2B5EF4-FFF2-40B4-BE49-F238E27FC236}">
                <a16:creationId xmlns:a16="http://schemas.microsoft.com/office/drawing/2014/main" id="{16786CDD-2484-6188-0681-F7120233289D}"/>
              </a:ext>
            </a:extLst>
          </p:cNvPr>
          <p:cNvSpPr>
            <a:spLocks noChangeArrowheads="1"/>
          </p:cNvSpPr>
          <p:nvPr/>
        </p:nvSpPr>
        <p:spPr bwMode="ltGray">
          <a:xfrm>
            <a:off x="519113" y="6243638"/>
            <a:ext cx="336550" cy="1071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spAutoFit/>
          </a:bodyP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0" hangingPunct="0">
              <a:buFont typeface="Wingdings" panose="05000000000000000000" pitchFamily="2" charset="2"/>
              <a:buNone/>
            </a:pPr>
            <a:r>
              <a:rPr kumimoji="0" lang="en-US" altLang="ja-JP" sz="1000">
                <a:latin typeface="Arial" panose="020B0604020202020204" pitchFamily="34" charset="0"/>
              </a:rPr>
              <a:t>〈</a:t>
            </a:r>
            <a:r>
              <a:rPr kumimoji="0" lang="ja-JP" altLang="en-US" sz="1000">
                <a:latin typeface="Arial" panose="020B0604020202020204" pitchFamily="34" charset="0"/>
              </a:rPr>
              <a:t>商法に基づく</a:t>
            </a:r>
            <a:r>
              <a:rPr kumimoji="0" lang="en-US" altLang="ja-JP" sz="1000">
                <a:latin typeface="Arial" panose="020B0604020202020204" pitchFamily="34" charset="0"/>
              </a:rPr>
              <a:t>〉</a:t>
            </a:r>
          </a:p>
        </p:txBody>
      </p:sp>
      <p:sp>
        <p:nvSpPr>
          <p:cNvPr id="1755156" name="Rectangle 20">
            <a:extLst>
              <a:ext uri="{FF2B5EF4-FFF2-40B4-BE49-F238E27FC236}">
                <a16:creationId xmlns:a16="http://schemas.microsoft.com/office/drawing/2014/main" id="{07D468D2-CFAF-8FB8-0A50-0BEE27BAF08A}"/>
              </a:ext>
            </a:extLst>
          </p:cNvPr>
          <p:cNvSpPr>
            <a:spLocks noChangeArrowheads="1"/>
          </p:cNvSpPr>
          <p:nvPr/>
        </p:nvSpPr>
        <p:spPr bwMode="auto">
          <a:xfrm>
            <a:off x="4324350" y="6713538"/>
            <a:ext cx="1971675" cy="9064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spcBef>
                <a:spcPct val="50000"/>
              </a:spcBef>
            </a:pPr>
            <a:r>
              <a:rPr lang="ja-JP" altLang="en-US" sz="900">
                <a:latin typeface="ＭＳ Ｐゴシック" panose="020B0600070205080204" pitchFamily="50" charset="-128"/>
              </a:rPr>
              <a:t>・法制審議会の会社法（現代化関係）部会にて会社の取締役・執行役と共同して、計算書類を作成することが認められる「会計参与」という新しい機関を会社に設置することを検討中</a:t>
            </a:r>
          </a:p>
          <a:p>
            <a:pPr>
              <a:spcBef>
                <a:spcPct val="50000"/>
              </a:spcBef>
            </a:pPr>
            <a:r>
              <a:rPr lang="ja-JP" altLang="en-US" sz="900">
                <a:latin typeface="ＭＳ Ｐゴシック" panose="020B0600070205080204" pitchFamily="50" charset="-128"/>
              </a:rPr>
              <a:t>・施行は平成１８年４月を予定</a:t>
            </a:r>
          </a:p>
        </p:txBody>
      </p:sp>
      <p:grpSp>
        <p:nvGrpSpPr>
          <p:cNvPr id="1755157" name="Group 21">
            <a:extLst>
              <a:ext uri="{FF2B5EF4-FFF2-40B4-BE49-F238E27FC236}">
                <a16:creationId xmlns:a16="http://schemas.microsoft.com/office/drawing/2014/main" id="{72E05978-4101-562E-ED3A-41B87E157889}"/>
              </a:ext>
            </a:extLst>
          </p:cNvPr>
          <p:cNvGrpSpPr>
            <a:grpSpLocks/>
          </p:cNvGrpSpPr>
          <p:nvPr/>
        </p:nvGrpSpPr>
        <p:grpSpPr bwMode="auto">
          <a:xfrm>
            <a:off x="2505075" y="8453438"/>
            <a:ext cx="173038" cy="295275"/>
            <a:chOff x="1272" y="1344"/>
            <a:chExt cx="288" cy="488"/>
          </a:xfrm>
        </p:grpSpPr>
        <p:sp>
          <p:nvSpPr>
            <p:cNvPr id="1755158" name="Oval 22">
              <a:extLst>
                <a:ext uri="{FF2B5EF4-FFF2-40B4-BE49-F238E27FC236}">
                  <a16:creationId xmlns:a16="http://schemas.microsoft.com/office/drawing/2014/main" id="{6EA78983-F8CD-578A-FDBF-AEEB7B66FB49}"/>
                </a:ext>
              </a:extLst>
            </p:cNvPr>
            <p:cNvSpPr>
              <a:spLocks noChangeArrowheads="1"/>
            </p:cNvSpPr>
            <p:nvPr/>
          </p:nvSpPr>
          <p:spPr bwMode="auto">
            <a:xfrm>
              <a:off x="1296" y="1344"/>
              <a:ext cx="240" cy="240"/>
            </a:xfrm>
            <a:prstGeom prst="ellipse">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sp>
          <p:nvSpPr>
            <p:cNvPr id="1755159" name="AutoShape 23">
              <a:extLst>
                <a:ext uri="{FF2B5EF4-FFF2-40B4-BE49-F238E27FC236}">
                  <a16:creationId xmlns:a16="http://schemas.microsoft.com/office/drawing/2014/main" id="{D63DC214-10BB-4D7E-0682-7CC0F5015436}"/>
                </a:ext>
              </a:extLst>
            </p:cNvPr>
            <p:cNvSpPr>
              <a:spLocks noChangeArrowheads="1"/>
            </p:cNvSpPr>
            <p:nvPr/>
          </p:nvSpPr>
          <p:spPr bwMode="auto">
            <a:xfrm flipV="1">
              <a:off x="1272" y="1544"/>
              <a:ext cx="288" cy="2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grpSp>
      <p:grpSp>
        <p:nvGrpSpPr>
          <p:cNvPr id="1755160" name="Group 24">
            <a:extLst>
              <a:ext uri="{FF2B5EF4-FFF2-40B4-BE49-F238E27FC236}">
                <a16:creationId xmlns:a16="http://schemas.microsoft.com/office/drawing/2014/main" id="{7104E710-E390-1AD2-598E-0B62702ABCE2}"/>
              </a:ext>
            </a:extLst>
          </p:cNvPr>
          <p:cNvGrpSpPr>
            <a:grpSpLocks/>
          </p:cNvGrpSpPr>
          <p:nvPr/>
        </p:nvGrpSpPr>
        <p:grpSpPr bwMode="auto">
          <a:xfrm>
            <a:off x="3305175" y="8453438"/>
            <a:ext cx="173038" cy="295275"/>
            <a:chOff x="1272" y="1344"/>
            <a:chExt cx="288" cy="488"/>
          </a:xfrm>
        </p:grpSpPr>
        <p:sp>
          <p:nvSpPr>
            <p:cNvPr id="1755161" name="Oval 25">
              <a:extLst>
                <a:ext uri="{FF2B5EF4-FFF2-40B4-BE49-F238E27FC236}">
                  <a16:creationId xmlns:a16="http://schemas.microsoft.com/office/drawing/2014/main" id="{14B0271C-5C8A-0067-A3B5-FA1258392C94}"/>
                </a:ext>
              </a:extLst>
            </p:cNvPr>
            <p:cNvSpPr>
              <a:spLocks noChangeArrowheads="1"/>
            </p:cNvSpPr>
            <p:nvPr/>
          </p:nvSpPr>
          <p:spPr bwMode="auto">
            <a:xfrm>
              <a:off x="1296" y="1344"/>
              <a:ext cx="240" cy="240"/>
            </a:xfrm>
            <a:prstGeom prst="ellipse">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sp>
          <p:nvSpPr>
            <p:cNvPr id="1755162" name="AutoShape 26">
              <a:extLst>
                <a:ext uri="{FF2B5EF4-FFF2-40B4-BE49-F238E27FC236}">
                  <a16:creationId xmlns:a16="http://schemas.microsoft.com/office/drawing/2014/main" id="{B73830F3-FC45-C896-3CAC-A1CBA8F053B1}"/>
                </a:ext>
              </a:extLst>
            </p:cNvPr>
            <p:cNvSpPr>
              <a:spLocks noChangeArrowheads="1"/>
            </p:cNvSpPr>
            <p:nvPr/>
          </p:nvSpPr>
          <p:spPr bwMode="auto">
            <a:xfrm flipV="1">
              <a:off x="1272" y="1544"/>
              <a:ext cx="288" cy="2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grpSp>
      <p:grpSp>
        <p:nvGrpSpPr>
          <p:cNvPr id="1755163" name="Group 27">
            <a:extLst>
              <a:ext uri="{FF2B5EF4-FFF2-40B4-BE49-F238E27FC236}">
                <a16:creationId xmlns:a16="http://schemas.microsoft.com/office/drawing/2014/main" id="{E112A1E8-4893-7950-2DBD-A78D7E0DF505}"/>
              </a:ext>
            </a:extLst>
          </p:cNvPr>
          <p:cNvGrpSpPr>
            <a:grpSpLocks/>
          </p:cNvGrpSpPr>
          <p:nvPr/>
        </p:nvGrpSpPr>
        <p:grpSpPr bwMode="auto">
          <a:xfrm>
            <a:off x="4103688" y="8453438"/>
            <a:ext cx="174625" cy="295275"/>
            <a:chOff x="1272" y="1344"/>
            <a:chExt cx="288" cy="488"/>
          </a:xfrm>
        </p:grpSpPr>
        <p:sp>
          <p:nvSpPr>
            <p:cNvPr id="1755164" name="Oval 28">
              <a:extLst>
                <a:ext uri="{FF2B5EF4-FFF2-40B4-BE49-F238E27FC236}">
                  <a16:creationId xmlns:a16="http://schemas.microsoft.com/office/drawing/2014/main" id="{B95DC4CB-773D-8BDE-3DAD-88B6704FD773}"/>
                </a:ext>
              </a:extLst>
            </p:cNvPr>
            <p:cNvSpPr>
              <a:spLocks noChangeArrowheads="1"/>
            </p:cNvSpPr>
            <p:nvPr/>
          </p:nvSpPr>
          <p:spPr bwMode="auto">
            <a:xfrm>
              <a:off x="1296" y="1344"/>
              <a:ext cx="240" cy="240"/>
            </a:xfrm>
            <a:prstGeom prst="ellipse">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sp>
          <p:nvSpPr>
            <p:cNvPr id="1755165" name="AutoShape 29">
              <a:extLst>
                <a:ext uri="{FF2B5EF4-FFF2-40B4-BE49-F238E27FC236}">
                  <a16:creationId xmlns:a16="http://schemas.microsoft.com/office/drawing/2014/main" id="{B5358BE6-A169-9C06-3DD4-1A388AB596A2}"/>
                </a:ext>
              </a:extLst>
            </p:cNvPr>
            <p:cNvSpPr>
              <a:spLocks noChangeArrowheads="1"/>
            </p:cNvSpPr>
            <p:nvPr/>
          </p:nvSpPr>
          <p:spPr bwMode="auto">
            <a:xfrm flipV="1">
              <a:off x="1272" y="1544"/>
              <a:ext cx="288" cy="2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ja-JP" altLang="en-US"/>
            </a:p>
          </p:txBody>
        </p:sp>
      </p:grpSp>
      <p:sp>
        <p:nvSpPr>
          <p:cNvPr id="1755166" name="Oval 30">
            <a:extLst>
              <a:ext uri="{FF2B5EF4-FFF2-40B4-BE49-F238E27FC236}">
                <a16:creationId xmlns:a16="http://schemas.microsoft.com/office/drawing/2014/main" id="{07DCC795-B791-A72E-EEA8-2A01574F50C8}"/>
              </a:ext>
            </a:extLst>
          </p:cNvPr>
          <p:cNvSpPr>
            <a:spLocks noChangeArrowheads="1"/>
          </p:cNvSpPr>
          <p:nvPr/>
        </p:nvSpPr>
        <p:spPr bwMode="auto">
          <a:xfrm>
            <a:off x="2298700" y="8801100"/>
            <a:ext cx="639763" cy="212725"/>
          </a:xfrm>
          <a:prstGeom prst="ellipse">
            <a:avLst/>
          </a:prstGeom>
          <a:solidFill>
            <a:schemeClr val="bg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r>
              <a:rPr lang="ja-JP" altLang="en-US" sz="1100" b="1">
                <a:solidFill>
                  <a:schemeClr val="tx2"/>
                </a:solidFill>
                <a:latin typeface="Times New Roman" panose="02020603050405020304" pitchFamily="18" charset="0"/>
              </a:rPr>
              <a:t>金融機関</a:t>
            </a:r>
          </a:p>
        </p:txBody>
      </p:sp>
      <p:sp>
        <p:nvSpPr>
          <p:cNvPr id="1755167" name="Oval 31">
            <a:extLst>
              <a:ext uri="{FF2B5EF4-FFF2-40B4-BE49-F238E27FC236}">
                <a16:creationId xmlns:a16="http://schemas.microsoft.com/office/drawing/2014/main" id="{EDD172A9-6824-D821-E518-324D9E9DC98A}"/>
              </a:ext>
            </a:extLst>
          </p:cNvPr>
          <p:cNvSpPr>
            <a:spLocks noChangeArrowheads="1"/>
          </p:cNvSpPr>
          <p:nvPr/>
        </p:nvSpPr>
        <p:spPr bwMode="auto">
          <a:xfrm>
            <a:off x="3098800" y="8801100"/>
            <a:ext cx="639763" cy="212725"/>
          </a:xfrm>
          <a:prstGeom prst="ellipse">
            <a:avLst/>
          </a:prstGeom>
          <a:solidFill>
            <a:schemeClr val="bg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r>
              <a:rPr lang="ja-JP" altLang="en-US" sz="1100" b="1">
                <a:solidFill>
                  <a:schemeClr val="tx2"/>
                </a:solidFill>
                <a:latin typeface="Times New Roman" panose="02020603050405020304" pitchFamily="18" charset="0"/>
              </a:rPr>
              <a:t>取引先</a:t>
            </a:r>
          </a:p>
        </p:txBody>
      </p:sp>
      <p:sp>
        <p:nvSpPr>
          <p:cNvPr id="1755168" name="Oval 32">
            <a:extLst>
              <a:ext uri="{FF2B5EF4-FFF2-40B4-BE49-F238E27FC236}">
                <a16:creationId xmlns:a16="http://schemas.microsoft.com/office/drawing/2014/main" id="{458F3673-EC27-9175-B51C-F8B5496212F1}"/>
              </a:ext>
            </a:extLst>
          </p:cNvPr>
          <p:cNvSpPr>
            <a:spLocks noChangeArrowheads="1"/>
          </p:cNvSpPr>
          <p:nvPr/>
        </p:nvSpPr>
        <p:spPr bwMode="auto">
          <a:xfrm>
            <a:off x="3897313" y="8801100"/>
            <a:ext cx="639762" cy="212725"/>
          </a:xfrm>
          <a:prstGeom prst="ellipse">
            <a:avLst/>
          </a:prstGeom>
          <a:solidFill>
            <a:schemeClr val="bg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r>
              <a:rPr lang="ja-JP" altLang="en-US" sz="1100" b="1">
                <a:solidFill>
                  <a:schemeClr val="tx2"/>
                </a:solidFill>
                <a:latin typeface="Times New Roman" panose="02020603050405020304" pitchFamily="18" charset="0"/>
              </a:rPr>
              <a:t>その他</a:t>
            </a:r>
          </a:p>
        </p:txBody>
      </p:sp>
      <p:sp>
        <p:nvSpPr>
          <p:cNvPr id="1755169" name="AutoShape 33">
            <a:extLst>
              <a:ext uri="{FF2B5EF4-FFF2-40B4-BE49-F238E27FC236}">
                <a16:creationId xmlns:a16="http://schemas.microsoft.com/office/drawing/2014/main" id="{EFDF3AD3-7FA9-B36D-2331-69CE0B03C5BF}"/>
              </a:ext>
            </a:extLst>
          </p:cNvPr>
          <p:cNvSpPr>
            <a:spLocks noChangeArrowheads="1"/>
          </p:cNvSpPr>
          <p:nvPr/>
        </p:nvSpPr>
        <p:spPr bwMode="auto">
          <a:xfrm>
            <a:off x="2139950" y="8267700"/>
            <a:ext cx="2503488" cy="800100"/>
          </a:xfrm>
          <a:prstGeom prst="roundRect">
            <a:avLst>
              <a:gd name="adj" fmla="val 16667"/>
            </a:avLst>
          </a:prstGeom>
          <a:noFill/>
          <a:ln w="6350">
            <a:solidFill>
              <a:schemeClr val="tx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755170" name="AutoShape 34">
            <a:extLst>
              <a:ext uri="{FF2B5EF4-FFF2-40B4-BE49-F238E27FC236}">
                <a16:creationId xmlns:a16="http://schemas.microsoft.com/office/drawing/2014/main" id="{CE34FC36-85DE-70C9-CB38-75A1B82F5196}"/>
              </a:ext>
            </a:extLst>
          </p:cNvPr>
          <p:cNvSpPr>
            <a:spLocks noChangeArrowheads="1"/>
          </p:cNvSpPr>
          <p:nvPr/>
        </p:nvSpPr>
        <p:spPr bwMode="auto">
          <a:xfrm>
            <a:off x="2800350" y="7894638"/>
            <a:ext cx="1150938" cy="336550"/>
          </a:xfrm>
          <a:prstGeom prst="downArrow">
            <a:avLst>
              <a:gd name="adj1" fmla="val 50000"/>
              <a:gd name="adj2" fmla="val 45417"/>
            </a:avLst>
          </a:prstGeom>
          <a:solidFill>
            <a:srgbClr val="000099"/>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nchor="ctr"/>
          <a:lstStyle/>
          <a:p>
            <a:endParaRPr lang="ja-JP" altLang="en-US"/>
          </a:p>
        </p:txBody>
      </p:sp>
      <p:sp>
        <p:nvSpPr>
          <p:cNvPr id="1755171" name="Text Box 35">
            <a:extLst>
              <a:ext uri="{FF2B5EF4-FFF2-40B4-BE49-F238E27FC236}">
                <a16:creationId xmlns:a16="http://schemas.microsoft.com/office/drawing/2014/main" id="{ABE29A95-2E2D-2E6C-6E43-7B7B7DD74B15}"/>
              </a:ext>
            </a:extLst>
          </p:cNvPr>
          <p:cNvSpPr txBox="1">
            <a:spLocks noChangeArrowheads="1"/>
          </p:cNvSpPr>
          <p:nvPr/>
        </p:nvSpPr>
        <p:spPr bwMode="auto">
          <a:xfrm>
            <a:off x="3087688" y="7907338"/>
            <a:ext cx="561975"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spAutoFit/>
          </a:bodyPr>
          <a:lstStyle/>
          <a:p>
            <a:pPr>
              <a:lnSpc>
                <a:spcPct val="90000"/>
              </a:lnSpc>
            </a:pPr>
            <a:r>
              <a:rPr lang="ja-JP" altLang="en-US" sz="1100" b="1">
                <a:solidFill>
                  <a:schemeClr val="bg1"/>
                </a:solidFill>
                <a:latin typeface="Times New Roman" panose="02020603050405020304" pitchFamily="18" charset="0"/>
              </a:rPr>
              <a:t>信用力</a:t>
            </a:r>
          </a:p>
          <a:p>
            <a:pPr>
              <a:lnSpc>
                <a:spcPct val="90000"/>
              </a:lnSpc>
            </a:pPr>
            <a:r>
              <a:rPr lang="ja-JP" altLang="en-US" sz="1100" b="1">
                <a:solidFill>
                  <a:schemeClr val="bg1"/>
                </a:solidFill>
                <a:latin typeface="Times New Roman" panose="02020603050405020304" pitchFamily="18" charset="0"/>
              </a:rPr>
              <a:t>向上</a:t>
            </a:r>
          </a:p>
        </p:txBody>
      </p:sp>
      <p:sp>
        <p:nvSpPr>
          <p:cNvPr id="1755172" name="Text Box 36">
            <a:extLst>
              <a:ext uri="{FF2B5EF4-FFF2-40B4-BE49-F238E27FC236}">
                <a16:creationId xmlns:a16="http://schemas.microsoft.com/office/drawing/2014/main" id="{60DC65C6-7F89-B426-4262-EFE81B975CC2}"/>
              </a:ext>
            </a:extLst>
          </p:cNvPr>
          <p:cNvSpPr txBox="1">
            <a:spLocks noChangeArrowheads="1"/>
          </p:cNvSpPr>
          <p:nvPr/>
        </p:nvSpPr>
        <p:spPr bwMode="auto">
          <a:xfrm>
            <a:off x="2927350" y="8256588"/>
            <a:ext cx="1214438" cy="1682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72000" tIns="0" rIns="72000" bIns="0">
            <a:spAutoFit/>
          </a:bodyPr>
          <a:lstStyle/>
          <a:p>
            <a:pPr algn="l"/>
            <a:r>
              <a:rPr lang="ja-JP" altLang="en-US" sz="1100" b="1">
                <a:solidFill>
                  <a:schemeClr val="tx2"/>
                </a:solidFill>
                <a:latin typeface="Times New Roman" panose="02020603050405020304" pitchFamily="18" charset="0"/>
              </a:rPr>
              <a:t>各種　利害関係者</a:t>
            </a:r>
          </a:p>
        </p:txBody>
      </p:sp>
      <p:grpSp>
        <p:nvGrpSpPr>
          <p:cNvPr id="1755174" name="Group 38">
            <a:extLst>
              <a:ext uri="{FF2B5EF4-FFF2-40B4-BE49-F238E27FC236}">
                <a16:creationId xmlns:a16="http://schemas.microsoft.com/office/drawing/2014/main" id="{F2788FB8-B1F5-31FD-612D-7E7882AC4890}"/>
              </a:ext>
            </a:extLst>
          </p:cNvPr>
          <p:cNvGrpSpPr>
            <a:grpSpLocks/>
          </p:cNvGrpSpPr>
          <p:nvPr/>
        </p:nvGrpSpPr>
        <p:grpSpPr bwMode="auto">
          <a:xfrm>
            <a:off x="3708400" y="0"/>
            <a:ext cx="3124200" cy="228600"/>
            <a:chOff x="2928" y="-48"/>
            <a:chExt cx="1392" cy="192"/>
          </a:xfrm>
        </p:grpSpPr>
        <p:sp>
          <p:nvSpPr>
            <p:cNvPr id="1755175" name="Line 39">
              <a:extLst>
                <a:ext uri="{FF2B5EF4-FFF2-40B4-BE49-F238E27FC236}">
                  <a16:creationId xmlns:a16="http://schemas.microsoft.com/office/drawing/2014/main" id="{9E615BB7-4A85-86E3-C463-74BB7D82D4F9}"/>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55176" name="Rectangle 40">
              <a:extLst>
                <a:ext uri="{FF2B5EF4-FFF2-40B4-BE49-F238E27FC236}">
                  <a16:creationId xmlns:a16="http://schemas.microsoft.com/office/drawing/2014/main" id="{74C02163-2D2E-ACC5-5855-41E92E10A1D0}"/>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Arial" panose="020B0604020202020204" pitchFamily="34" charset="0"/>
                </a:rPr>
                <a:t>Ⅰ</a:t>
              </a:r>
              <a:r>
                <a:rPr lang="ja-JP" altLang="en-US" sz="1000">
                  <a:latin typeface="ＭＳ Ｐゴシック" panose="020B0600070205080204" pitchFamily="50" charset="-128"/>
                </a:rPr>
                <a:t>　　財務管理サービス人材による経営助言へのニーズ</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6165" name="Rectangle 5">
            <a:extLst>
              <a:ext uri="{FF2B5EF4-FFF2-40B4-BE49-F238E27FC236}">
                <a16:creationId xmlns:a16="http://schemas.microsoft.com/office/drawing/2014/main" id="{12FB69FD-6358-421E-72F4-F58658803251}"/>
              </a:ext>
            </a:extLst>
          </p:cNvPr>
          <p:cNvSpPr>
            <a:spLocks noChangeArrowheads="1"/>
          </p:cNvSpPr>
          <p:nvPr/>
        </p:nvSpPr>
        <p:spPr bwMode="auto">
          <a:xfrm>
            <a:off x="533400" y="64770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1-1-3</a:t>
            </a:r>
          </a:p>
        </p:txBody>
      </p:sp>
      <p:sp>
        <p:nvSpPr>
          <p:cNvPr id="1756166" name="Rectangle 6">
            <a:extLst>
              <a:ext uri="{FF2B5EF4-FFF2-40B4-BE49-F238E27FC236}">
                <a16:creationId xmlns:a16="http://schemas.microsoft.com/office/drawing/2014/main" id="{437354E1-2DDC-A1A3-79D0-3AC09B3B09D3}"/>
              </a:ext>
            </a:extLst>
          </p:cNvPr>
          <p:cNvSpPr>
            <a:spLocks noChangeArrowheads="1"/>
          </p:cNvSpPr>
          <p:nvPr/>
        </p:nvSpPr>
        <p:spPr bwMode="auto">
          <a:xfrm>
            <a:off x="1482725" y="64770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会計参与の職務と責任</a:t>
            </a:r>
          </a:p>
        </p:txBody>
      </p:sp>
      <p:sp>
        <p:nvSpPr>
          <p:cNvPr id="1756194" name="Rectangle 34">
            <a:extLst>
              <a:ext uri="{FF2B5EF4-FFF2-40B4-BE49-F238E27FC236}">
                <a16:creationId xmlns:a16="http://schemas.microsoft.com/office/drawing/2014/main" id="{BE7A1D41-771B-195D-CAE1-E537C9E9DDDA}"/>
              </a:ext>
            </a:extLst>
          </p:cNvPr>
          <p:cNvSpPr>
            <a:spLocks noChangeArrowheads="1"/>
          </p:cNvSpPr>
          <p:nvPr/>
        </p:nvSpPr>
        <p:spPr bwMode="auto">
          <a:xfrm>
            <a:off x="914400" y="1676400"/>
            <a:ext cx="5410200" cy="44196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88900" algn="l">
              <a:defRPr kumimoji="1" sz="2400">
                <a:solidFill>
                  <a:schemeClr val="tx1"/>
                </a:solidFill>
                <a:latin typeface="Times New Roman" panose="02020603050405020304" pitchFamily="18" charset="0"/>
                <a:ea typeface="ＭＳ Ｐゴシック" panose="020B0600070205080204" pitchFamily="50" charset="-128"/>
              </a:defRPr>
            </a:lvl2pPr>
            <a:lvl3pPr marL="863600" indent="-101600"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kumimoji="0" lang="ja-JP" altLang="en-US" sz="1000">
                <a:latin typeface="ＭＳ Ｐ明朝" panose="02020600040205080304" pitchFamily="18" charset="-128"/>
                <a:ea typeface="ＭＳ Ｐ明朝" panose="02020600040205080304" pitchFamily="18" charset="-128"/>
              </a:rPr>
              <a:t>法制審議会の会社法（現代化関係）部会において、取締役・執行役と共同して計算書類を作成することが認められる「会計参与」という新しい機関を会社に設置することが、平成１８年４月を施行予定として検討されてい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この資格は、監査法人を含む公認会計士と税理士法人を含む税理士が対象とされています。また、会計参与は株式会社またはその子会社の取締役・監査役・会計監査人または支配人その他の使用人を兼ねることができないとされ、趣旨としては会社の内部者とは異なる独立した立場にある第三者としての専門家が就任することとなっています。会計参与は株主総会で選任され、その任期・報酬等については取締役と同様の規律に従うものとされてい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こういった会計参与の登場背景には、</a:t>
            </a:r>
            <a:r>
              <a:rPr lang="ja-JP" altLang="en-US" sz="1000">
                <a:latin typeface="ＭＳ Ｐ明朝" panose="02020600040205080304" pitchFamily="18" charset="-128"/>
                <a:ea typeface="ＭＳ Ｐ明朝" panose="02020600040205080304" pitchFamily="18" charset="-128"/>
              </a:rPr>
              <a:t>会計専門家と中小企業との関わり方の議論があります。会計参与制度は株式会社の計算書類の正確さに対する信頼性を高めることを目的に、税理士／税理士法人または公認会計士／監査法人を有資格者として、全ての株式会社が定款にて任意に設置することができる制度として提案されました。現在、中小会社にとって過重な負担とならないかなど、引き続き検討が続いてい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現在構想されている会計参与の職務と責任（図表</a:t>
            </a:r>
            <a:r>
              <a:rPr lang="en-US" altLang="ja-JP" sz="1000">
                <a:latin typeface="ＭＳ Ｐ明朝" panose="02020600040205080304" pitchFamily="18" charset="-128"/>
                <a:ea typeface="ＭＳ Ｐ明朝" panose="02020600040205080304" pitchFamily="18" charset="-128"/>
              </a:rPr>
              <a:t>1-1-3</a:t>
            </a:r>
            <a:r>
              <a:rPr lang="ja-JP" altLang="en-US" sz="1000">
                <a:latin typeface="ＭＳ Ｐ明朝" panose="02020600040205080304" pitchFamily="18" charset="-128"/>
                <a:ea typeface="ＭＳ Ｐ明朝" panose="02020600040205080304" pitchFamily="18" charset="-128"/>
              </a:rPr>
              <a:t>を参照）を見ると、会計参与の設置ニーズが高いのは、会計監査人が設置されておらず、経理スタッフも余り充実していない中小企業が中心になると考えられます。会計専門家としては、信頼性のある決算書の作成ニーズに寄与でき、ビジネス機会でもあるため、近年の会計基準改正の動向等をよく理解して、専門知識の一層の習得を図って備えるべきと考えられます。</a:t>
            </a:r>
          </a:p>
        </p:txBody>
      </p:sp>
      <p:sp>
        <p:nvSpPr>
          <p:cNvPr id="1756228" name="Rectangle 68">
            <a:extLst>
              <a:ext uri="{FF2B5EF4-FFF2-40B4-BE49-F238E27FC236}">
                <a16:creationId xmlns:a16="http://schemas.microsoft.com/office/drawing/2014/main" id="{55E63A1E-D18C-5AEF-28E7-AC9EB4E70598}"/>
              </a:ext>
            </a:extLst>
          </p:cNvPr>
          <p:cNvSpPr>
            <a:spLocks noChangeArrowheads="1"/>
          </p:cNvSpPr>
          <p:nvPr/>
        </p:nvSpPr>
        <p:spPr bwMode="auto">
          <a:xfrm>
            <a:off x="838200" y="6969125"/>
            <a:ext cx="5486400" cy="1460500"/>
          </a:xfrm>
          <a:prstGeom prst="rect">
            <a:avLst/>
          </a:prstGeom>
          <a:solidFill>
            <a:schemeClr val="bg1"/>
          </a:solidFill>
          <a:ln w="6350">
            <a:solidFill>
              <a:schemeClr val="tx1"/>
            </a:solidFill>
            <a:miter lim="800000"/>
            <a:headEnd/>
            <a:tailEnd/>
          </a:ln>
          <a:effectLst>
            <a:outerShdw dist="35921" dir="2700000" algn="ctr" rotWithShape="0">
              <a:schemeClr val="bg2"/>
            </a:outerShdw>
          </a:effectLst>
        </p:spPr>
        <p:txBody>
          <a:bodyPr wrap="none" lIns="54000" tIns="46800" rIns="54000" bIns="46800" anchor="ctr"/>
          <a:lstStyle/>
          <a:p>
            <a:endParaRPr lang="ja-JP" altLang="en-US"/>
          </a:p>
        </p:txBody>
      </p:sp>
      <p:sp>
        <p:nvSpPr>
          <p:cNvPr id="1756229" name="Rectangle 69">
            <a:extLst>
              <a:ext uri="{FF2B5EF4-FFF2-40B4-BE49-F238E27FC236}">
                <a16:creationId xmlns:a16="http://schemas.microsoft.com/office/drawing/2014/main" id="{253BCD31-D02A-8E32-BA9E-40339DB1EB58}"/>
              </a:ext>
            </a:extLst>
          </p:cNvPr>
          <p:cNvSpPr>
            <a:spLocks noChangeAspect="1" noChangeArrowheads="1"/>
          </p:cNvSpPr>
          <p:nvPr/>
        </p:nvSpPr>
        <p:spPr bwMode="auto">
          <a:xfrm>
            <a:off x="914400" y="7091363"/>
            <a:ext cx="5322888" cy="1320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marL="187325" indent="-187325"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spcBef>
                <a:spcPct val="50000"/>
              </a:spcBef>
              <a:buFont typeface="Wingdings" panose="05000000000000000000" pitchFamily="2" charset="2"/>
              <a:buChar char="Ø"/>
            </a:pPr>
            <a:r>
              <a:rPr lang="ja-JP" altLang="en-US" sz="900">
                <a:latin typeface="ＭＳ Ｐゴシック" panose="020B0600070205080204" pitchFamily="50" charset="-128"/>
              </a:rPr>
              <a:t>会計参与は、取締役と共同して計算書類を作成するものとされている。</a:t>
            </a:r>
          </a:p>
          <a:p>
            <a:pPr>
              <a:spcBef>
                <a:spcPct val="50000"/>
              </a:spcBef>
              <a:buFont typeface="Wingdings" panose="05000000000000000000" pitchFamily="2" charset="2"/>
              <a:buChar char="Ø"/>
            </a:pPr>
            <a:r>
              <a:rPr lang="ja-JP" altLang="en-US" sz="900">
                <a:latin typeface="ＭＳ Ｐゴシック" panose="020B0600070205080204" pitchFamily="50" charset="-128"/>
              </a:rPr>
              <a:t>会計参与は株主総会において計算書類に関して株主が求めた事項について説明しなければならない。</a:t>
            </a:r>
          </a:p>
          <a:p>
            <a:pPr>
              <a:spcBef>
                <a:spcPct val="50000"/>
              </a:spcBef>
              <a:buFont typeface="Wingdings" panose="05000000000000000000" pitchFamily="2" charset="2"/>
              <a:buChar char="Ø"/>
            </a:pPr>
            <a:r>
              <a:rPr lang="ja-JP" altLang="en-US" sz="900">
                <a:latin typeface="ＭＳ Ｐゴシック" panose="020B0600070205080204" pitchFamily="50" charset="-128"/>
              </a:rPr>
              <a:t>会計参与は株式会社とは別に計算書類を５年間保存し、株主および債権者の閲覧・謄写の請求に応えなければならない。</a:t>
            </a:r>
          </a:p>
          <a:p>
            <a:pPr>
              <a:spcBef>
                <a:spcPct val="50000"/>
              </a:spcBef>
              <a:buFont typeface="Wingdings" panose="05000000000000000000" pitchFamily="2" charset="2"/>
              <a:buChar char="Ø"/>
            </a:pPr>
            <a:r>
              <a:rPr lang="ja-JP" altLang="en-US" sz="900">
                <a:latin typeface="ＭＳ Ｐゴシック" panose="020B0600070205080204" pitchFamily="50" charset="-128"/>
              </a:rPr>
              <a:t>会計参与は計算書類の作成等に必要な権限を有するものとされている。これについては、取締役や支配人などに対して会計に関する報告を求める権利や子会社に対しての調査権等が考えられる。</a:t>
            </a:r>
          </a:p>
          <a:p>
            <a:pPr>
              <a:spcBef>
                <a:spcPct val="50000"/>
              </a:spcBef>
              <a:buFont typeface="Wingdings" panose="05000000000000000000" pitchFamily="2" charset="2"/>
              <a:buChar char="Ø"/>
            </a:pPr>
            <a:r>
              <a:rPr lang="ja-JP" altLang="en-US" sz="900">
                <a:latin typeface="ＭＳ Ｐゴシック" panose="020B0600070205080204" pitchFamily="50" charset="-128"/>
              </a:rPr>
              <a:t>会計参与を設置した場合、設置の旨と会計参与の氏名／名称を登記事項とするとされている。</a:t>
            </a:r>
          </a:p>
        </p:txBody>
      </p:sp>
      <p:sp>
        <p:nvSpPr>
          <p:cNvPr id="1756230" name="AutoShape 70">
            <a:extLst>
              <a:ext uri="{FF2B5EF4-FFF2-40B4-BE49-F238E27FC236}">
                <a16:creationId xmlns:a16="http://schemas.microsoft.com/office/drawing/2014/main" id="{90D7D33B-2884-FFDF-9A9E-8E1751D61AF6}"/>
              </a:ext>
            </a:extLst>
          </p:cNvPr>
          <p:cNvSpPr>
            <a:spLocks noChangeAspect="1" noChangeArrowheads="1"/>
          </p:cNvSpPr>
          <p:nvPr/>
        </p:nvSpPr>
        <p:spPr bwMode="auto">
          <a:xfrm>
            <a:off x="533400" y="6819900"/>
            <a:ext cx="1139825" cy="247650"/>
          </a:xfrm>
          <a:prstGeom prst="roundRect">
            <a:avLst>
              <a:gd name="adj" fmla="val 16667"/>
            </a:avLst>
          </a:prstGeom>
          <a:solidFill>
            <a:schemeClr val="hlink"/>
          </a:solidFill>
          <a:ln w="6350">
            <a:solidFill>
              <a:schemeClr val="tx1"/>
            </a:solidFill>
            <a:round/>
            <a:headEnd/>
            <a:tailEnd/>
          </a:ln>
          <a:effectLst>
            <a:outerShdw dist="35921" dir="2700000" algn="ctr" rotWithShape="0">
              <a:schemeClr val="bg2"/>
            </a:outerShdw>
          </a:effectLst>
        </p:spPr>
        <p:txBody>
          <a:bodyPr wrap="none" lIns="54000" tIns="46800" rIns="54000" bIns="46800" anchor="ctr"/>
          <a:lstStyle/>
          <a:p>
            <a:pPr eaLnBrk="0" hangingPunct="0"/>
            <a:r>
              <a:rPr kumimoji="0" lang="ja-JP" altLang="en-US" sz="900">
                <a:latin typeface="Times New Roman" panose="02020603050405020304" pitchFamily="18" charset="0"/>
              </a:rPr>
              <a:t>職務等</a:t>
            </a:r>
          </a:p>
        </p:txBody>
      </p:sp>
      <p:sp>
        <p:nvSpPr>
          <p:cNvPr id="1756231" name="Rectangle 71">
            <a:extLst>
              <a:ext uri="{FF2B5EF4-FFF2-40B4-BE49-F238E27FC236}">
                <a16:creationId xmlns:a16="http://schemas.microsoft.com/office/drawing/2014/main" id="{A9ED6446-FBAB-7D20-455E-81FD59C389FF}"/>
              </a:ext>
            </a:extLst>
          </p:cNvPr>
          <p:cNvSpPr>
            <a:spLocks noChangeArrowheads="1"/>
          </p:cNvSpPr>
          <p:nvPr/>
        </p:nvSpPr>
        <p:spPr bwMode="auto">
          <a:xfrm>
            <a:off x="838200" y="8731250"/>
            <a:ext cx="5486400" cy="565150"/>
          </a:xfrm>
          <a:prstGeom prst="rect">
            <a:avLst/>
          </a:prstGeom>
          <a:solidFill>
            <a:schemeClr val="bg1"/>
          </a:solidFill>
          <a:ln w="6350">
            <a:solidFill>
              <a:schemeClr val="tx1"/>
            </a:solidFill>
            <a:miter lim="800000"/>
            <a:headEnd/>
            <a:tailEnd/>
          </a:ln>
          <a:effectLst>
            <a:outerShdw dist="35921" dir="2700000" algn="ctr" rotWithShape="0">
              <a:schemeClr val="bg2"/>
            </a:outerShdw>
          </a:effectLst>
        </p:spPr>
        <p:txBody>
          <a:bodyPr wrap="none" lIns="54000" tIns="46800" rIns="54000" bIns="46800" anchor="ctr"/>
          <a:lstStyle/>
          <a:p>
            <a:endParaRPr lang="ja-JP" altLang="en-US"/>
          </a:p>
        </p:txBody>
      </p:sp>
      <p:sp>
        <p:nvSpPr>
          <p:cNvPr id="1756232" name="Rectangle 72">
            <a:extLst>
              <a:ext uri="{FF2B5EF4-FFF2-40B4-BE49-F238E27FC236}">
                <a16:creationId xmlns:a16="http://schemas.microsoft.com/office/drawing/2014/main" id="{03113805-73C8-2B1C-FD95-4EE7DC2D4123}"/>
              </a:ext>
            </a:extLst>
          </p:cNvPr>
          <p:cNvSpPr>
            <a:spLocks noChangeAspect="1" noChangeArrowheads="1"/>
          </p:cNvSpPr>
          <p:nvPr/>
        </p:nvSpPr>
        <p:spPr bwMode="auto">
          <a:xfrm>
            <a:off x="914400" y="8867775"/>
            <a:ext cx="5322888"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marL="187325" indent="-187325"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spcBef>
                <a:spcPct val="50000"/>
              </a:spcBef>
              <a:buFont typeface="Wingdings" panose="05000000000000000000" pitchFamily="2" charset="2"/>
              <a:buChar char="Ø"/>
            </a:pPr>
            <a:r>
              <a:rPr lang="ja-JP" altLang="en-US" sz="900">
                <a:latin typeface="ＭＳ Ｐゴシック" panose="020B0600070205080204" pitchFamily="50" charset="-128"/>
              </a:rPr>
              <a:t>会計参与の会社または第三者に対する責任については、社外取締役と同様の規律を適用するものとされ、会社に対する責任については株主代表訴訟の対象とされる見込である。</a:t>
            </a:r>
          </a:p>
        </p:txBody>
      </p:sp>
      <p:sp>
        <p:nvSpPr>
          <p:cNvPr id="1756233" name="AutoShape 73">
            <a:extLst>
              <a:ext uri="{FF2B5EF4-FFF2-40B4-BE49-F238E27FC236}">
                <a16:creationId xmlns:a16="http://schemas.microsoft.com/office/drawing/2014/main" id="{81C3E0CD-2131-38C8-8E3A-034B5B51DC6F}"/>
              </a:ext>
            </a:extLst>
          </p:cNvPr>
          <p:cNvSpPr>
            <a:spLocks noChangeAspect="1" noChangeArrowheads="1"/>
          </p:cNvSpPr>
          <p:nvPr/>
        </p:nvSpPr>
        <p:spPr bwMode="auto">
          <a:xfrm>
            <a:off x="533400" y="8583613"/>
            <a:ext cx="1139825" cy="247650"/>
          </a:xfrm>
          <a:prstGeom prst="roundRect">
            <a:avLst>
              <a:gd name="adj" fmla="val 16667"/>
            </a:avLst>
          </a:prstGeom>
          <a:solidFill>
            <a:schemeClr val="hlink"/>
          </a:solidFill>
          <a:ln w="6350">
            <a:solidFill>
              <a:schemeClr val="tx1"/>
            </a:solidFill>
            <a:round/>
            <a:headEnd/>
            <a:tailEnd/>
          </a:ln>
          <a:effectLst>
            <a:outerShdw dist="35921" dir="2700000" algn="ctr" rotWithShape="0">
              <a:schemeClr val="bg2"/>
            </a:outerShdw>
          </a:effectLst>
        </p:spPr>
        <p:txBody>
          <a:bodyPr wrap="none" lIns="54000" tIns="46800" rIns="54000" bIns="46800" anchor="ctr"/>
          <a:lstStyle/>
          <a:p>
            <a:pPr eaLnBrk="0" hangingPunct="0"/>
            <a:r>
              <a:rPr kumimoji="0" lang="ja-JP" altLang="en-US" sz="900">
                <a:latin typeface="Times New Roman" panose="02020603050405020304" pitchFamily="18" charset="0"/>
              </a:rPr>
              <a:t>責任</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6402" name="Rectangle 2">
            <a:extLst>
              <a:ext uri="{FF2B5EF4-FFF2-40B4-BE49-F238E27FC236}">
                <a16:creationId xmlns:a16="http://schemas.microsoft.com/office/drawing/2014/main" id="{D18C7758-0808-36DC-7C7D-4EE8C38A131E}"/>
              </a:ext>
            </a:extLst>
          </p:cNvPr>
          <p:cNvSpPr>
            <a:spLocks noChangeArrowheads="1"/>
          </p:cNvSpPr>
          <p:nvPr/>
        </p:nvSpPr>
        <p:spPr bwMode="auto">
          <a:xfrm>
            <a:off x="533400" y="12954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各専門家の現状</a:t>
            </a:r>
          </a:p>
        </p:txBody>
      </p:sp>
      <p:sp>
        <p:nvSpPr>
          <p:cNvPr id="1766403" name="Line 3">
            <a:extLst>
              <a:ext uri="{FF2B5EF4-FFF2-40B4-BE49-F238E27FC236}">
                <a16:creationId xmlns:a16="http://schemas.microsoft.com/office/drawing/2014/main" id="{001D4D97-A741-D54B-3F36-46F96DF5C395}"/>
              </a:ext>
            </a:extLst>
          </p:cNvPr>
          <p:cNvSpPr>
            <a:spLocks noChangeShapeType="1"/>
          </p:cNvSpPr>
          <p:nvPr/>
        </p:nvSpPr>
        <p:spPr bwMode="auto">
          <a:xfrm>
            <a:off x="533400" y="16002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66404" name="Rectangle 4">
            <a:extLst>
              <a:ext uri="{FF2B5EF4-FFF2-40B4-BE49-F238E27FC236}">
                <a16:creationId xmlns:a16="http://schemas.microsoft.com/office/drawing/2014/main" id="{87719D54-55D7-DA67-23EE-D4996E67A6C1}"/>
              </a:ext>
            </a:extLst>
          </p:cNvPr>
          <p:cNvSpPr>
            <a:spLocks noChangeArrowheads="1"/>
          </p:cNvSpPr>
          <p:nvPr/>
        </p:nvSpPr>
        <p:spPr bwMode="auto">
          <a:xfrm>
            <a:off x="533400" y="34290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1-1-4</a:t>
            </a:r>
          </a:p>
        </p:txBody>
      </p:sp>
      <p:sp>
        <p:nvSpPr>
          <p:cNvPr id="1766405" name="Rectangle 5">
            <a:extLst>
              <a:ext uri="{FF2B5EF4-FFF2-40B4-BE49-F238E27FC236}">
                <a16:creationId xmlns:a16="http://schemas.microsoft.com/office/drawing/2014/main" id="{C33C6554-D94F-692A-C8EA-98406FC51769}"/>
              </a:ext>
            </a:extLst>
          </p:cNvPr>
          <p:cNvSpPr>
            <a:spLocks noChangeArrowheads="1"/>
          </p:cNvSpPr>
          <p:nvPr/>
        </p:nvSpPr>
        <p:spPr bwMode="auto">
          <a:xfrm>
            <a:off x="1482725" y="34290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各専門家の現状</a:t>
            </a:r>
          </a:p>
        </p:txBody>
      </p:sp>
      <p:sp>
        <p:nvSpPr>
          <p:cNvPr id="1766406" name="Rectangle 6">
            <a:extLst>
              <a:ext uri="{FF2B5EF4-FFF2-40B4-BE49-F238E27FC236}">
                <a16:creationId xmlns:a16="http://schemas.microsoft.com/office/drawing/2014/main" id="{9C286B91-CA9C-49C6-FB3F-B2648E412844}"/>
              </a:ext>
            </a:extLst>
          </p:cNvPr>
          <p:cNvSpPr>
            <a:spLocks noChangeArrowheads="1"/>
          </p:cNvSpPr>
          <p:nvPr/>
        </p:nvSpPr>
        <p:spPr bwMode="auto">
          <a:xfrm>
            <a:off x="914400" y="1600200"/>
            <a:ext cx="5410200" cy="1219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88900" algn="l">
              <a:defRPr kumimoji="1" sz="2400">
                <a:solidFill>
                  <a:schemeClr val="tx1"/>
                </a:solidFill>
                <a:latin typeface="Times New Roman" panose="02020603050405020304" pitchFamily="18" charset="0"/>
                <a:ea typeface="ＭＳ Ｐゴシック" panose="020B0600070205080204" pitchFamily="50" charset="-128"/>
              </a:defRPr>
            </a:lvl2pPr>
            <a:lvl3pPr marL="863600" indent="-101600"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kumimoji="0" lang="ja-JP" altLang="en-US" sz="1000">
                <a:latin typeface="ＭＳ Ｐ明朝" panose="02020600040205080304" pitchFamily="18" charset="-128"/>
                <a:ea typeface="ＭＳ Ｐ明朝" panose="02020600040205080304" pitchFamily="18" charset="-128"/>
              </a:rPr>
              <a:t>ここで財務管理サービス人材の候補となる主要な専門家についての状況を整理します（図表</a:t>
            </a:r>
            <a:r>
              <a:rPr kumimoji="0" lang="en-US" altLang="ja-JP" sz="1000">
                <a:latin typeface="ＭＳ Ｐ明朝" panose="02020600040205080304" pitchFamily="18" charset="-128"/>
                <a:ea typeface="ＭＳ Ｐ明朝" panose="02020600040205080304" pitchFamily="18" charset="-128"/>
              </a:rPr>
              <a:t>1-1-4</a:t>
            </a:r>
            <a:r>
              <a:rPr kumimoji="0" lang="ja-JP" altLang="en-US" sz="1000">
                <a:latin typeface="ＭＳ Ｐ明朝" panose="02020600040205080304" pitchFamily="18" charset="-128"/>
                <a:ea typeface="ＭＳ Ｐ明朝" panose="02020600040205080304" pitchFamily="18" charset="-128"/>
              </a:rPr>
              <a:t>を参照）。</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中小企業経営者にとって、財務管理サービスといっても誰に何を相談したらよいかは必ずしも明白ではありません。そのため、各専門家は自身のアドバイス上の強みを認識して、中小企業経営者に対して提供できるサービス内容を積極的に提示していくことが必要となります。</a:t>
            </a:r>
          </a:p>
        </p:txBody>
      </p:sp>
      <p:sp>
        <p:nvSpPr>
          <p:cNvPr id="1766414" name="Rectangle 14">
            <a:extLst>
              <a:ext uri="{FF2B5EF4-FFF2-40B4-BE49-F238E27FC236}">
                <a16:creationId xmlns:a16="http://schemas.microsoft.com/office/drawing/2014/main" id="{BE08FC35-E893-29C7-1F66-5F7A7BB90981}"/>
              </a:ext>
            </a:extLst>
          </p:cNvPr>
          <p:cNvSpPr>
            <a:spLocks noChangeAspect="1" noChangeArrowheads="1"/>
          </p:cNvSpPr>
          <p:nvPr/>
        </p:nvSpPr>
        <p:spPr bwMode="ltGray">
          <a:xfrm>
            <a:off x="1487488" y="4002088"/>
            <a:ext cx="2474912" cy="728662"/>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lIns="54000" rIns="54000" anchor="ctr"/>
          <a:lstStyle>
            <a:lvl1pPr marL="190500" indent="-889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0" hangingPunct="0">
              <a:buFont typeface="Wingdings" panose="05000000000000000000" pitchFamily="2" charset="2"/>
              <a:buChar char="Ø"/>
            </a:pPr>
            <a:r>
              <a:rPr kumimoji="0" lang="ja-JP" altLang="en-US" sz="900">
                <a:latin typeface="Arial" panose="020B0604020202020204" pitchFamily="34" charset="0"/>
              </a:rPr>
              <a:t>比較的大きな企業（大企業、中堅企業）との関係が強い</a:t>
            </a:r>
          </a:p>
          <a:p>
            <a:pPr eaLnBrk="0" hangingPunct="0">
              <a:buFont typeface="Wingdings" panose="05000000000000000000" pitchFamily="2" charset="2"/>
              <a:buChar char="Ø"/>
            </a:pPr>
            <a:r>
              <a:rPr kumimoji="0" lang="ja-JP" altLang="en-US" sz="900">
                <a:latin typeface="Arial" panose="020B0604020202020204" pitchFamily="34" charset="0"/>
              </a:rPr>
              <a:t>監査という独占業務あり</a:t>
            </a:r>
          </a:p>
        </p:txBody>
      </p:sp>
      <p:sp>
        <p:nvSpPr>
          <p:cNvPr id="1766415" name="AutoShape 15">
            <a:extLst>
              <a:ext uri="{FF2B5EF4-FFF2-40B4-BE49-F238E27FC236}">
                <a16:creationId xmlns:a16="http://schemas.microsoft.com/office/drawing/2014/main" id="{7DFAA245-806E-AA7A-1F17-178D86145E40}"/>
              </a:ext>
            </a:extLst>
          </p:cNvPr>
          <p:cNvSpPr>
            <a:spLocks noChangeAspect="1" noChangeArrowheads="1"/>
          </p:cNvSpPr>
          <p:nvPr/>
        </p:nvSpPr>
        <p:spPr bwMode="auto">
          <a:xfrm>
            <a:off x="1487488" y="3656013"/>
            <a:ext cx="2473325" cy="288925"/>
          </a:xfrm>
          <a:prstGeom prst="roundRect">
            <a:avLst>
              <a:gd name="adj" fmla="val 16667"/>
            </a:avLst>
          </a:prstGeom>
          <a:solidFill>
            <a:srgbClr val="DDDDDD"/>
          </a:solidFill>
          <a:ln w="6350">
            <a:solidFill>
              <a:srgbClr val="B2B2B2"/>
            </a:solidFill>
            <a:round/>
            <a:headEnd/>
            <a:tailEnd/>
          </a:ln>
          <a:effectLst>
            <a:outerShdw dist="35921" dir="2700000" algn="ctr" rotWithShape="0">
              <a:schemeClr val="bg2"/>
            </a:outerShdw>
          </a:effec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活かすべきバックグラウンド</a:t>
            </a:r>
          </a:p>
        </p:txBody>
      </p:sp>
      <p:sp>
        <p:nvSpPr>
          <p:cNvPr id="1766416" name="AutoShape 16">
            <a:extLst>
              <a:ext uri="{FF2B5EF4-FFF2-40B4-BE49-F238E27FC236}">
                <a16:creationId xmlns:a16="http://schemas.microsoft.com/office/drawing/2014/main" id="{51321657-E239-01FC-CA94-87E331A9BCB1}"/>
              </a:ext>
            </a:extLst>
          </p:cNvPr>
          <p:cNvSpPr>
            <a:spLocks noChangeAspect="1" noChangeArrowheads="1"/>
          </p:cNvSpPr>
          <p:nvPr/>
        </p:nvSpPr>
        <p:spPr bwMode="auto">
          <a:xfrm>
            <a:off x="844550" y="4002088"/>
            <a:ext cx="574675" cy="728662"/>
          </a:xfrm>
          <a:prstGeom prst="roundRect">
            <a:avLst>
              <a:gd name="adj" fmla="val 16667"/>
            </a:avLst>
          </a:prstGeom>
          <a:solidFill>
            <a:srgbClr val="DDDDDD"/>
          </a:solidFill>
          <a:ln w="6350">
            <a:solidFill>
              <a:srgbClr val="B2B2B2"/>
            </a:solidFill>
            <a:round/>
            <a:headEnd/>
            <a:tailEnd/>
          </a:ln>
          <a:effectLst>
            <a:outerShdw dist="35921" dir="2700000" algn="ctr" rotWithShape="0">
              <a:schemeClr val="bg2"/>
            </a:outerShdw>
          </a:effec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公認</a:t>
            </a:r>
          </a:p>
          <a:p>
            <a:pPr algn="ctr"/>
            <a:r>
              <a:rPr lang="ja-JP" altLang="en-US" sz="900">
                <a:latin typeface="ＭＳ Ｐゴシック" panose="020B0600070205080204" pitchFamily="50" charset="-128"/>
              </a:rPr>
              <a:t>会計士</a:t>
            </a:r>
          </a:p>
        </p:txBody>
      </p:sp>
      <p:sp>
        <p:nvSpPr>
          <p:cNvPr id="1766417" name="AutoShape 17">
            <a:extLst>
              <a:ext uri="{FF2B5EF4-FFF2-40B4-BE49-F238E27FC236}">
                <a16:creationId xmlns:a16="http://schemas.microsoft.com/office/drawing/2014/main" id="{AC42A753-E455-5AA0-1697-608B007B16D5}"/>
              </a:ext>
            </a:extLst>
          </p:cNvPr>
          <p:cNvSpPr>
            <a:spLocks noChangeAspect="1" noChangeArrowheads="1"/>
          </p:cNvSpPr>
          <p:nvPr/>
        </p:nvSpPr>
        <p:spPr bwMode="auto">
          <a:xfrm>
            <a:off x="844550" y="4794250"/>
            <a:ext cx="574675" cy="728663"/>
          </a:xfrm>
          <a:prstGeom prst="roundRect">
            <a:avLst>
              <a:gd name="adj" fmla="val 16667"/>
            </a:avLst>
          </a:prstGeom>
          <a:solidFill>
            <a:srgbClr val="DDDDDD"/>
          </a:solidFill>
          <a:ln w="6350">
            <a:solidFill>
              <a:srgbClr val="B2B2B2"/>
            </a:solidFill>
            <a:round/>
            <a:headEnd/>
            <a:tailEnd/>
          </a:ln>
          <a:effectLst>
            <a:outerShdw dist="35921" dir="2700000" algn="ctr" rotWithShape="0">
              <a:schemeClr val="bg2"/>
            </a:outerShdw>
          </a:effec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税理士</a:t>
            </a:r>
          </a:p>
        </p:txBody>
      </p:sp>
      <p:sp>
        <p:nvSpPr>
          <p:cNvPr id="1766418" name="AutoShape 18">
            <a:extLst>
              <a:ext uri="{FF2B5EF4-FFF2-40B4-BE49-F238E27FC236}">
                <a16:creationId xmlns:a16="http://schemas.microsoft.com/office/drawing/2014/main" id="{7765962B-C052-4DB5-0B8B-928FDE9F0CCD}"/>
              </a:ext>
            </a:extLst>
          </p:cNvPr>
          <p:cNvSpPr>
            <a:spLocks noChangeAspect="1" noChangeArrowheads="1"/>
          </p:cNvSpPr>
          <p:nvPr/>
        </p:nvSpPr>
        <p:spPr bwMode="auto">
          <a:xfrm>
            <a:off x="547688" y="4002088"/>
            <a:ext cx="246062" cy="1535112"/>
          </a:xfrm>
          <a:prstGeom prst="roundRect">
            <a:avLst>
              <a:gd name="adj" fmla="val 16667"/>
            </a:avLst>
          </a:prstGeom>
          <a:solidFill>
            <a:srgbClr val="DDDDDD"/>
          </a:solidFill>
          <a:ln w="6350">
            <a:solidFill>
              <a:srgbClr val="B2B2B2"/>
            </a:solidFill>
            <a:round/>
            <a:headEnd/>
            <a:tailEnd/>
          </a:ln>
          <a:effectLst>
            <a:outerShdw dist="35921" dir="2700000" algn="ctr" rotWithShape="0">
              <a:schemeClr val="bg2"/>
            </a:outerShdw>
          </a:effectLst>
        </p:spPr>
        <p:txBody>
          <a:bodyPr vert="eaVert"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会計専門家</a:t>
            </a:r>
          </a:p>
        </p:txBody>
      </p:sp>
      <p:sp>
        <p:nvSpPr>
          <p:cNvPr id="1766419" name="AutoShape 19">
            <a:extLst>
              <a:ext uri="{FF2B5EF4-FFF2-40B4-BE49-F238E27FC236}">
                <a16:creationId xmlns:a16="http://schemas.microsoft.com/office/drawing/2014/main" id="{94A98D62-AD65-ADCE-F1F4-1C47F9FBA6AF}"/>
              </a:ext>
            </a:extLst>
          </p:cNvPr>
          <p:cNvSpPr>
            <a:spLocks noChangeAspect="1" noChangeArrowheads="1"/>
          </p:cNvSpPr>
          <p:nvPr/>
        </p:nvSpPr>
        <p:spPr bwMode="auto">
          <a:xfrm>
            <a:off x="547688" y="6280150"/>
            <a:ext cx="841375" cy="593725"/>
          </a:xfrm>
          <a:prstGeom prst="roundRect">
            <a:avLst>
              <a:gd name="adj" fmla="val 16667"/>
            </a:avLst>
          </a:prstGeom>
          <a:solidFill>
            <a:srgbClr val="DDDDDD"/>
          </a:solidFill>
          <a:ln w="6350">
            <a:solidFill>
              <a:srgbClr val="B2B2B2"/>
            </a:solidFill>
            <a:round/>
            <a:headEnd/>
            <a:tailEnd/>
          </a:ln>
          <a:effectLst>
            <a:outerShdw dist="35921" dir="2700000" algn="ctr" rotWithShape="0">
              <a:schemeClr val="bg2"/>
            </a:outerShdw>
          </a:effec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金融機関職員</a:t>
            </a:r>
          </a:p>
        </p:txBody>
      </p:sp>
      <p:sp>
        <p:nvSpPr>
          <p:cNvPr id="1766420" name="AutoShape 20">
            <a:extLst>
              <a:ext uri="{FF2B5EF4-FFF2-40B4-BE49-F238E27FC236}">
                <a16:creationId xmlns:a16="http://schemas.microsoft.com/office/drawing/2014/main" id="{061A1313-D988-7E1F-5777-21BACFE8DE9F}"/>
              </a:ext>
            </a:extLst>
          </p:cNvPr>
          <p:cNvSpPr>
            <a:spLocks noChangeAspect="1" noChangeArrowheads="1"/>
          </p:cNvSpPr>
          <p:nvPr/>
        </p:nvSpPr>
        <p:spPr bwMode="auto">
          <a:xfrm>
            <a:off x="547688" y="5619750"/>
            <a:ext cx="841375" cy="592138"/>
          </a:xfrm>
          <a:prstGeom prst="roundRect">
            <a:avLst>
              <a:gd name="adj" fmla="val 16667"/>
            </a:avLst>
          </a:prstGeom>
          <a:solidFill>
            <a:srgbClr val="DDDDDD"/>
          </a:solidFill>
          <a:ln w="6350">
            <a:solidFill>
              <a:srgbClr val="B2B2B2"/>
            </a:solidFill>
            <a:round/>
            <a:headEnd/>
            <a:tailEnd/>
          </a:ln>
          <a:effectLst>
            <a:outerShdw dist="35921" dir="2700000" algn="ctr" rotWithShape="0">
              <a:schemeClr val="bg2"/>
            </a:outerShdw>
          </a:effec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中小企業</a:t>
            </a:r>
          </a:p>
          <a:p>
            <a:pPr algn="ctr"/>
            <a:r>
              <a:rPr lang="ja-JP" altLang="en-US" sz="900">
                <a:latin typeface="ＭＳ Ｐゴシック" panose="020B0600070205080204" pitchFamily="50" charset="-128"/>
              </a:rPr>
              <a:t>診断士</a:t>
            </a:r>
          </a:p>
        </p:txBody>
      </p:sp>
      <p:sp>
        <p:nvSpPr>
          <p:cNvPr id="1766421" name="Rectangle 21">
            <a:extLst>
              <a:ext uri="{FF2B5EF4-FFF2-40B4-BE49-F238E27FC236}">
                <a16:creationId xmlns:a16="http://schemas.microsoft.com/office/drawing/2014/main" id="{7F045F61-7651-66D5-C8DF-36D335D8A4C1}"/>
              </a:ext>
            </a:extLst>
          </p:cNvPr>
          <p:cNvSpPr>
            <a:spLocks noChangeAspect="1" noChangeArrowheads="1"/>
          </p:cNvSpPr>
          <p:nvPr/>
        </p:nvSpPr>
        <p:spPr bwMode="auto">
          <a:xfrm>
            <a:off x="457200" y="6948488"/>
            <a:ext cx="5759450" cy="122237"/>
          </a:xfrm>
          <a:prstGeom prst="rect">
            <a:avLst/>
          </a:prstGeom>
          <a:solidFill>
            <a:schemeClr val="bg1"/>
          </a:solidFill>
          <a:ln>
            <a:noFill/>
          </a:ln>
          <a:effectLst/>
          <a:extLst>
            <a:ext uri="{91240B29-F687-4F45-9708-019B960494DF}">
              <a14:hiddenLine xmlns:a14="http://schemas.microsoft.com/office/drawing/2010/main" w="9525">
                <a:solidFill>
                  <a:srgbClr val="B2B2B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72000" bIns="0">
            <a:spAutoFit/>
          </a:bodyPr>
          <a:lstStyle/>
          <a:p>
            <a:pPr algn="l"/>
            <a:r>
              <a:rPr kumimoji="0" lang="ja-JP" altLang="en-US" sz="800">
                <a:latin typeface="ＭＳ Ｐゴシック" panose="020B0600070205080204" pitchFamily="50" charset="-128"/>
              </a:rPr>
              <a:t>＊ ここでは説明のために、財務管理サービス人材候補の代表例を挙げており、その他の専門化の方たちを除くものではありません。</a:t>
            </a:r>
          </a:p>
        </p:txBody>
      </p:sp>
      <p:sp>
        <p:nvSpPr>
          <p:cNvPr id="1766422" name="Rectangle 22">
            <a:extLst>
              <a:ext uri="{FF2B5EF4-FFF2-40B4-BE49-F238E27FC236}">
                <a16:creationId xmlns:a16="http://schemas.microsoft.com/office/drawing/2014/main" id="{70ADBE9B-85AE-204E-01AA-1188FE859D99}"/>
              </a:ext>
            </a:extLst>
          </p:cNvPr>
          <p:cNvSpPr>
            <a:spLocks noChangeAspect="1" noChangeArrowheads="1"/>
          </p:cNvSpPr>
          <p:nvPr/>
        </p:nvSpPr>
        <p:spPr bwMode="ltGray">
          <a:xfrm>
            <a:off x="1489075" y="4794250"/>
            <a:ext cx="2473325" cy="728663"/>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lIns="54000" rIns="54000" anchor="ctr"/>
          <a:lstStyle>
            <a:lvl1pPr marL="190500" indent="-889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0" hangingPunct="0">
              <a:buFont typeface="Wingdings" panose="05000000000000000000" pitchFamily="2" charset="2"/>
              <a:buChar char="Ø"/>
            </a:pPr>
            <a:r>
              <a:rPr kumimoji="0" lang="ja-JP" altLang="en-US" sz="900">
                <a:latin typeface="Arial" panose="020B0604020202020204" pitchFamily="34" charset="0"/>
              </a:rPr>
              <a:t>中小企業との関係が強い</a:t>
            </a:r>
          </a:p>
          <a:p>
            <a:pPr eaLnBrk="0" hangingPunct="0">
              <a:buFont typeface="Wingdings" panose="05000000000000000000" pitchFamily="2" charset="2"/>
              <a:buChar char="Ø"/>
            </a:pPr>
            <a:r>
              <a:rPr kumimoji="0" lang="ja-JP" altLang="en-US" sz="900">
                <a:latin typeface="Arial" panose="020B0604020202020204" pitchFamily="34" charset="0"/>
              </a:rPr>
              <a:t>社長の個人資産まで含めたアドバイスが</a:t>
            </a:r>
          </a:p>
          <a:p>
            <a:pPr eaLnBrk="0" hangingPunct="0">
              <a:buFont typeface="Wingdings" panose="05000000000000000000" pitchFamily="2" charset="2"/>
              <a:buNone/>
            </a:pPr>
            <a:r>
              <a:rPr kumimoji="0" lang="ja-JP" altLang="en-US" sz="900">
                <a:latin typeface="Arial" panose="020B0604020202020204" pitchFamily="34" charset="0"/>
              </a:rPr>
              <a:t>　得意</a:t>
            </a:r>
          </a:p>
          <a:p>
            <a:pPr eaLnBrk="0" hangingPunct="0">
              <a:buFont typeface="Wingdings" panose="05000000000000000000" pitchFamily="2" charset="2"/>
              <a:buChar char="Ø"/>
            </a:pPr>
            <a:r>
              <a:rPr kumimoji="0" lang="ja-JP" altLang="en-US" sz="900">
                <a:latin typeface="Arial" panose="020B0604020202020204" pitchFamily="34" charset="0"/>
              </a:rPr>
              <a:t>税務代行・アドバイス（所得税、法人税、</a:t>
            </a:r>
          </a:p>
          <a:p>
            <a:pPr eaLnBrk="0" hangingPunct="0">
              <a:buFont typeface="Wingdings" panose="05000000000000000000" pitchFamily="2" charset="2"/>
              <a:buNone/>
            </a:pPr>
            <a:r>
              <a:rPr kumimoji="0" lang="ja-JP" altLang="en-US" sz="900">
                <a:latin typeface="Arial" panose="020B0604020202020204" pitchFamily="34" charset="0"/>
              </a:rPr>
              <a:t>　消費税、相続税等）を行う</a:t>
            </a:r>
          </a:p>
        </p:txBody>
      </p:sp>
      <p:sp>
        <p:nvSpPr>
          <p:cNvPr id="1766423" name="Rectangle 23">
            <a:extLst>
              <a:ext uri="{FF2B5EF4-FFF2-40B4-BE49-F238E27FC236}">
                <a16:creationId xmlns:a16="http://schemas.microsoft.com/office/drawing/2014/main" id="{0341E222-6FDD-03D4-2F5D-C04421F1B745}"/>
              </a:ext>
            </a:extLst>
          </p:cNvPr>
          <p:cNvSpPr>
            <a:spLocks noChangeAspect="1" noChangeArrowheads="1"/>
          </p:cNvSpPr>
          <p:nvPr/>
        </p:nvSpPr>
        <p:spPr bwMode="ltGray">
          <a:xfrm>
            <a:off x="1489075" y="5619750"/>
            <a:ext cx="2473325" cy="592138"/>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lIns="54000" rIns="54000" anchor="ctr"/>
          <a:lstStyle>
            <a:lvl1pPr marL="190500" indent="-889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0" hangingPunct="0">
              <a:buFont typeface="Wingdings" panose="05000000000000000000" pitchFamily="2" charset="2"/>
              <a:buChar char="Ø"/>
            </a:pPr>
            <a:r>
              <a:rPr kumimoji="0" lang="ja-JP" altLang="en-US" sz="900">
                <a:latin typeface="Arial" panose="020B0604020202020204" pitchFamily="34" charset="0"/>
              </a:rPr>
              <a:t>業務改善コンサルティング（シェアードサービス、</a:t>
            </a:r>
            <a:r>
              <a:rPr kumimoji="0" lang="en-US" altLang="ja-JP" sz="900">
                <a:latin typeface="Arial" panose="020B0604020202020204" pitchFamily="34" charset="0"/>
              </a:rPr>
              <a:t>BPR</a:t>
            </a:r>
            <a:r>
              <a:rPr kumimoji="0" lang="ja-JP" altLang="en-US" sz="900">
                <a:latin typeface="Arial" panose="020B0604020202020204" pitchFamily="34" charset="0"/>
              </a:rPr>
              <a:t>、</a:t>
            </a:r>
            <a:r>
              <a:rPr kumimoji="0" lang="en-US" altLang="ja-JP" sz="900">
                <a:latin typeface="Arial" panose="020B0604020202020204" pitchFamily="34" charset="0"/>
              </a:rPr>
              <a:t>SCM</a:t>
            </a:r>
            <a:r>
              <a:rPr kumimoji="0" lang="ja-JP" altLang="en-US" sz="900">
                <a:latin typeface="Arial" panose="020B0604020202020204" pitchFamily="34" charset="0"/>
              </a:rPr>
              <a:t>、</a:t>
            </a:r>
            <a:r>
              <a:rPr kumimoji="0" lang="en-US" altLang="ja-JP" sz="900">
                <a:latin typeface="Arial" panose="020B0604020202020204" pitchFamily="34" charset="0"/>
              </a:rPr>
              <a:t>CRM</a:t>
            </a:r>
            <a:r>
              <a:rPr kumimoji="0" lang="ja-JP" altLang="en-US" sz="900">
                <a:latin typeface="Arial" panose="020B0604020202020204" pitchFamily="34" charset="0"/>
              </a:rPr>
              <a:t>等）が得意</a:t>
            </a:r>
          </a:p>
          <a:p>
            <a:pPr eaLnBrk="0" hangingPunct="0">
              <a:buFont typeface="Wingdings" panose="05000000000000000000" pitchFamily="2" charset="2"/>
              <a:buChar char="Ø"/>
            </a:pPr>
            <a:r>
              <a:rPr kumimoji="0" lang="ja-JP" altLang="en-US" sz="900">
                <a:latin typeface="Arial" panose="020B0604020202020204" pitchFamily="34" charset="0"/>
              </a:rPr>
              <a:t>各種ＩＴ化支援が得意</a:t>
            </a:r>
          </a:p>
          <a:p>
            <a:pPr eaLnBrk="0" hangingPunct="0">
              <a:buFont typeface="Wingdings" panose="05000000000000000000" pitchFamily="2" charset="2"/>
              <a:buChar char="Ø"/>
            </a:pPr>
            <a:r>
              <a:rPr kumimoji="0" lang="ja-JP" altLang="en-US" sz="900">
                <a:latin typeface="Arial" panose="020B0604020202020204" pitchFamily="34" charset="0"/>
              </a:rPr>
              <a:t>事業計画・経営計画策定等も支援</a:t>
            </a:r>
          </a:p>
        </p:txBody>
      </p:sp>
      <p:sp>
        <p:nvSpPr>
          <p:cNvPr id="1766424" name="Rectangle 24">
            <a:extLst>
              <a:ext uri="{FF2B5EF4-FFF2-40B4-BE49-F238E27FC236}">
                <a16:creationId xmlns:a16="http://schemas.microsoft.com/office/drawing/2014/main" id="{40E50DA4-BB55-7C44-A322-32376EA061E9}"/>
              </a:ext>
            </a:extLst>
          </p:cNvPr>
          <p:cNvSpPr>
            <a:spLocks noChangeAspect="1" noChangeArrowheads="1"/>
          </p:cNvSpPr>
          <p:nvPr/>
        </p:nvSpPr>
        <p:spPr bwMode="ltGray">
          <a:xfrm>
            <a:off x="1489075" y="6280150"/>
            <a:ext cx="2473325" cy="592138"/>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lIns="54000" rIns="54000" anchor="ctr"/>
          <a:lstStyle>
            <a:lvl1pPr marL="190500" indent="-889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0" hangingPunct="0">
              <a:buFont typeface="Wingdings" panose="05000000000000000000" pitchFamily="2" charset="2"/>
              <a:buChar char="Ø"/>
            </a:pPr>
            <a:r>
              <a:rPr kumimoji="0" lang="ja-JP" altLang="en-US" sz="900">
                <a:latin typeface="Arial" panose="020B0604020202020204" pitchFamily="34" charset="0"/>
              </a:rPr>
              <a:t>地域の企業ネットワークに強く、企業間ネットワークをつなぐことが可能</a:t>
            </a:r>
          </a:p>
          <a:p>
            <a:pPr eaLnBrk="0" hangingPunct="0">
              <a:buFont typeface="Wingdings" panose="05000000000000000000" pitchFamily="2" charset="2"/>
              <a:buChar char="Ø"/>
            </a:pPr>
            <a:r>
              <a:rPr kumimoji="0" lang="ja-JP" altLang="en-US" sz="900">
                <a:latin typeface="Arial" panose="020B0604020202020204" pitchFamily="34" charset="0"/>
              </a:rPr>
              <a:t>資金調達・運用アドバイス・支援が得意</a:t>
            </a:r>
          </a:p>
        </p:txBody>
      </p:sp>
      <p:sp>
        <p:nvSpPr>
          <p:cNvPr id="1766425" name="Rectangle 25">
            <a:extLst>
              <a:ext uri="{FF2B5EF4-FFF2-40B4-BE49-F238E27FC236}">
                <a16:creationId xmlns:a16="http://schemas.microsoft.com/office/drawing/2014/main" id="{6B981221-BB89-B366-3923-BD178B1DFF8B}"/>
              </a:ext>
            </a:extLst>
          </p:cNvPr>
          <p:cNvSpPr>
            <a:spLocks noChangeAspect="1" noChangeArrowheads="1"/>
          </p:cNvSpPr>
          <p:nvPr/>
        </p:nvSpPr>
        <p:spPr bwMode="ltGray">
          <a:xfrm>
            <a:off x="4059238" y="4002088"/>
            <a:ext cx="2227262" cy="728662"/>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lIns="54000" rIns="54000" anchor="ctr"/>
          <a:lstStyle>
            <a:lvl1pPr marL="190500" indent="-889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0" hangingPunct="0">
              <a:buFont typeface="Wingdings" panose="05000000000000000000" pitchFamily="2" charset="2"/>
              <a:buChar char="Ø"/>
            </a:pPr>
            <a:r>
              <a:rPr kumimoji="0" lang="ja-JP" altLang="en-US" sz="900">
                <a:latin typeface="Arial" panose="020B0604020202020204" pitchFamily="34" charset="0"/>
              </a:rPr>
              <a:t>中小企業との関与の経験が不足していることがあり、大会社向けの会計基準を主にしたアドバイスになりがちである</a:t>
            </a:r>
          </a:p>
        </p:txBody>
      </p:sp>
      <p:sp>
        <p:nvSpPr>
          <p:cNvPr id="1766426" name="AutoShape 26">
            <a:extLst>
              <a:ext uri="{FF2B5EF4-FFF2-40B4-BE49-F238E27FC236}">
                <a16:creationId xmlns:a16="http://schemas.microsoft.com/office/drawing/2014/main" id="{F00DB70A-BC0D-516C-177B-E4ED9093E807}"/>
              </a:ext>
            </a:extLst>
          </p:cNvPr>
          <p:cNvSpPr>
            <a:spLocks noChangeAspect="1" noChangeArrowheads="1"/>
          </p:cNvSpPr>
          <p:nvPr/>
        </p:nvSpPr>
        <p:spPr bwMode="auto">
          <a:xfrm>
            <a:off x="4059238" y="3656013"/>
            <a:ext cx="2227262" cy="288925"/>
          </a:xfrm>
          <a:prstGeom prst="roundRect">
            <a:avLst>
              <a:gd name="adj" fmla="val 16667"/>
            </a:avLst>
          </a:prstGeom>
          <a:solidFill>
            <a:srgbClr val="DDDDDD"/>
          </a:solidFill>
          <a:ln w="6350">
            <a:solidFill>
              <a:srgbClr val="B2B2B2"/>
            </a:solidFill>
            <a:round/>
            <a:headEnd/>
            <a:tailEnd/>
          </a:ln>
          <a:effectLst>
            <a:outerShdw dist="35921" dir="2700000" algn="ctr" rotWithShape="0">
              <a:schemeClr val="bg2"/>
            </a:outerShdw>
          </a:effec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注意点・問題点</a:t>
            </a:r>
          </a:p>
        </p:txBody>
      </p:sp>
      <p:sp>
        <p:nvSpPr>
          <p:cNvPr id="1766427" name="Rectangle 27">
            <a:extLst>
              <a:ext uri="{FF2B5EF4-FFF2-40B4-BE49-F238E27FC236}">
                <a16:creationId xmlns:a16="http://schemas.microsoft.com/office/drawing/2014/main" id="{D8C6B00F-479E-2ACC-C4A3-6C55B8C8439C}"/>
              </a:ext>
            </a:extLst>
          </p:cNvPr>
          <p:cNvSpPr>
            <a:spLocks noChangeAspect="1" noChangeArrowheads="1"/>
          </p:cNvSpPr>
          <p:nvPr/>
        </p:nvSpPr>
        <p:spPr bwMode="ltGray">
          <a:xfrm>
            <a:off x="4060825" y="4794250"/>
            <a:ext cx="2227263" cy="728663"/>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lIns="54000" rIns="54000" anchor="ctr"/>
          <a:lstStyle>
            <a:lvl1pPr marL="190500" indent="-889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0" hangingPunct="0">
              <a:buFont typeface="Wingdings" panose="05000000000000000000" pitchFamily="2" charset="2"/>
              <a:buChar char="Ø"/>
            </a:pPr>
            <a:r>
              <a:rPr kumimoji="0" lang="ja-JP" altLang="en-US" sz="900">
                <a:latin typeface="Arial" panose="020B0604020202020204" pitchFamily="34" charset="0"/>
              </a:rPr>
              <a:t>社長の個人資産まで含めたアドバイスを行うため、個人に対する利害と会社に対する利害の切り分けに注意が必要</a:t>
            </a:r>
          </a:p>
          <a:p>
            <a:pPr eaLnBrk="0" hangingPunct="0">
              <a:buFont typeface="Wingdings" panose="05000000000000000000" pitchFamily="2" charset="2"/>
              <a:buChar char="Ø"/>
            </a:pPr>
            <a:r>
              <a:rPr kumimoji="0" lang="ja-JP" altLang="en-US" sz="900">
                <a:latin typeface="Arial" panose="020B0604020202020204" pitchFamily="34" charset="0"/>
              </a:rPr>
              <a:t>税法上のアドバイスが中心である</a:t>
            </a:r>
          </a:p>
        </p:txBody>
      </p:sp>
      <p:sp>
        <p:nvSpPr>
          <p:cNvPr id="1766428" name="Rectangle 28">
            <a:extLst>
              <a:ext uri="{FF2B5EF4-FFF2-40B4-BE49-F238E27FC236}">
                <a16:creationId xmlns:a16="http://schemas.microsoft.com/office/drawing/2014/main" id="{71C3165E-118F-28CF-6002-D0F59A69BB9D}"/>
              </a:ext>
            </a:extLst>
          </p:cNvPr>
          <p:cNvSpPr>
            <a:spLocks noChangeAspect="1" noChangeArrowheads="1"/>
          </p:cNvSpPr>
          <p:nvPr/>
        </p:nvSpPr>
        <p:spPr bwMode="ltGray">
          <a:xfrm>
            <a:off x="4060825" y="5619750"/>
            <a:ext cx="2227263" cy="592138"/>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lIns="54000" rIns="54000" anchor="ctr"/>
          <a:lstStyle>
            <a:lvl1pPr marL="190500" indent="-889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0" hangingPunct="0">
              <a:buFont typeface="Wingdings" panose="05000000000000000000" pitchFamily="2" charset="2"/>
              <a:buChar char="Ø"/>
            </a:pPr>
            <a:r>
              <a:rPr kumimoji="0" lang="ja-JP" altLang="en-US" sz="900">
                <a:latin typeface="Arial" panose="020B0604020202020204" pitchFamily="34" charset="0"/>
              </a:rPr>
              <a:t>公認会計士・税理士のように、法律的な独占業務がない</a:t>
            </a:r>
          </a:p>
        </p:txBody>
      </p:sp>
      <p:sp>
        <p:nvSpPr>
          <p:cNvPr id="1766429" name="Rectangle 29">
            <a:extLst>
              <a:ext uri="{FF2B5EF4-FFF2-40B4-BE49-F238E27FC236}">
                <a16:creationId xmlns:a16="http://schemas.microsoft.com/office/drawing/2014/main" id="{16D49C99-3AA4-3EDD-7A67-086FED390567}"/>
              </a:ext>
            </a:extLst>
          </p:cNvPr>
          <p:cNvSpPr>
            <a:spLocks noChangeAspect="1" noChangeArrowheads="1"/>
          </p:cNvSpPr>
          <p:nvPr/>
        </p:nvSpPr>
        <p:spPr bwMode="ltGray">
          <a:xfrm>
            <a:off x="4060825" y="6280150"/>
            <a:ext cx="2227263" cy="592138"/>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lIns="54000" rIns="54000" anchor="ctr"/>
          <a:lstStyle>
            <a:lvl1pPr marL="190500" indent="-889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0" hangingPunct="0">
              <a:buFont typeface="Wingdings" panose="05000000000000000000" pitchFamily="2" charset="2"/>
              <a:buChar char="Ø"/>
            </a:pPr>
            <a:r>
              <a:rPr kumimoji="0" lang="ja-JP" altLang="en-US" sz="900">
                <a:latin typeface="Arial" panose="020B0604020202020204" pitchFamily="34" charset="0"/>
              </a:rPr>
              <a:t>法的規制等による行動の制限がある</a:t>
            </a:r>
          </a:p>
          <a:p>
            <a:pPr eaLnBrk="0" hangingPunct="0">
              <a:buFont typeface="Wingdings" panose="05000000000000000000" pitchFamily="2" charset="2"/>
              <a:buChar char="Ø"/>
            </a:pPr>
            <a:r>
              <a:rPr kumimoji="0" lang="ja-JP" altLang="en-US" sz="900">
                <a:latin typeface="Arial" panose="020B0604020202020204" pitchFamily="34" charset="0"/>
              </a:rPr>
              <a:t>融資先企業と利害対立の発生するおそれが大きい</a:t>
            </a:r>
          </a:p>
        </p:txBody>
      </p:sp>
      <p:grpSp>
        <p:nvGrpSpPr>
          <p:cNvPr id="1766431" name="Group 31">
            <a:extLst>
              <a:ext uri="{FF2B5EF4-FFF2-40B4-BE49-F238E27FC236}">
                <a16:creationId xmlns:a16="http://schemas.microsoft.com/office/drawing/2014/main" id="{D6F675D8-6DDD-F181-78E0-45C86B637E57}"/>
              </a:ext>
            </a:extLst>
          </p:cNvPr>
          <p:cNvGrpSpPr>
            <a:grpSpLocks/>
          </p:cNvGrpSpPr>
          <p:nvPr/>
        </p:nvGrpSpPr>
        <p:grpSpPr bwMode="auto">
          <a:xfrm>
            <a:off x="3708400" y="0"/>
            <a:ext cx="3124200" cy="228600"/>
            <a:chOff x="2928" y="-48"/>
            <a:chExt cx="1392" cy="192"/>
          </a:xfrm>
        </p:grpSpPr>
        <p:sp>
          <p:nvSpPr>
            <p:cNvPr id="1766432" name="Line 32">
              <a:extLst>
                <a:ext uri="{FF2B5EF4-FFF2-40B4-BE49-F238E27FC236}">
                  <a16:creationId xmlns:a16="http://schemas.microsoft.com/office/drawing/2014/main" id="{949D29D3-F8C2-4C5D-8049-08C6DC24418A}"/>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66433" name="Rectangle 33">
              <a:extLst>
                <a:ext uri="{FF2B5EF4-FFF2-40B4-BE49-F238E27FC236}">
                  <a16:creationId xmlns:a16="http://schemas.microsoft.com/office/drawing/2014/main" id="{352E81CF-E761-E9B9-FE63-ECA8D1332300}"/>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Arial" panose="020B0604020202020204" pitchFamily="34" charset="0"/>
                </a:rPr>
                <a:t>Ⅰ</a:t>
              </a:r>
              <a:r>
                <a:rPr lang="ja-JP" altLang="en-US" sz="1000">
                  <a:latin typeface="ＭＳ Ｐゴシック" panose="020B0600070205080204" pitchFamily="50" charset="-128"/>
                </a:rPr>
                <a:t>　　財務管理サービス人材による経営助言へのニーズ</a:t>
              </a:r>
            </a:p>
          </p:txBody>
        </p:sp>
      </p:grpSp>
      <p:sp>
        <p:nvSpPr>
          <p:cNvPr id="1766434" name="Line 34">
            <a:extLst>
              <a:ext uri="{FF2B5EF4-FFF2-40B4-BE49-F238E27FC236}">
                <a16:creationId xmlns:a16="http://schemas.microsoft.com/office/drawing/2014/main" id="{BCE3A512-B63B-1E78-9604-DA4582878FC2}"/>
              </a:ext>
            </a:extLst>
          </p:cNvPr>
          <p:cNvSpPr>
            <a:spLocks noChangeShapeType="1"/>
          </p:cNvSpPr>
          <p:nvPr/>
        </p:nvSpPr>
        <p:spPr bwMode="auto">
          <a:xfrm>
            <a:off x="914400" y="7543800"/>
            <a:ext cx="0" cy="1752600"/>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66435" name="Rectangle 35">
            <a:extLst>
              <a:ext uri="{FF2B5EF4-FFF2-40B4-BE49-F238E27FC236}">
                <a16:creationId xmlns:a16="http://schemas.microsoft.com/office/drawing/2014/main" id="{6FFC453B-2A9E-E7BC-A3D8-FCF0262D6383}"/>
              </a:ext>
            </a:extLst>
          </p:cNvPr>
          <p:cNvSpPr>
            <a:spLocks noChangeArrowheads="1"/>
          </p:cNvSpPr>
          <p:nvPr/>
        </p:nvSpPr>
        <p:spPr bwMode="auto">
          <a:xfrm>
            <a:off x="914400" y="7605713"/>
            <a:ext cx="5410200" cy="1766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114300"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buFont typeface="Wingdings" panose="05000000000000000000" pitchFamily="2" charset="2"/>
              <a:buNone/>
            </a:pPr>
            <a:r>
              <a:rPr lang="ja-JP" altLang="en-US" sz="1200">
                <a:latin typeface="ＭＳ Ｐゴシック" panose="020B0600070205080204" pitchFamily="50" charset="-128"/>
              </a:rPr>
              <a:t>＜まとめ＞</a:t>
            </a:r>
          </a:p>
          <a:p>
            <a:pPr>
              <a:lnSpc>
                <a:spcPct val="120000"/>
              </a:lnSpc>
              <a:buFont typeface="Wingdings" panose="05000000000000000000" pitchFamily="2" charset="2"/>
              <a:buChar char="ü"/>
            </a:pPr>
            <a:endParaRPr lang="ja-JP" altLang="en-US" sz="1200">
              <a:latin typeface="ＭＳ Ｐゴシック" panose="020B0600070205080204" pitchFamily="50" charset="-128"/>
            </a:endParaRPr>
          </a:p>
          <a:p>
            <a:pPr>
              <a:lnSpc>
                <a:spcPct val="120000"/>
              </a:lnSpc>
              <a:buFont typeface="Wingdings" panose="05000000000000000000" pitchFamily="2" charset="2"/>
              <a:buChar char="ü"/>
            </a:pPr>
            <a:r>
              <a:rPr lang="ja-JP" altLang="en-US" sz="1200">
                <a:latin typeface="ＭＳ Ｐゴシック" panose="020B0600070205080204" pitchFamily="50" charset="-128"/>
              </a:rPr>
              <a:t>財務管理サービス人材をめぐる環境については、既存サービスについて供給増も見込まれることから、より高付加価値サービスが求められると考えられます。</a:t>
            </a:r>
          </a:p>
          <a:p>
            <a:pPr>
              <a:lnSpc>
                <a:spcPct val="120000"/>
              </a:lnSpc>
              <a:buFont typeface="Wingdings" panose="05000000000000000000" pitchFamily="2" charset="2"/>
              <a:buChar char="ü"/>
            </a:pPr>
            <a:endParaRPr lang="ja-JP" altLang="en-US" sz="1200">
              <a:latin typeface="ＭＳ Ｐゴシック" panose="020B0600070205080204" pitchFamily="50" charset="-128"/>
            </a:endParaRPr>
          </a:p>
          <a:p>
            <a:pPr>
              <a:lnSpc>
                <a:spcPct val="120000"/>
              </a:lnSpc>
              <a:buFont typeface="Wingdings" panose="05000000000000000000" pitchFamily="2" charset="2"/>
              <a:buChar char="ü"/>
            </a:pPr>
            <a:r>
              <a:rPr lang="ja-JP" altLang="en-US" sz="1200">
                <a:latin typeface="ＭＳ Ｐゴシック" panose="020B0600070205080204" pitchFamily="50" charset="-128"/>
              </a:rPr>
              <a:t>中堅／中小企業に対して会計専門家が取締役と共同して計算書類を作成する会計参与制度の導入が計画されています。</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0370" name="Text Box 2">
            <a:extLst>
              <a:ext uri="{FF2B5EF4-FFF2-40B4-BE49-F238E27FC236}">
                <a16:creationId xmlns:a16="http://schemas.microsoft.com/office/drawing/2014/main" id="{15E53DB5-5851-9365-F9D1-B95B26923C17}"/>
              </a:ext>
            </a:extLst>
          </p:cNvPr>
          <p:cNvSpPr txBox="1">
            <a:spLocks noChangeArrowheads="1"/>
          </p:cNvSpPr>
          <p:nvPr/>
        </p:nvSpPr>
        <p:spPr bwMode="auto">
          <a:xfrm>
            <a:off x="533400" y="304800"/>
            <a:ext cx="57912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ja-JP" sz="1400" i="1">
                <a:latin typeface="Arial" panose="020B0604020202020204" pitchFamily="34" charset="0"/>
                <a:ea typeface="HGPｺﾞｼｯｸE" panose="020B0900000000000000" pitchFamily="50" charset="-128"/>
              </a:rPr>
              <a:t>Ⅱ</a:t>
            </a:r>
            <a:r>
              <a:rPr lang="ja-JP" altLang="en-US" sz="1400" i="1">
                <a:latin typeface="Arial" panose="020B0604020202020204" pitchFamily="34" charset="0"/>
                <a:ea typeface="HGPｺﾞｼｯｸE" panose="020B0900000000000000" pitchFamily="50" charset="-128"/>
              </a:rPr>
              <a:t>　財務上の問題分析</a:t>
            </a:r>
          </a:p>
        </p:txBody>
      </p:sp>
      <p:sp>
        <p:nvSpPr>
          <p:cNvPr id="1850371" name="Line 3">
            <a:extLst>
              <a:ext uri="{FF2B5EF4-FFF2-40B4-BE49-F238E27FC236}">
                <a16:creationId xmlns:a16="http://schemas.microsoft.com/office/drawing/2014/main" id="{01172159-F26B-1ED7-3E88-90FE64490BDB}"/>
              </a:ext>
            </a:extLst>
          </p:cNvPr>
          <p:cNvSpPr>
            <a:spLocks noChangeShapeType="1"/>
          </p:cNvSpPr>
          <p:nvPr/>
        </p:nvSpPr>
        <p:spPr bwMode="auto">
          <a:xfrm flipV="1">
            <a:off x="533400" y="228600"/>
            <a:ext cx="5791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50372" name="Line 4">
            <a:extLst>
              <a:ext uri="{FF2B5EF4-FFF2-40B4-BE49-F238E27FC236}">
                <a16:creationId xmlns:a16="http://schemas.microsoft.com/office/drawing/2014/main" id="{356B2738-7DDC-490F-B3F3-4AF3F3700C46}"/>
              </a:ext>
            </a:extLst>
          </p:cNvPr>
          <p:cNvSpPr>
            <a:spLocks noChangeShapeType="1"/>
          </p:cNvSpPr>
          <p:nvPr/>
        </p:nvSpPr>
        <p:spPr bwMode="auto">
          <a:xfrm>
            <a:off x="533400" y="6858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50373" name="Oval 5">
            <a:extLst>
              <a:ext uri="{FF2B5EF4-FFF2-40B4-BE49-F238E27FC236}">
                <a16:creationId xmlns:a16="http://schemas.microsoft.com/office/drawing/2014/main" id="{0F973576-7853-0F37-297B-2D7543C60103}"/>
              </a:ext>
            </a:extLst>
          </p:cNvPr>
          <p:cNvSpPr>
            <a:spLocks noChangeArrowheads="1"/>
          </p:cNvSpPr>
          <p:nvPr/>
        </p:nvSpPr>
        <p:spPr bwMode="auto">
          <a:xfrm>
            <a:off x="533400" y="914400"/>
            <a:ext cx="381000" cy="381000"/>
          </a:xfrm>
          <a:prstGeom prst="ellipse">
            <a:avLst/>
          </a:prstGeom>
          <a:gradFill rotWithShape="0">
            <a:gsLst>
              <a:gs pos="0">
                <a:srgbClr val="333333"/>
              </a:gs>
              <a:gs pos="100000">
                <a:schemeClr val="folHlink"/>
              </a:gs>
            </a:gsLst>
            <a:lin ang="2700000" scaled="1"/>
          </a:gradFill>
          <a:ln>
            <a:noFill/>
          </a:ln>
          <a:effectLst/>
          <a:extLst>
            <a:ext uri="{91240B29-F687-4F45-9708-019B960494DF}">
              <a14:hiddenLine xmlns:a14="http://schemas.microsoft.com/office/drawing/2010/main" w="3175">
                <a:solidFill>
                  <a:srgbClr val="99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b="1">
                <a:solidFill>
                  <a:schemeClr val="bg1"/>
                </a:solidFill>
                <a:latin typeface="Arial" panose="020B0604020202020204" pitchFamily="34" charset="0"/>
              </a:rPr>
              <a:t>1</a:t>
            </a:r>
          </a:p>
        </p:txBody>
      </p:sp>
      <p:sp>
        <p:nvSpPr>
          <p:cNvPr id="1850374" name="Rectangle 6">
            <a:extLst>
              <a:ext uri="{FF2B5EF4-FFF2-40B4-BE49-F238E27FC236}">
                <a16:creationId xmlns:a16="http://schemas.microsoft.com/office/drawing/2014/main" id="{3C25716B-CD76-9032-C202-2481375C7186}"/>
              </a:ext>
            </a:extLst>
          </p:cNvPr>
          <p:cNvSpPr>
            <a:spLocks noChangeArrowheads="1"/>
          </p:cNvSpPr>
          <p:nvPr/>
        </p:nvSpPr>
        <p:spPr bwMode="auto">
          <a:xfrm>
            <a:off x="762000" y="9906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400" b="1"/>
              <a:t>企業財務に関する基本的な考え方</a:t>
            </a:r>
          </a:p>
        </p:txBody>
      </p:sp>
      <p:sp>
        <p:nvSpPr>
          <p:cNvPr id="1850375" name="Line 7">
            <a:extLst>
              <a:ext uri="{FF2B5EF4-FFF2-40B4-BE49-F238E27FC236}">
                <a16:creationId xmlns:a16="http://schemas.microsoft.com/office/drawing/2014/main" id="{F56E8B4C-98CB-36AA-AA6E-52AD8A1C3980}"/>
              </a:ext>
            </a:extLst>
          </p:cNvPr>
          <p:cNvSpPr>
            <a:spLocks noChangeShapeType="1"/>
          </p:cNvSpPr>
          <p:nvPr/>
        </p:nvSpPr>
        <p:spPr bwMode="auto">
          <a:xfrm>
            <a:off x="914400" y="1371600"/>
            <a:ext cx="1588" cy="533400"/>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50379" name="Rectangle 11">
            <a:extLst>
              <a:ext uri="{FF2B5EF4-FFF2-40B4-BE49-F238E27FC236}">
                <a16:creationId xmlns:a16="http://schemas.microsoft.com/office/drawing/2014/main" id="{7019C7FE-9B09-8422-8047-DEC8C6F17E34}"/>
              </a:ext>
            </a:extLst>
          </p:cNvPr>
          <p:cNvSpPr>
            <a:spLocks noChangeArrowheads="1"/>
          </p:cNvSpPr>
          <p:nvPr/>
        </p:nvSpPr>
        <p:spPr bwMode="auto">
          <a:xfrm>
            <a:off x="914400" y="1371600"/>
            <a:ext cx="5410200" cy="60960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defTabSz="292100">
              <a:defRPr kumimoji="1" sz="2400">
                <a:solidFill>
                  <a:schemeClr val="tx1"/>
                </a:solidFill>
                <a:latin typeface="Times New Roman" panose="02020603050405020304" pitchFamily="18" charset="0"/>
                <a:ea typeface="ＭＳ Ｐゴシック" panose="020B0600070205080204" pitchFamily="50" charset="-128"/>
              </a:defRPr>
            </a:lvl1pPr>
            <a:lvl2pPr algn="l" defTabSz="292100">
              <a:defRPr kumimoji="1" sz="2400">
                <a:solidFill>
                  <a:schemeClr val="tx1"/>
                </a:solidFill>
                <a:latin typeface="Times New Roman" panose="02020603050405020304" pitchFamily="18" charset="0"/>
                <a:ea typeface="ＭＳ Ｐゴシック" panose="020B0600070205080204" pitchFamily="50" charset="-128"/>
              </a:defRPr>
            </a:lvl2pPr>
            <a:lvl3pPr algn="l" defTabSz="292100">
              <a:defRPr kumimoji="1" sz="2400">
                <a:solidFill>
                  <a:schemeClr val="tx1"/>
                </a:solidFill>
                <a:latin typeface="Times New Roman" panose="02020603050405020304" pitchFamily="18" charset="0"/>
                <a:ea typeface="ＭＳ Ｐゴシック" panose="020B0600070205080204" pitchFamily="50" charset="-128"/>
              </a:defRPr>
            </a:lvl3pPr>
            <a:lvl4pPr algn="l" defTabSz="292100">
              <a:defRPr kumimoji="1" sz="2400">
                <a:solidFill>
                  <a:schemeClr val="tx1"/>
                </a:solidFill>
                <a:latin typeface="Times New Roman" panose="02020603050405020304" pitchFamily="18" charset="0"/>
                <a:ea typeface="ＭＳ Ｐゴシック" panose="020B0600070205080204" pitchFamily="50" charset="-128"/>
              </a:defRPr>
            </a:lvl4pPr>
            <a:lvl5pPr algn="l" defTabSz="292100">
              <a:defRPr kumimoji="1" sz="2400">
                <a:solidFill>
                  <a:schemeClr val="tx1"/>
                </a:solidFill>
                <a:latin typeface="Times New Roman" panose="02020603050405020304" pitchFamily="18" charset="0"/>
                <a:ea typeface="ＭＳ Ｐゴシック" panose="020B0600070205080204" pitchFamily="50" charset="-128"/>
              </a:defRPr>
            </a:lvl5pPr>
            <a:lvl6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200">
                <a:latin typeface="ＭＳ Ｐゴシック" panose="020B0600070205080204" pitchFamily="50" charset="-128"/>
              </a:rPr>
              <a:t>財務管理サービス人材が企業の財務状態について検討するときに踏まえるべき基礎となる考え方について紹介します。</a:t>
            </a:r>
          </a:p>
        </p:txBody>
      </p:sp>
      <p:sp>
        <p:nvSpPr>
          <p:cNvPr id="1850406" name="Rectangle 38">
            <a:extLst>
              <a:ext uri="{FF2B5EF4-FFF2-40B4-BE49-F238E27FC236}">
                <a16:creationId xmlns:a16="http://schemas.microsoft.com/office/drawing/2014/main" id="{857527ED-1984-0C7E-34B9-8DA73E57362E}"/>
              </a:ext>
            </a:extLst>
          </p:cNvPr>
          <p:cNvSpPr>
            <a:spLocks noChangeArrowheads="1"/>
          </p:cNvSpPr>
          <p:nvPr/>
        </p:nvSpPr>
        <p:spPr bwMode="auto">
          <a:xfrm>
            <a:off x="533400" y="21336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ストックとフローの対応関係</a:t>
            </a:r>
          </a:p>
        </p:txBody>
      </p:sp>
      <p:sp>
        <p:nvSpPr>
          <p:cNvPr id="1850407" name="Line 39">
            <a:extLst>
              <a:ext uri="{FF2B5EF4-FFF2-40B4-BE49-F238E27FC236}">
                <a16:creationId xmlns:a16="http://schemas.microsoft.com/office/drawing/2014/main" id="{64EE5691-E997-7D8B-AFEB-EB53F4B9CD30}"/>
              </a:ext>
            </a:extLst>
          </p:cNvPr>
          <p:cNvSpPr>
            <a:spLocks noChangeShapeType="1"/>
          </p:cNvSpPr>
          <p:nvPr/>
        </p:nvSpPr>
        <p:spPr bwMode="auto">
          <a:xfrm>
            <a:off x="533400" y="24384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50408" name="Rectangle 40">
            <a:extLst>
              <a:ext uri="{FF2B5EF4-FFF2-40B4-BE49-F238E27FC236}">
                <a16:creationId xmlns:a16="http://schemas.microsoft.com/office/drawing/2014/main" id="{00372C25-BD7F-6AC7-54FD-6B041FDE648A}"/>
              </a:ext>
            </a:extLst>
          </p:cNvPr>
          <p:cNvSpPr>
            <a:spLocks noChangeArrowheads="1"/>
          </p:cNvSpPr>
          <p:nvPr/>
        </p:nvSpPr>
        <p:spPr bwMode="auto">
          <a:xfrm>
            <a:off x="914400" y="2438400"/>
            <a:ext cx="5410200" cy="3429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事業会社の経営では、運転資本や固定資産というストックを用いて営業利益というフローを生み出すことが本質です。営業に用いるストックには売掛金・在庫のような営業資産のみではなくて、買掛金・年金債務といった営業負債も含まれます。この意味で、事業会社の本業は営業資産から営業負債を控除した「純営業資産」を投資して営業利益を生み出すことであると考えられます。</a:t>
            </a:r>
          </a:p>
          <a:p>
            <a:pPr>
              <a:lnSpc>
                <a:spcPct val="120000"/>
              </a:lnSpc>
            </a:pPr>
            <a:r>
              <a:rPr lang="ja-JP" altLang="en-US" sz="1000">
                <a:latin typeface="ＭＳ Ｐ明朝" panose="02020600040205080304" pitchFamily="18" charset="-128"/>
                <a:ea typeface="ＭＳ Ｐ明朝" panose="02020600040205080304" pitchFamily="18" charset="-128"/>
              </a:rPr>
              <a:t>　</a:t>
            </a:r>
          </a:p>
          <a:p>
            <a:pPr>
              <a:lnSpc>
                <a:spcPct val="120000"/>
              </a:lnSpc>
            </a:pPr>
            <a:r>
              <a:rPr lang="ja-JP" altLang="en-US" sz="1000">
                <a:latin typeface="ＭＳ Ｐ明朝" panose="02020600040205080304" pitchFamily="18" charset="-128"/>
                <a:ea typeface="ＭＳ Ｐ明朝" panose="02020600040205080304" pitchFamily="18" charset="-128"/>
              </a:rPr>
              <a:t>また、投融資というストックに対するフローは金利収入・配当収入などですが、これは現預金に対する金利収入を除けば概ね営業外収益と等しいものとなります。この意味では、事業会社は純営業資産と投融資というストックを投資して、営業利益と営業外収益の創出を追及するものと考えられ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こうした事業会社の財務の本質を前提とした場合、通常のバランスシートのままではなく組み換えを行うことでストックとフローの対応関係をより適切に分析できるようになります。まず、資産を営業資産と金融資産に分け、金融資産を現預金と投融資に分けます。負債も有利子負債と営業負債に分類します。営業資産から営業負債を控除したものを「純営業資産」、有利子負債から現預金を控除したものを「純有利子負債」とし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「純営業資産」と「投融資」を足したものが「企業価値」というストックであり、これに対応するフローが「純営業資産」が生み出す営業利益と「投融資」が生み出す営業外収益の合計である</a:t>
            </a:r>
            <a:r>
              <a:rPr lang="en-US" altLang="ja-JP" sz="1000">
                <a:latin typeface="ＭＳ Ｐ明朝" panose="02020600040205080304" pitchFamily="18" charset="-128"/>
                <a:ea typeface="ＭＳ Ｐ明朝" panose="02020600040205080304" pitchFamily="18" charset="-128"/>
              </a:rPr>
              <a:t>EBIT</a:t>
            </a:r>
            <a:r>
              <a:rPr lang="ja-JP" altLang="en-US" sz="1000">
                <a:latin typeface="ＭＳ Ｐ明朝" panose="02020600040205080304" pitchFamily="18" charset="-128"/>
                <a:ea typeface="ＭＳ Ｐ明朝" panose="02020600040205080304" pitchFamily="18" charset="-128"/>
              </a:rPr>
              <a:t>（</a:t>
            </a:r>
            <a:r>
              <a:rPr lang="en-US" altLang="ja-JP" sz="1000">
                <a:latin typeface="ＭＳ Ｐ明朝" panose="02020600040205080304" pitchFamily="18" charset="-128"/>
                <a:ea typeface="ＭＳ Ｐ明朝" panose="02020600040205080304" pitchFamily="18" charset="-128"/>
              </a:rPr>
              <a:t>Earnings Before Interest,Taxes)</a:t>
            </a:r>
            <a:r>
              <a:rPr lang="ja-JP" altLang="en-US" sz="1000">
                <a:latin typeface="ＭＳ Ｐ明朝" panose="02020600040205080304" pitchFamily="18" charset="-128"/>
                <a:ea typeface="ＭＳ Ｐ明朝" panose="02020600040205080304" pitchFamily="18" charset="-128"/>
              </a:rPr>
              <a:t>となります。</a:t>
            </a:r>
          </a:p>
        </p:txBody>
      </p:sp>
      <p:pic>
        <p:nvPicPr>
          <p:cNvPr id="1850409" name="Picture 41">
            <a:extLst>
              <a:ext uri="{FF2B5EF4-FFF2-40B4-BE49-F238E27FC236}">
                <a16:creationId xmlns:a16="http://schemas.microsoft.com/office/drawing/2014/main" id="{05602C30-6B58-4907-1F7A-413C7D7BF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6562725"/>
            <a:ext cx="5791200" cy="3114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50410" name="Rectangle 42">
            <a:extLst>
              <a:ext uri="{FF2B5EF4-FFF2-40B4-BE49-F238E27FC236}">
                <a16:creationId xmlns:a16="http://schemas.microsoft.com/office/drawing/2014/main" id="{171353CF-E024-32D4-E1AB-4FD62F24B9AC}"/>
              </a:ext>
            </a:extLst>
          </p:cNvPr>
          <p:cNvSpPr>
            <a:spLocks noChangeArrowheads="1"/>
          </p:cNvSpPr>
          <p:nvPr/>
        </p:nvSpPr>
        <p:spPr bwMode="auto">
          <a:xfrm>
            <a:off x="533400" y="61849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2-1-1</a:t>
            </a:r>
          </a:p>
        </p:txBody>
      </p:sp>
      <p:sp>
        <p:nvSpPr>
          <p:cNvPr id="1850411" name="Rectangle 43">
            <a:extLst>
              <a:ext uri="{FF2B5EF4-FFF2-40B4-BE49-F238E27FC236}">
                <a16:creationId xmlns:a16="http://schemas.microsoft.com/office/drawing/2014/main" id="{1C8C840E-163E-C241-B6FA-43F27ED6E09D}"/>
              </a:ext>
            </a:extLst>
          </p:cNvPr>
          <p:cNvSpPr>
            <a:spLocks noChangeArrowheads="1"/>
          </p:cNvSpPr>
          <p:nvPr/>
        </p:nvSpPr>
        <p:spPr bwMode="auto">
          <a:xfrm>
            <a:off x="1482725" y="61849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企業財務の基本バランスシートおよびストックとフローの対応関係</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3572" name="Rectangle 4">
            <a:extLst>
              <a:ext uri="{FF2B5EF4-FFF2-40B4-BE49-F238E27FC236}">
                <a16:creationId xmlns:a16="http://schemas.microsoft.com/office/drawing/2014/main" id="{43B45A43-2A02-E92F-F959-47487C1F24E1}"/>
              </a:ext>
            </a:extLst>
          </p:cNvPr>
          <p:cNvSpPr>
            <a:spLocks noChangeArrowheads="1"/>
          </p:cNvSpPr>
          <p:nvPr/>
        </p:nvSpPr>
        <p:spPr bwMode="auto">
          <a:xfrm>
            <a:off x="533400" y="9906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財務分析の体系</a:t>
            </a:r>
          </a:p>
        </p:txBody>
      </p:sp>
      <p:sp>
        <p:nvSpPr>
          <p:cNvPr id="1773573" name="Line 5">
            <a:extLst>
              <a:ext uri="{FF2B5EF4-FFF2-40B4-BE49-F238E27FC236}">
                <a16:creationId xmlns:a16="http://schemas.microsoft.com/office/drawing/2014/main" id="{5D30D8E0-BAD1-EC1F-CC4A-6E3A40562C8A}"/>
              </a:ext>
            </a:extLst>
          </p:cNvPr>
          <p:cNvSpPr>
            <a:spLocks noChangeShapeType="1"/>
          </p:cNvSpPr>
          <p:nvPr/>
        </p:nvSpPr>
        <p:spPr bwMode="auto">
          <a:xfrm>
            <a:off x="533400" y="12954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73574" name="Rectangle 6">
            <a:extLst>
              <a:ext uri="{FF2B5EF4-FFF2-40B4-BE49-F238E27FC236}">
                <a16:creationId xmlns:a16="http://schemas.microsoft.com/office/drawing/2014/main" id="{CCEAAE14-FDA7-8AC0-1083-E1C527B149AE}"/>
              </a:ext>
            </a:extLst>
          </p:cNvPr>
          <p:cNvSpPr>
            <a:spLocks noChangeArrowheads="1"/>
          </p:cNvSpPr>
          <p:nvPr/>
        </p:nvSpPr>
        <p:spPr bwMode="auto">
          <a:xfrm>
            <a:off x="914400" y="1295400"/>
            <a:ext cx="5410200" cy="4419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企業の事業面から来る財務上の問題について分析するためには、前述した純営業資産がどれだけの営業利益を生んでいるかについて検討して、事業が非効率となっている原因は何か、どこに効率化の余地があるのかを適切に把握する必要があり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効率化の余地を検討する際には、事業全体を網羅的にモニタリングして、最も非効率な要素を改善していくという方法が有効となります。モニタリングする方法として一般的には、最終的な事業の評価指標、例えば営業</a:t>
            </a:r>
            <a:r>
              <a:rPr lang="en-US" altLang="ja-JP" sz="1000">
                <a:latin typeface="ＭＳ Ｐ明朝" panose="02020600040205080304" pitchFamily="18" charset="-128"/>
                <a:ea typeface="ＭＳ Ｐ明朝" panose="02020600040205080304" pitchFamily="18" charset="-128"/>
              </a:rPr>
              <a:t>ROIC</a:t>
            </a:r>
            <a:r>
              <a:rPr lang="ja-JP" altLang="en-US" sz="1000">
                <a:latin typeface="ＭＳ Ｐ明朝" panose="02020600040205080304" pitchFamily="18" charset="-128"/>
                <a:ea typeface="ＭＳ Ｐ明朝" panose="02020600040205080304" pitchFamily="18" charset="-128"/>
              </a:rPr>
              <a:t>（営業利益／純営業資産）のような指標を設定し、この指標を構成する各種指標を要素分解して構造化したうえで、整理した全ての指標をモニタリングして最終的な指標を悪化させている指標（要因）を特定する方法が多くの企業で実施されてい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指標の構造分析の例としては、まず営業</a:t>
            </a:r>
            <a:r>
              <a:rPr lang="en-US" altLang="ja-JP" sz="1000">
                <a:latin typeface="ＭＳ Ｐ明朝" panose="02020600040205080304" pitchFamily="18" charset="-128"/>
                <a:ea typeface="ＭＳ Ｐ明朝" panose="02020600040205080304" pitchFamily="18" charset="-128"/>
              </a:rPr>
              <a:t>ROIC</a:t>
            </a:r>
            <a:r>
              <a:rPr lang="ja-JP" altLang="en-US" sz="1000">
                <a:latin typeface="ＭＳ Ｐ明朝" panose="02020600040205080304" pitchFamily="18" charset="-128"/>
                <a:ea typeface="ＭＳ Ｐ明朝" panose="02020600040205080304" pitchFamily="18" charset="-128"/>
              </a:rPr>
              <a:t>を売上高利益率と純営業資産回転率に分解します。 売上高利益率は更に、売上高粗利益率、売上高販売管理費率、売上高法人税率へと分解されます。また純営業資産回転率についても、営業固定資産回転率と運転資本回転率に分解可能です（図表</a:t>
            </a:r>
            <a:r>
              <a:rPr lang="en-US" altLang="ja-JP" sz="1000">
                <a:latin typeface="ＭＳ Ｐ明朝" panose="02020600040205080304" pitchFamily="18" charset="-128"/>
                <a:ea typeface="ＭＳ Ｐ明朝" panose="02020600040205080304" pitchFamily="18" charset="-128"/>
              </a:rPr>
              <a:t>2-1-2</a:t>
            </a:r>
            <a:r>
              <a:rPr lang="ja-JP" altLang="en-US" sz="1000">
                <a:latin typeface="ＭＳ Ｐ明朝" panose="02020600040205080304" pitchFamily="18" charset="-128"/>
                <a:ea typeface="ＭＳ Ｐ明朝" panose="02020600040205080304" pitchFamily="18" charset="-128"/>
              </a:rPr>
              <a:t>を参照）。</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このように指標を体系化して分析することで、問題の所在を明らかします。例えば営業</a:t>
            </a:r>
            <a:r>
              <a:rPr lang="en-US" altLang="ja-JP" sz="1000">
                <a:latin typeface="ＭＳ Ｐ明朝" panose="02020600040205080304" pitchFamily="18" charset="-128"/>
                <a:ea typeface="ＭＳ Ｐ明朝" panose="02020600040205080304" pitchFamily="18" charset="-128"/>
              </a:rPr>
              <a:t>ROIC</a:t>
            </a:r>
            <a:r>
              <a:rPr lang="ja-JP" altLang="en-US" sz="1000">
                <a:latin typeface="ＭＳ Ｐ明朝" panose="02020600040205080304" pitchFamily="18" charset="-128"/>
                <a:ea typeface="ＭＳ Ｐ明朝" panose="02020600040205080304" pitchFamily="18" charset="-128"/>
              </a:rPr>
              <a:t>の悪化→営業利益率の悪化→販管費率の悪化→販売費の多額化というように、売上に対して販売経費が過剰であることが問題であるとか、あるいは、営業</a:t>
            </a:r>
            <a:r>
              <a:rPr lang="en-US" altLang="ja-JP" sz="1000">
                <a:latin typeface="ＭＳ Ｐ明朝" panose="02020600040205080304" pitchFamily="18" charset="-128"/>
                <a:ea typeface="ＭＳ Ｐ明朝" panose="02020600040205080304" pitchFamily="18" charset="-128"/>
              </a:rPr>
              <a:t>ROIC</a:t>
            </a:r>
            <a:r>
              <a:rPr lang="ja-JP" altLang="en-US" sz="1000">
                <a:latin typeface="ＭＳ Ｐ明朝" panose="02020600040205080304" pitchFamily="18" charset="-128"/>
                <a:ea typeface="ＭＳ Ｐ明朝" panose="02020600040205080304" pitchFamily="18" charset="-128"/>
              </a:rPr>
              <a:t>の悪化→純営業資産回転率（売上／純営業資産）の低下→営業固定資産回転率（売上／営業固定資産）の低下というように、売上と営業固定資産のバランスが崩れていることが問題である等と認識できれば、取るべき施策について正しい判断ができるようになり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この際には単に数値を測定するだけではなく、ライバル会社や業界平均と比較したり、近年の趨勢を分析することにより、問題の所在を把握することができます。</a:t>
            </a:r>
          </a:p>
        </p:txBody>
      </p:sp>
      <p:sp>
        <p:nvSpPr>
          <p:cNvPr id="1773575" name="Rectangle 7">
            <a:extLst>
              <a:ext uri="{FF2B5EF4-FFF2-40B4-BE49-F238E27FC236}">
                <a16:creationId xmlns:a16="http://schemas.microsoft.com/office/drawing/2014/main" id="{E5863A40-8FB5-FF21-2073-98AC92BEFD02}"/>
              </a:ext>
            </a:extLst>
          </p:cNvPr>
          <p:cNvSpPr>
            <a:spLocks noChangeArrowheads="1"/>
          </p:cNvSpPr>
          <p:nvPr/>
        </p:nvSpPr>
        <p:spPr bwMode="auto">
          <a:xfrm>
            <a:off x="533400" y="57912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2-1-2</a:t>
            </a:r>
          </a:p>
        </p:txBody>
      </p:sp>
      <p:sp>
        <p:nvSpPr>
          <p:cNvPr id="1773576" name="Rectangle 8">
            <a:extLst>
              <a:ext uri="{FF2B5EF4-FFF2-40B4-BE49-F238E27FC236}">
                <a16:creationId xmlns:a16="http://schemas.microsoft.com/office/drawing/2014/main" id="{BFB7D4D4-87D4-0FE0-EC96-D1F6BF413F75}"/>
              </a:ext>
            </a:extLst>
          </p:cNvPr>
          <p:cNvSpPr>
            <a:spLocks noChangeArrowheads="1"/>
          </p:cNvSpPr>
          <p:nvPr/>
        </p:nvSpPr>
        <p:spPr bwMode="auto">
          <a:xfrm>
            <a:off x="1482725" y="57912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純営業資産のリターンに関する主な指標</a:t>
            </a:r>
          </a:p>
        </p:txBody>
      </p:sp>
      <p:pic>
        <p:nvPicPr>
          <p:cNvPr id="1773577" name="Picture 9">
            <a:extLst>
              <a:ext uri="{FF2B5EF4-FFF2-40B4-BE49-F238E27FC236}">
                <a16:creationId xmlns:a16="http://schemas.microsoft.com/office/drawing/2014/main" id="{D6CAEA54-4E44-0441-C4A7-DF5C4A434E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5983288"/>
            <a:ext cx="5791200" cy="2854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73578" name="Line 10">
            <a:extLst>
              <a:ext uri="{FF2B5EF4-FFF2-40B4-BE49-F238E27FC236}">
                <a16:creationId xmlns:a16="http://schemas.microsoft.com/office/drawing/2014/main" id="{16E1AF26-7B32-C367-28C6-53780C81273F}"/>
              </a:ext>
            </a:extLst>
          </p:cNvPr>
          <p:cNvSpPr>
            <a:spLocks noChangeShapeType="1"/>
          </p:cNvSpPr>
          <p:nvPr/>
        </p:nvSpPr>
        <p:spPr bwMode="auto">
          <a:xfrm>
            <a:off x="914400" y="8458200"/>
            <a:ext cx="0" cy="1143000"/>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73579" name="Rectangle 11">
            <a:extLst>
              <a:ext uri="{FF2B5EF4-FFF2-40B4-BE49-F238E27FC236}">
                <a16:creationId xmlns:a16="http://schemas.microsoft.com/office/drawing/2014/main" id="{E618653A-8F23-310C-F6D5-8E0AD110CF7E}"/>
              </a:ext>
            </a:extLst>
          </p:cNvPr>
          <p:cNvSpPr>
            <a:spLocks noChangeArrowheads="1"/>
          </p:cNvSpPr>
          <p:nvPr/>
        </p:nvSpPr>
        <p:spPr bwMode="auto">
          <a:xfrm>
            <a:off x="914400" y="8443913"/>
            <a:ext cx="5410200" cy="13096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114300"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buFont typeface="Wingdings" panose="05000000000000000000" pitchFamily="2" charset="2"/>
              <a:buNone/>
            </a:pPr>
            <a:r>
              <a:rPr lang="ja-JP" altLang="en-US" sz="1200">
                <a:latin typeface="ＭＳ Ｐゴシック" panose="020B0600070205080204" pitchFamily="50" charset="-128"/>
              </a:rPr>
              <a:t>＜まとめ＞</a:t>
            </a:r>
          </a:p>
          <a:p>
            <a:pPr>
              <a:lnSpc>
                <a:spcPct val="120000"/>
              </a:lnSpc>
              <a:buFont typeface="Wingdings" panose="05000000000000000000" pitchFamily="2" charset="2"/>
              <a:buChar char="ü"/>
            </a:pPr>
            <a:endParaRPr lang="ja-JP" altLang="en-US" sz="1200">
              <a:latin typeface="ＭＳ Ｐゴシック" panose="020B0600070205080204" pitchFamily="50" charset="-128"/>
            </a:endParaRPr>
          </a:p>
          <a:p>
            <a:pPr>
              <a:lnSpc>
                <a:spcPct val="120000"/>
              </a:lnSpc>
              <a:buFont typeface="Wingdings" panose="05000000000000000000" pitchFamily="2" charset="2"/>
              <a:buChar char="ü"/>
            </a:pPr>
            <a:r>
              <a:rPr lang="ja-JP" altLang="en-US" sz="1200">
                <a:latin typeface="ＭＳ Ｐゴシック" panose="020B0600070205080204" pitchFamily="50" charset="-128"/>
              </a:rPr>
              <a:t>企業財務において、ストックとフローの対応関係を正しく捉えることが必要です。</a:t>
            </a:r>
          </a:p>
          <a:p>
            <a:pPr>
              <a:lnSpc>
                <a:spcPct val="120000"/>
              </a:lnSpc>
              <a:buFont typeface="Wingdings" panose="05000000000000000000" pitchFamily="2" charset="2"/>
              <a:buChar char="ü"/>
            </a:pPr>
            <a:endParaRPr lang="ja-JP" altLang="en-US" sz="1200">
              <a:latin typeface="ＭＳ Ｐゴシック" panose="020B0600070205080204" pitchFamily="50" charset="-128"/>
            </a:endParaRPr>
          </a:p>
          <a:p>
            <a:pPr>
              <a:lnSpc>
                <a:spcPct val="120000"/>
              </a:lnSpc>
              <a:buFont typeface="Wingdings" panose="05000000000000000000" pitchFamily="2" charset="2"/>
              <a:buChar char="ü"/>
            </a:pPr>
            <a:r>
              <a:rPr lang="ja-JP" altLang="en-US" sz="1200">
                <a:latin typeface="ＭＳ Ｐゴシック" panose="020B0600070205080204" pitchFamily="50" charset="-128"/>
              </a:rPr>
              <a:t>営業ＲＯＩＣを構造的に分析することで、事業運営上の問題点を明らかにします。</a:t>
            </a:r>
          </a:p>
        </p:txBody>
      </p:sp>
      <p:grpSp>
        <p:nvGrpSpPr>
          <p:cNvPr id="1773580" name="Group 12">
            <a:extLst>
              <a:ext uri="{FF2B5EF4-FFF2-40B4-BE49-F238E27FC236}">
                <a16:creationId xmlns:a16="http://schemas.microsoft.com/office/drawing/2014/main" id="{66082A11-1918-6D5E-F8C1-805680D3D624}"/>
              </a:ext>
            </a:extLst>
          </p:cNvPr>
          <p:cNvGrpSpPr>
            <a:grpSpLocks/>
          </p:cNvGrpSpPr>
          <p:nvPr/>
        </p:nvGrpSpPr>
        <p:grpSpPr bwMode="auto">
          <a:xfrm>
            <a:off x="5156200" y="0"/>
            <a:ext cx="1549400" cy="228600"/>
            <a:chOff x="2928" y="-48"/>
            <a:chExt cx="1392" cy="192"/>
          </a:xfrm>
        </p:grpSpPr>
        <p:sp>
          <p:nvSpPr>
            <p:cNvPr id="1773581" name="Line 13">
              <a:extLst>
                <a:ext uri="{FF2B5EF4-FFF2-40B4-BE49-F238E27FC236}">
                  <a16:creationId xmlns:a16="http://schemas.microsoft.com/office/drawing/2014/main" id="{4F915594-E10B-35CF-D57B-C5E3D8F5F3EC}"/>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773582" name="Rectangle 14">
              <a:extLst>
                <a:ext uri="{FF2B5EF4-FFF2-40B4-BE49-F238E27FC236}">
                  <a16:creationId xmlns:a16="http://schemas.microsoft.com/office/drawing/2014/main" id="{A4CE30F7-C007-EA8E-14D6-8ECCC6872D4F}"/>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ＭＳ Ｐゴシック" panose="020B0600070205080204" pitchFamily="50" charset="-128"/>
                </a:rPr>
                <a:t>Ⅱ</a:t>
              </a:r>
              <a:r>
                <a:rPr lang="ja-JP" altLang="en-US" sz="1000">
                  <a:latin typeface="ＭＳ Ｐゴシック" panose="020B0600070205080204" pitchFamily="50" charset="-128"/>
                </a:rPr>
                <a:t>　財務上の問題分析</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8325" name="Oval 1029">
            <a:extLst>
              <a:ext uri="{FF2B5EF4-FFF2-40B4-BE49-F238E27FC236}">
                <a16:creationId xmlns:a16="http://schemas.microsoft.com/office/drawing/2014/main" id="{D58ADFA7-6791-5B33-596D-1C2CFF6F6359}"/>
              </a:ext>
            </a:extLst>
          </p:cNvPr>
          <p:cNvSpPr>
            <a:spLocks noChangeArrowheads="1"/>
          </p:cNvSpPr>
          <p:nvPr/>
        </p:nvSpPr>
        <p:spPr bwMode="auto">
          <a:xfrm>
            <a:off x="533400" y="914400"/>
            <a:ext cx="381000" cy="381000"/>
          </a:xfrm>
          <a:prstGeom prst="ellipse">
            <a:avLst/>
          </a:prstGeom>
          <a:gradFill rotWithShape="0">
            <a:gsLst>
              <a:gs pos="0">
                <a:srgbClr val="333333"/>
              </a:gs>
              <a:gs pos="100000">
                <a:schemeClr val="folHlink"/>
              </a:gs>
            </a:gsLst>
            <a:lin ang="2700000" scaled="1"/>
          </a:gradFill>
          <a:ln>
            <a:noFill/>
          </a:ln>
          <a:effectLst/>
          <a:extLst>
            <a:ext uri="{91240B29-F687-4F45-9708-019B960494DF}">
              <a14:hiddenLine xmlns:a14="http://schemas.microsoft.com/office/drawing/2010/main" w="3175">
                <a:solidFill>
                  <a:srgbClr val="99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b="1">
                <a:solidFill>
                  <a:schemeClr val="bg1"/>
                </a:solidFill>
                <a:latin typeface="Arial" panose="020B0604020202020204" pitchFamily="34" charset="0"/>
              </a:rPr>
              <a:t>2</a:t>
            </a:r>
          </a:p>
        </p:txBody>
      </p:sp>
      <p:sp>
        <p:nvSpPr>
          <p:cNvPr id="1848326" name="Rectangle 1030">
            <a:extLst>
              <a:ext uri="{FF2B5EF4-FFF2-40B4-BE49-F238E27FC236}">
                <a16:creationId xmlns:a16="http://schemas.microsoft.com/office/drawing/2014/main" id="{3F113E21-4F22-C296-F6C7-18AF911A9CCD}"/>
              </a:ext>
            </a:extLst>
          </p:cNvPr>
          <p:cNvSpPr>
            <a:spLocks noChangeArrowheads="1"/>
          </p:cNvSpPr>
          <p:nvPr/>
        </p:nvSpPr>
        <p:spPr bwMode="auto">
          <a:xfrm>
            <a:off x="762000" y="9906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400" b="1"/>
              <a:t>損益構造に関する分析</a:t>
            </a:r>
          </a:p>
        </p:txBody>
      </p:sp>
      <p:sp>
        <p:nvSpPr>
          <p:cNvPr id="1848327" name="Line 1031">
            <a:extLst>
              <a:ext uri="{FF2B5EF4-FFF2-40B4-BE49-F238E27FC236}">
                <a16:creationId xmlns:a16="http://schemas.microsoft.com/office/drawing/2014/main" id="{DF07AF8D-41E7-E30C-AD4F-7DFAF2BFD877}"/>
              </a:ext>
            </a:extLst>
          </p:cNvPr>
          <p:cNvSpPr>
            <a:spLocks noChangeShapeType="1"/>
          </p:cNvSpPr>
          <p:nvPr/>
        </p:nvSpPr>
        <p:spPr bwMode="auto">
          <a:xfrm>
            <a:off x="914400" y="1371600"/>
            <a:ext cx="1588" cy="914400"/>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48328" name="Rectangle 1032">
            <a:extLst>
              <a:ext uri="{FF2B5EF4-FFF2-40B4-BE49-F238E27FC236}">
                <a16:creationId xmlns:a16="http://schemas.microsoft.com/office/drawing/2014/main" id="{50F17D17-529F-3F3D-9BD3-B6B355E91F8C}"/>
              </a:ext>
            </a:extLst>
          </p:cNvPr>
          <p:cNvSpPr>
            <a:spLocks noChangeArrowheads="1"/>
          </p:cNvSpPr>
          <p:nvPr/>
        </p:nvSpPr>
        <p:spPr bwMode="auto">
          <a:xfrm>
            <a:off x="533400" y="25908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損益分岐点分析の意義と算出の考え方</a:t>
            </a:r>
          </a:p>
        </p:txBody>
      </p:sp>
      <p:sp>
        <p:nvSpPr>
          <p:cNvPr id="1848329" name="Line 1033">
            <a:extLst>
              <a:ext uri="{FF2B5EF4-FFF2-40B4-BE49-F238E27FC236}">
                <a16:creationId xmlns:a16="http://schemas.microsoft.com/office/drawing/2014/main" id="{78CAD5B5-44D3-4689-D081-9AF663134146}"/>
              </a:ext>
            </a:extLst>
          </p:cNvPr>
          <p:cNvSpPr>
            <a:spLocks noChangeShapeType="1"/>
          </p:cNvSpPr>
          <p:nvPr/>
        </p:nvSpPr>
        <p:spPr bwMode="auto">
          <a:xfrm>
            <a:off x="533400" y="28956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48330" name="Rectangle 1034">
            <a:extLst>
              <a:ext uri="{FF2B5EF4-FFF2-40B4-BE49-F238E27FC236}">
                <a16:creationId xmlns:a16="http://schemas.microsoft.com/office/drawing/2014/main" id="{FA8C6624-B72F-BE08-98C6-40DCC053C90F}"/>
              </a:ext>
            </a:extLst>
          </p:cNvPr>
          <p:cNvSpPr>
            <a:spLocks noChangeArrowheads="1"/>
          </p:cNvSpPr>
          <p:nvPr/>
        </p:nvSpPr>
        <p:spPr bwMode="auto">
          <a:xfrm>
            <a:off x="914400" y="2895600"/>
            <a:ext cx="5410200" cy="38100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292100" indent="-101600"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just">
              <a:lnSpc>
                <a:spcPct val="120000"/>
              </a:lnSpc>
            </a:pPr>
            <a:r>
              <a:rPr kumimoji="0" lang="ja-JP" altLang="en-US" sz="1000">
                <a:latin typeface="ＭＳ Ｐ明朝" panose="02020600040205080304" pitchFamily="18" charset="-128"/>
                <a:ea typeface="ＭＳ Ｐ明朝" panose="02020600040205080304" pitchFamily="18" charset="-128"/>
              </a:rPr>
              <a:t>「損益分岐点」とは文字通り企業の業績が損失となるか利益となるかの境目、すなわち収益と費用が等しくなり黒字でも赤字でもなく利益がゼロという状態を意味します（図表</a:t>
            </a:r>
            <a:r>
              <a:rPr kumimoji="0" lang="en-US" altLang="ja-JP" sz="1000">
                <a:latin typeface="ＭＳ Ｐ明朝" panose="02020600040205080304" pitchFamily="18" charset="-128"/>
                <a:ea typeface="ＭＳ Ｐ明朝" panose="02020600040205080304" pitchFamily="18" charset="-128"/>
              </a:rPr>
              <a:t>2-2-1</a:t>
            </a:r>
            <a:r>
              <a:rPr kumimoji="0" lang="ja-JP" altLang="en-US" sz="1000">
                <a:latin typeface="ＭＳ Ｐ明朝" panose="02020600040205080304" pitchFamily="18" charset="-128"/>
                <a:ea typeface="ＭＳ Ｐ明朝" panose="02020600040205080304" pitchFamily="18" charset="-128"/>
              </a:rPr>
              <a:t>参照）。損益分岐点分析を行うことで、このような採算の分かれ目を見出して、中堅／中小企業が計数管理に基づいた経営を進めるために役立てるようにします。</a:t>
            </a:r>
          </a:p>
          <a:p>
            <a:pPr algn="just">
              <a:lnSpc>
                <a:spcPct val="120000"/>
              </a:lnSpc>
            </a:pPr>
            <a:endParaRPr kumimoji="0" lang="ja-JP" altLang="en-US" sz="1000">
              <a:latin typeface="ＭＳ Ｐ明朝" panose="02020600040205080304" pitchFamily="18" charset="-128"/>
              <a:ea typeface="ＭＳ Ｐ明朝" panose="02020600040205080304" pitchFamily="18" charset="-128"/>
            </a:endParaRPr>
          </a:p>
          <a:p>
            <a:pPr algn="just">
              <a:lnSpc>
                <a:spcPct val="120000"/>
              </a:lnSpc>
            </a:pPr>
            <a:r>
              <a:rPr kumimoji="0" lang="ja-JP" altLang="en-US" sz="1000">
                <a:latin typeface="ＭＳ Ｐ明朝" panose="02020600040205080304" pitchFamily="18" charset="-128"/>
                <a:ea typeface="ＭＳ Ｐ明朝" panose="02020600040205080304" pitchFamily="18" charset="-128"/>
              </a:rPr>
              <a:t>利益を増やすために売上を増やすことは誰もが考えることです。しかし、例えば売上高が現在より</a:t>
            </a:r>
            <a:r>
              <a:rPr kumimoji="0" lang="en-US" altLang="ja-JP" sz="1000">
                <a:latin typeface="ＭＳ Ｐ明朝" panose="02020600040205080304" pitchFamily="18" charset="-128"/>
                <a:ea typeface="ＭＳ Ｐ明朝" panose="02020600040205080304" pitchFamily="18" charset="-128"/>
              </a:rPr>
              <a:t>30%</a:t>
            </a:r>
            <a:r>
              <a:rPr kumimoji="0" lang="ja-JP" altLang="en-US" sz="1000">
                <a:latin typeface="ＭＳ Ｐ明朝" panose="02020600040205080304" pitchFamily="18" charset="-128"/>
                <a:ea typeface="ＭＳ Ｐ明朝" panose="02020600040205080304" pitchFamily="18" charset="-128"/>
              </a:rPr>
              <a:t>増えたときに、利益も</a:t>
            </a:r>
            <a:r>
              <a:rPr kumimoji="0" lang="en-US" altLang="ja-JP" sz="1000">
                <a:latin typeface="ＭＳ Ｐ明朝" panose="02020600040205080304" pitchFamily="18" charset="-128"/>
                <a:ea typeface="ＭＳ Ｐ明朝" panose="02020600040205080304" pitchFamily="18" charset="-128"/>
              </a:rPr>
              <a:t>30%</a:t>
            </a:r>
            <a:r>
              <a:rPr kumimoji="0" lang="ja-JP" altLang="en-US" sz="1000">
                <a:latin typeface="ＭＳ Ｐ明朝" panose="02020600040205080304" pitchFamily="18" charset="-128"/>
                <a:ea typeface="ＭＳ Ｐ明朝" panose="02020600040205080304" pitchFamily="18" charset="-128"/>
              </a:rPr>
              <a:t>増えるとは限りません。売上の増大に対して、費用がどれだけ増えて、その結果として利益がいくらになるのかについて動態的な関係を分析することが必要です。こうした売上高と利益の関係を分析する手法が損益分岐点分析であり、今のところは損失を計上している会社が、これからどれだけ売上高を増やせば黒字経営に転換できるか、という基本的な経営課題にも役立てられ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売上高に対して費用はどう発生するかは、それぞれの費用によって異なります。売上原価等のように売上高の増加に比例して増加するものもある一方、売上高の増加とは無関係に一定の費用が発生する地代家賃のようなものもあります。損益分岐点分析を行うことで、こうした売上高と費用の関係を明確に把握して両者の間の動態的な関係を分析できるようになります。 </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損益分岐点分析を行うことの一つの重要な効果は、計数管理が進んでいない企業に対し、どれだけの売上を確保する必要があるかという明確な目標値を示しうることです。損益分岐点分析を活用することで、企業が「どんぶり勘定」から脱するためのきっかけとなる可能性があります。</a:t>
            </a:r>
          </a:p>
        </p:txBody>
      </p:sp>
      <p:sp>
        <p:nvSpPr>
          <p:cNvPr id="1848331" name="Rectangle 1035">
            <a:extLst>
              <a:ext uri="{FF2B5EF4-FFF2-40B4-BE49-F238E27FC236}">
                <a16:creationId xmlns:a16="http://schemas.microsoft.com/office/drawing/2014/main" id="{7335B01D-53A9-693C-F8D8-2286D901E4B5}"/>
              </a:ext>
            </a:extLst>
          </p:cNvPr>
          <p:cNvSpPr>
            <a:spLocks noChangeArrowheads="1"/>
          </p:cNvSpPr>
          <p:nvPr/>
        </p:nvSpPr>
        <p:spPr bwMode="auto">
          <a:xfrm>
            <a:off x="914400" y="1371600"/>
            <a:ext cx="5410200" cy="83820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defTabSz="292100">
              <a:defRPr kumimoji="1" sz="2400">
                <a:solidFill>
                  <a:schemeClr val="tx1"/>
                </a:solidFill>
                <a:latin typeface="Times New Roman" panose="02020603050405020304" pitchFamily="18" charset="0"/>
                <a:ea typeface="ＭＳ Ｐゴシック" panose="020B0600070205080204" pitchFamily="50" charset="-128"/>
              </a:defRPr>
            </a:lvl1pPr>
            <a:lvl2pPr algn="l" defTabSz="292100">
              <a:defRPr kumimoji="1" sz="2400">
                <a:solidFill>
                  <a:schemeClr val="tx1"/>
                </a:solidFill>
                <a:latin typeface="Times New Roman" panose="02020603050405020304" pitchFamily="18" charset="0"/>
                <a:ea typeface="ＭＳ Ｐゴシック" panose="020B0600070205080204" pitchFamily="50" charset="-128"/>
              </a:defRPr>
            </a:lvl2pPr>
            <a:lvl3pPr algn="l" defTabSz="292100">
              <a:defRPr kumimoji="1" sz="2400">
                <a:solidFill>
                  <a:schemeClr val="tx1"/>
                </a:solidFill>
                <a:latin typeface="Times New Roman" panose="02020603050405020304" pitchFamily="18" charset="0"/>
                <a:ea typeface="ＭＳ Ｐゴシック" panose="020B0600070205080204" pitchFamily="50" charset="-128"/>
              </a:defRPr>
            </a:lvl3pPr>
            <a:lvl4pPr algn="l" defTabSz="292100">
              <a:defRPr kumimoji="1" sz="2400">
                <a:solidFill>
                  <a:schemeClr val="tx1"/>
                </a:solidFill>
                <a:latin typeface="Times New Roman" panose="02020603050405020304" pitchFamily="18" charset="0"/>
                <a:ea typeface="ＭＳ Ｐゴシック" panose="020B0600070205080204" pitchFamily="50" charset="-128"/>
              </a:defRPr>
            </a:lvl4pPr>
            <a:lvl5pPr algn="l" defTabSz="292100">
              <a:defRPr kumimoji="1" sz="2400">
                <a:solidFill>
                  <a:schemeClr val="tx1"/>
                </a:solidFill>
                <a:latin typeface="Times New Roman" panose="02020603050405020304" pitchFamily="18" charset="0"/>
                <a:ea typeface="ＭＳ Ｐゴシック" panose="020B0600070205080204" pitchFamily="50" charset="-128"/>
              </a:defRPr>
            </a:lvl5pPr>
            <a:lvl6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200">
                <a:latin typeface="ＭＳ Ｐゴシック" panose="020B0600070205080204" pitchFamily="50" charset="-128"/>
              </a:rPr>
              <a:t>損益分岐点分析を活用した事業の損益構造についての問題把握方法とその際の留意点について説明します。</a:t>
            </a:r>
          </a:p>
        </p:txBody>
      </p:sp>
      <p:sp>
        <p:nvSpPr>
          <p:cNvPr id="1848359" name="Rectangle 1063">
            <a:extLst>
              <a:ext uri="{FF2B5EF4-FFF2-40B4-BE49-F238E27FC236}">
                <a16:creationId xmlns:a16="http://schemas.microsoft.com/office/drawing/2014/main" id="{02FE0161-0D29-5923-5730-8AC67B5E0B5F}"/>
              </a:ext>
            </a:extLst>
          </p:cNvPr>
          <p:cNvSpPr>
            <a:spLocks noChangeArrowheads="1"/>
          </p:cNvSpPr>
          <p:nvPr/>
        </p:nvSpPr>
        <p:spPr bwMode="auto">
          <a:xfrm>
            <a:off x="533400" y="67056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2-2-1</a:t>
            </a:r>
          </a:p>
        </p:txBody>
      </p:sp>
      <p:sp>
        <p:nvSpPr>
          <p:cNvPr id="1848360" name="Rectangle 1064">
            <a:extLst>
              <a:ext uri="{FF2B5EF4-FFF2-40B4-BE49-F238E27FC236}">
                <a16:creationId xmlns:a16="http://schemas.microsoft.com/office/drawing/2014/main" id="{B9D8F058-735C-5F8A-0D87-9C217960F473}"/>
              </a:ext>
            </a:extLst>
          </p:cNvPr>
          <p:cNvSpPr>
            <a:spLocks noChangeArrowheads="1"/>
          </p:cNvSpPr>
          <p:nvPr/>
        </p:nvSpPr>
        <p:spPr bwMode="auto">
          <a:xfrm>
            <a:off x="1482725" y="67056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損益分岐点分析の仕組み</a:t>
            </a:r>
          </a:p>
        </p:txBody>
      </p:sp>
      <p:pic>
        <p:nvPicPr>
          <p:cNvPr id="1848364" name="Picture 1068">
            <a:extLst>
              <a:ext uri="{FF2B5EF4-FFF2-40B4-BE49-F238E27FC236}">
                <a16:creationId xmlns:a16="http://schemas.microsoft.com/office/drawing/2014/main" id="{318E9E33-FF7A-4657-385E-05EC26826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858000"/>
            <a:ext cx="3657600" cy="2919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7546" name="Rectangle 10">
            <a:extLst>
              <a:ext uri="{FF2B5EF4-FFF2-40B4-BE49-F238E27FC236}">
                <a16:creationId xmlns:a16="http://schemas.microsoft.com/office/drawing/2014/main" id="{E991574B-9543-8103-C724-3B25F07D24D4}"/>
              </a:ext>
            </a:extLst>
          </p:cNvPr>
          <p:cNvSpPr>
            <a:spLocks noChangeArrowheads="1"/>
          </p:cNvSpPr>
          <p:nvPr/>
        </p:nvSpPr>
        <p:spPr bwMode="auto">
          <a:xfrm>
            <a:off x="914400" y="1295400"/>
            <a:ext cx="5410200" cy="4800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88900" algn="l">
              <a:defRPr kumimoji="1" sz="2400">
                <a:solidFill>
                  <a:schemeClr val="tx1"/>
                </a:solidFill>
                <a:latin typeface="Times New Roman" panose="02020603050405020304" pitchFamily="18" charset="0"/>
                <a:ea typeface="ＭＳ Ｐゴシック" panose="020B0600070205080204" pitchFamily="50" charset="-128"/>
              </a:defRPr>
            </a:lvl2pPr>
            <a:lvl3pPr marL="863600" indent="-101600"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just">
              <a:lnSpc>
                <a:spcPct val="120000"/>
              </a:lnSpc>
            </a:pPr>
            <a:r>
              <a:rPr kumimoji="0" lang="ja-JP" altLang="en-US" sz="1000">
                <a:latin typeface="Century" panose="02040604050505020304" pitchFamily="18" charset="0"/>
                <a:ea typeface="ＭＳ Ｐ明朝" panose="02020600040205080304" pitchFamily="18" charset="-128"/>
              </a:rPr>
              <a:t>損益分岐点分析では、費用を売上高との関係によって「変動費」と「固定費」の２つに分けることとなります。変動費とは、売上高の増減に比例して発生額が増減する費用のことをいいます。一方、固定費とは、売上高の増減に関係なくほぼ一定の金額が発生する費用のことで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損益計算書には会社がどれだけの費用を使ったかは示されていますが、それぞれの費用が変動費であるか固定費であるかは書かれていません。実務では、変動費と固定費を区分する作業が必要になります。なお、この作業のことを「固変分解」と呼ぶこともありま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売上高から変動費を引いたものを「限界利益」といい、これは売上高が増えるのに応じて増える利益部分ということになります。限界利益とは、損益計算書上には表示されない損益分岐点分析に特有の利益の考え方ですが、売上高との動態的な関係が明確であるため分析やシミュレーションの目的に適した考え方です。限界利益は売上高から変動費を引いたものでしたから、最終的な損益に至るまでに未だ固定費が残っています。損益分岐点売上高は損益がゼロになる売上高ですので、限界利益と固定費がちょうど同額となる状態の売上高ということになります。これは固定費を限界利益率で割ることによって計算できることになります（図表</a:t>
            </a:r>
            <a:r>
              <a:rPr kumimoji="0" lang="en-US" altLang="ja-JP" sz="1000">
                <a:latin typeface="ＭＳ Ｐ明朝" panose="02020600040205080304" pitchFamily="18" charset="-128"/>
                <a:ea typeface="ＭＳ Ｐ明朝" panose="02020600040205080304" pitchFamily="18" charset="-128"/>
              </a:rPr>
              <a:t>2-2-2</a:t>
            </a:r>
            <a:r>
              <a:rPr kumimoji="0" lang="ja-JP" altLang="en-US" sz="1000">
                <a:latin typeface="Century" panose="02040604050505020304" pitchFamily="18" charset="0"/>
                <a:ea typeface="ＭＳ Ｐ明朝" panose="02020600040205080304" pitchFamily="18" charset="-128"/>
              </a:rPr>
              <a:t>参照）。</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実際の売上高が損益分岐点売上高を上回れば、その上回った額に限界利益率を掛けた分が利益となります。逆に実際の売上高が損益分岐点売上高を下回れば、その下回った額に限界利益率を掛けた分が損失となります。こうした損益分岐点分析の考え方を活用して、売上の変化に対して自社の損益はどのように変化するかという損益構造を把握して経営改善に役立てることが重要です。</a:t>
            </a:r>
          </a:p>
          <a:p>
            <a:pPr algn="just">
              <a:lnSpc>
                <a:spcPct val="120000"/>
              </a:lnSpc>
            </a:pPr>
            <a:endParaRPr kumimoji="0" lang="en-US" altLang="ja-JP" sz="1000">
              <a:latin typeface="Century" panose="02040604050505020304" pitchFamily="18" charset="0"/>
              <a:ea typeface="ＭＳ Ｐ明朝" panose="02020600040205080304" pitchFamily="18" charset="-128"/>
            </a:endParaRPr>
          </a:p>
        </p:txBody>
      </p:sp>
      <p:sp>
        <p:nvSpPr>
          <p:cNvPr id="1857549" name="Rectangle 13">
            <a:extLst>
              <a:ext uri="{FF2B5EF4-FFF2-40B4-BE49-F238E27FC236}">
                <a16:creationId xmlns:a16="http://schemas.microsoft.com/office/drawing/2014/main" id="{FEAAACFA-319E-117E-48E8-0F27D2B77F0E}"/>
              </a:ext>
            </a:extLst>
          </p:cNvPr>
          <p:cNvSpPr>
            <a:spLocks noChangeArrowheads="1"/>
          </p:cNvSpPr>
          <p:nvPr/>
        </p:nvSpPr>
        <p:spPr bwMode="auto">
          <a:xfrm>
            <a:off x="533400" y="64008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2-2-2</a:t>
            </a:r>
          </a:p>
        </p:txBody>
      </p:sp>
      <p:sp>
        <p:nvSpPr>
          <p:cNvPr id="1857550" name="Rectangle 14">
            <a:extLst>
              <a:ext uri="{FF2B5EF4-FFF2-40B4-BE49-F238E27FC236}">
                <a16:creationId xmlns:a16="http://schemas.microsoft.com/office/drawing/2014/main" id="{AFE6E6F5-7D89-B44B-872C-202AC8A2917B}"/>
              </a:ext>
            </a:extLst>
          </p:cNvPr>
          <p:cNvSpPr>
            <a:spLocks noChangeArrowheads="1"/>
          </p:cNvSpPr>
          <p:nvPr/>
        </p:nvSpPr>
        <p:spPr bwMode="auto">
          <a:xfrm>
            <a:off x="1482725" y="64008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限界利益と損益分岐点売上高の算出</a:t>
            </a:r>
          </a:p>
        </p:txBody>
      </p:sp>
      <p:pic>
        <p:nvPicPr>
          <p:cNvPr id="1857551" name="Picture 15">
            <a:extLst>
              <a:ext uri="{FF2B5EF4-FFF2-40B4-BE49-F238E27FC236}">
                <a16:creationId xmlns:a16="http://schemas.microsoft.com/office/drawing/2014/main" id="{9A19616D-2907-4780-6E7E-B54DDCA00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6553200"/>
            <a:ext cx="5867400" cy="3344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857552" name="Group 16">
            <a:extLst>
              <a:ext uri="{FF2B5EF4-FFF2-40B4-BE49-F238E27FC236}">
                <a16:creationId xmlns:a16="http://schemas.microsoft.com/office/drawing/2014/main" id="{081C77C2-F76B-7863-A262-E2D9E3A9488C}"/>
              </a:ext>
            </a:extLst>
          </p:cNvPr>
          <p:cNvGrpSpPr>
            <a:grpSpLocks/>
          </p:cNvGrpSpPr>
          <p:nvPr/>
        </p:nvGrpSpPr>
        <p:grpSpPr bwMode="auto">
          <a:xfrm>
            <a:off x="5156200" y="0"/>
            <a:ext cx="1549400" cy="228600"/>
            <a:chOff x="2928" y="-48"/>
            <a:chExt cx="1392" cy="192"/>
          </a:xfrm>
        </p:grpSpPr>
        <p:sp>
          <p:nvSpPr>
            <p:cNvPr id="1857553" name="Line 17">
              <a:extLst>
                <a:ext uri="{FF2B5EF4-FFF2-40B4-BE49-F238E27FC236}">
                  <a16:creationId xmlns:a16="http://schemas.microsoft.com/office/drawing/2014/main" id="{6014D0B9-4042-2DBA-1159-F6D2D06A383D}"/>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57554" name="Rectangle 18">
              <a:extLst>
                <a:ext uri="{FF2B5EF4-FFF2-40B4-BE49-F238E27FC236}">
                  <a16:creationId xmlns:a16="http://schemas.microsoft.com/office/drawing/2014/main" id="{684793C5-47C3-A478-DB6C-38317DE9D700}"/>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ＭＳ Ｐゴシック" panose="020B0600070205080204" pitchFamily="50" charset="-128"/>
                </a:rPr>
                <a:t>Ⅱ</a:t>
              </a:r>
              <a:r>
                <a:rPr lang="ja-JP" altLang="en-US" sz="1000">
                  <a:latin typeface="ＭＳ Ｐゴシック" panose="020B0600070205080204" pitchFamily="50" charset="-128"/>
                </a:rPr>
                <a:t>　財務上の問題分析</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2114" name="Rectangle 2">
            <a:extLst>
              <a:ext uri="{FF2B5EF4-FFF2-40B4-BE49-F238E27FC236}">
                <a16:creationId xmlns:a16="http://schemas.microsoft.com/office/drawing/2014/main" id="{3AEFDF4E-600C-BC09-1D1D-DEBEB13D13BF}"/>
              </a:ext>
            </a:extLst>
          </p:cNvPr>
          <p:cNvSpPr>
            <a:spLocks noChangeArrowheads="1"/>
          </p:cNvSpPr>
          <p:nvPr/>
        </p:nvSpPr>
        <p:spPr bwMode="auto">
          <a:xfrm>
            <a:off x="914400" y="1295400"/>
            <a:ext cx="5410200" cy="6324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88900" algn="l">
              <a:defRPr kumimoji="1" sz="2400">
                <a:solidFill>
                  <a:schemeClr val="tx1"/>
                </a:solidFill>
                <a:latin typeface="Times New Roman" panose="02020603050405020304" pitchFamily="18" charset="0"/>
                <a:ea typeface="ＭＳ Ｐゴシック" panose="020B0600070205080204" pitchFamily="50" charset="-128"/>
              </a:defRPr>
            </a:lvl2pPr>
            <a:lvl3pPr marL="863600" indent="-101600"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just">
              <a:lnSpc>
                <a:spcPct val="120000"/>
              </a:lnSpc>
            </a:pPr>
            <a:r>
              <a:rPr kumimoji="0" lang="ja-JP" altLang="en-US" sz="1000">
                <a:latin typeface="Century" panose="02040604050505020304" pitchFamily="18" charset="0"/>
                <a:ea typeface="ＭＳ Ｐ明朝" panose="02020600040205080304" pitchFamily="18" charset="-128"/>
              </a:rPr>
              <a:t>以上は損益分岐点売上高算出のための基本的な考え方ですが、財務管理サービス人材が企業に対して実務でこの考え方を用いるに当たっては、固定費と変動費の区分についてどう行うかということがポイントになります。費用のなかには、売上に連動するかどうか微妙なものがあります。また、売上に連動はするものの、比例的な関係ではなくて、ある程度売上が伸びると急に増大する性質のものもありま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例えば製造業における設備・道具類は、基本的には固定費です。しかしながら、中には累積生産量が一定量に達すると消耗するものもあります。例えば、金型などがこれに該当します。ヒット商品が生まれた時など何回もの買い換えが必要になることがあります。つまりある範囲内では固定費ですが、その範囲を超えるといきなり膨れ上がるという性質がありま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また電力料や通信の回線使用料なども、支払う料金には固定料金と使用料に応じた料金との両方から構成されている場合があります。また供給会社との契約によって、固定料金と従量料金の水準自体が変動することもありま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これらの費用については、短期的には固定費でも中長期的には変動費的に扱い、事業計画の内容を踏まえた対処が必要です。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こうした実情について正しく把握して、企業と議論を交わしながら損益構造の改善に向けた現実的な施策を打ち出せることが、財務管理サービス人材には求められます。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業績不振企業では損益分岐点売上高を到底達成できない状態が続いて、数年間に渡り赤字経営を余儀なくされている会社も少なからずあります。こうした場合には事業構造を見直して損益分岐点売上高を引き下げて、現状から手の届く範囲の売上高で利益が出るようにすることが望まれま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損益分岐点の計算式から、その引き下げのためには２つの方法が導かれます。「固定費の削減」と「限界利益率の向上」です。「固定費の削減」としては、いわゆるリストラクチャリングを行います。ただし、ここで留意すべきことはリストラクチャリングすなわち人員削減ではないことです。本来のリストラクチャリングとは、事業構造を根本的に見直して抜本的な改革をすることを意味します。一方、「限界利益率の向上」のためには、変動比率の低下を追及することになります。各種費用の削減によって経営の効率化を実現することが必要です。</a:t>
            </a:r>
          </a:p>
          <a:p>
            <a:pPr algn="just">
              <a:lnSpc>
                <a:spcPct val="120000"/>
              </a:lnSpc>
            </a:pPr>
            <a:endParaRPr kumimoji="0" lang="en-US" altLang="ja-JP" sz="1000">
              <a:latin typeface="Century" panose="02040604050505020304" pitchFamily="18" charset="0"/>
              <a:ea typeface="ＭＳ Ｐ明朝" panose="02020600040205080304" pitchFamily="18" charset="-128"/>
            </a:endParaRPr>
          </a:p>
        </p:txBody>
      </p:sp>
      <p:sp>
        <p:nvSpPr>
          <p:cNvPr id="1882115" name="Rectangle 3">
            <a:extLst>
              <a:ext uri="{FF2B5EF4-FFF2-40B4-BE49-F238E27FC236}">
                <a16:creationId xmlns:a16="http://schemas.microsoft.com/office/drawing/2014/main" id="{CAE5674F-E543-8C46-BA5D-37D89BF58404}"/>
              </a:ext>
            </a:extLst>
          </p:cNvPr>
          <p:cNvSpPr>
            <a:spLocks noChangeArrowheads="1"/>
          </p:cNvSpPr>
          <p:nvPr/>
        </p:nvSpPr>
        <p:spPr bwMode="auto">
          <a:xfrm>
            <a:off x="533400" y="9906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固定費・変動費の分類に関する留意点</a:t>
            </a:r>
          </a:p>
        </p:txBody>
      </p:sp>
      <p:sp>
        <p:nvSpPr>
          <p:cNvPr id="1882116" name="Line 4">
            <a:extLst>
              <a:ext uri="{FF2B5EF4-FFF2-40B4-BE49-F238E27FC236}">
                <a16:creationId xmlns:a16="http://schemas.microsoft.com/office/drawing/2014/main" id="{AC7AED44-46D6-3276-F502-D951AD1B3ECB}"/>
              </a:ext>
            </a:extLst>
          </p:cNvPr>
          <p:cNvSpPr>
            <a:spLocks noChangeShapeType="1"/>
          </p:cNvSpPr>
          <p:nvPr/>
        </p:nvSpPr>
        <p:spPr bwMode="auto">
          <a:xfrm>
            <a:off x="533400" y="12954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82119" name="Rectangle 7">
            <a:extLst>
              <a:ext uri="{FF2B5EF4-FFF2-40B4-BE49-F238E27FC236}">
                <a16:creationId xmlns:a16="http://schemas.microsoft.com/office/drawing/2014/main" id="{F64B370A-0590-6EDC-F37E-D2DB9C2A0EA0}"/>
              </a:ext>
            </a:extLst>
          </p:cNvPr>
          <p:cNvSpPr>
            <a:spLocks noChangeArrowheads="1"/>
          </p:cNvSpPr>
          <p:nvPr/>
        </p:nvSpPr>
        <p:spPr bwMode="auto">
          <a:xfrm>
            <a:off x="533400" y="58674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損益分岐点売上高引き下げに関する留意点</a:t>
            </a:r>
          </a:p>
        </p:txBody>
      </p:sp>
      <p:sp>
        <p:nvSpPr>
          <p:cNvPr id="1882120" name="Line 8">
            <a:extLst>
              <a:ext uri="{FF2B5EF4-FFF2-40B4-BE49-F238E27FC236}">
                <a16:creationId xmlns:a16="http://schemas.microsoft.com/office/drawing/2014/main" id="{0132F0BD-063A-8C48-9C7C-922D0DF0A65C}"/>
              </a:ext>
            </a:extLst>
          </p:cNvPr>
          <p:cNvSpPr>
            <a:spLocks noChangeShapeType="1"/>
          </p:cNvSpPr>
          <p:nvPr/>
        </p:nvSpPr>
        <p:spPr bwMode="auto">
          <a:xfrm>
            <a:off x="533400" y="61722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8306" name="Rectangle 2">
            <a:extLst>
              <a:ext uri="{FF2B5EF4-FFF2-40B4-BE49-F238E27FC236}">
                <a16:creationId xmlns:a16="http://schemas.microsoft.com/office/drawing/2014/main" id="{9E8A717E-C2EC-28F9-7BA6-7B0167CEEE52}"/>
              </a:ext>
            </a:extLst>
          </p:cNvPr>
          <p:cNvSpPr>
            <a:spLocks noChangeArrowheads="1"/>
          </p:cNvSpPr>
          <p:nvPr/>
        </p:nvSpPr>
        <p:spPr bwMode="auto">
          <a:xfrm>
            <a:off x="914400" y="1295400"/>
            <a:ext cx="5410200" cy="5638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88900" algn="l">
              <a:defRPr kumimoji="1" sz="2400">
                <a:solidFill>
                  <a:schemeClr val="tx1"/>
                </a:solidFill>
                <a:latin typeface="Times New Roman" panose="02020603050405020304" pitchFamily="18" charset="0"/>
                <a:ea typeface="ＭＳ Ｐゴシック" panose="020B0600070205080204" pitchFamily="50" charset="-128"/>
              </a:defRPr>
            </a:lvl2pPr>
            <a:lvl3pPr marL="863600" indent="-101600"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just">
              <a:lnSpc>
                <a:spcPct val="120000"/>
              </a:lnSpc>
            </a:pPr>
            <a:r>
              <a:rPr kumimoji="0" lang="ja-JP" altLang="en-US" sz="1000">
                <a:latin typeface="Century" panose="02040604050505020304" pitchFamily="18" charset="0"/>
                <a:ea typeface="ＭＳ Ｐ明朝" panose="02020600040205080304" pitchFamily="18" charset="-128"/>
              </a:rPr>
              <a:t>財務管理サービス人材としては、企業によるこうした施策の推進について支援して、適切に方向付けることが望まれます。そのためには「数字の効果を示しつつ数字だけで判断しない」とも言うべき姿勢が求められま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ここで「数字の効果を示す」という意味は、少しの変化がどれだけの影響を生むかを計算値で表すということです。例えば売上高が</a:t>
            </a:r>
            <a:r>
              <a:rPr kumimoji="0" lang="en-US" altLang="ja-JP" sz="1000">
                <a:latin typeface="Century" panose="02040604050505020304" pitchFamily="18" charset="0"/>
                <a:ea typeface="ＭＳ Ｐ明朝" panose="02020600040205080304" pitchFamily="18" charset="-128"/>
              </a:rPr>
              <a:t>60</a:t>
            </a:r>
            <a:r>
              <a:rPr kumimoji="0" lang="ja-JP" altLang="en-US" sz="1000">
                <a:latin typeface="Century" panose="02040604050505020304" pitchFamily="18" charset="0"/>
                <a:ea typeface="ＭＳ Ｐ明朝" panose="02020600040205080304" pitchFamily="18" charset="-128"/>
              </a:rPr>
              <a:t>億円の企業であれば、限界利益率が</a:t>
            </a:r>
            <a:r>
              <a:rPr kumimoji="0" lang="en-US" altLang="ja-JP" sz="1000">
                <a:latin typeface="Century" panose="02040604050505020304" pitchFamily="18" charset="0"/>
                <a:ea typeface="ＭＳ Ｐ明朝" panose="02020600040205080304" pitchFamily="18" charset="-128"/>
              </a:rPr>
              <a:t>1%</a:t>
            </a:r>
            <a:r>
              <a:rPr kumimoji="0" lang="ja-JP" altLang="en-US" sz="1000">
                <a:latin typeface="Century" panose="02040604050505020304" pitchFamily="18" charset="0"/>
                <a:ea typeface="ＭＳ Ｐ明朝" panose="02020600040205080304" pitchFamily="18" charset="-128"/>
              </a:rPr>
              <a:t>向上するだけで利益は</a:t>
            </a:r>
            <a:r>
              <a:rPr kumimoji="0" lang="en-US" altLang="ja-JP" sz="1000">
                <a:latin typeface="Century" panose="02040604050505020304" pitchFamily="18" charset="0"/>
                <a:ea typeface="ＭＳ Ｐ明朝" panose="02020600040205080304" pitchFamily="18" charset="-128"/>
              </a:rPr>
              <a:t>6,000</a:t>
            </a:r>
            <a:r>
              <a:rPr kumimoji="0" lang="ja-JP" altLang="en-US" sz="1000">
                <a:latin typeface="Century" panose="02040604050505020304" pitchFamily="18" charset="0"/>
                <a:ea typeface="ＭＳ Ｐ明朝" panose="02020600040205080304" pitchFamily="18" charset="-128"/>
              </a:rPr>
              <a:t>万円も好転することになります。殆どの企業では、</a:t>
            </a:r>
            <a:r>
              <a:rPr kumimoji="0" lang="en-US" altLang="ja-JP" sz="1000">
                <a:latin typeface="Century" panose="02040604050505020304" pitchFamily="18" charset="0"/>
                <a:ea typeface="ＭＳ Ｐ明朝" panose="02020600040205080304" pitchFamily="18" charset="-128"/>
              </a:rPr>
              <a:t>1%</a:t>
            </a:r>
            <a:r>
              <a:rPr kumimoji="0" lang="ja-JP" altLang="en-US" sz="1000">
                <a:latin typeface="Century" panose="02040604050505020304" pitchFamily="18" charset="0"/>
                <a:ea typeface="ＭＳ Ｐ明朝" panose="02020600040205080304" pitchFamily="18" charset="-128"/>
              </a:rPr>
              <a:t>どころか数</a:t>
            </a:r>
            <a:r>
              <a:rPr kumimoji="0" lang="en-US" altLang="ja-JP" sz="1000">
                <a:latin typeface="Century" panose="02040604050505020304" pitchFamily="18" charset="0"/>
                <a:ea typeface="ＭＳ Ｐ明朝" panose="02020600040205080304" pitchFamily="18" charset="-128"/>
              </a:rPr>
              <a:t>%</a:t>
            </a:r>
            <a:r>
              <a:rPr kumimoji="0" lang="ja-JP" altLang="en-US" sz="1000">
                <a:latin typeface="Century" panose="02040604050505020304" pitchFamily="18" charset="0"/>
                <a:ea typeface="ＭＳ Ｐ明朝" panose="02020600040205080304" pitchFamily="18" charset="-128"/>
              </a:rPr>
              <a:t>の費用削減は何らかの努力をすれば実現できる余地があるように思われます。こうした数字を用いた説明によって、関与企業を改革へと動機付けることが重要です。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一方「数字だけで判断しない」という意味は、上述のリストラクチャリングの話に関わります。人や物の経営資源について解雇や売却をすることは、費用低下や売却収入を通じて比較的早期に財務数値を改善させる効果があります。また、そうすることが当然必要な場合もあります。しかし、事業を中期的な観点から捉えると、今後の経営目標達成のためにはいかなる資源が必要なのかという意識も必要です。こうした経営資源、特に人は、コストとだけ見ることには多くの問題があります。どのような経営資源なら必要で、どのようなものなら不要なのか、そして必要なものが残る仕組みをどう構築するのかについて、財務管理サービス人材が社外の立場から助言をすることで企業を正しい方向に導くことができれば大変有意義なことです。</a:t>
            </a:r>
          </a:p>
        </p:txBody>
      </p:sp>
      <p:sp>
        <p:nvSpPr>
          <p:cNvPr id="2018309" name="Line 5">
            <a:extLst>
              <a:ext uri="{FF2B5EF4-FFF2-40B4-BE49-F238E27FC236}">
                <a16:creationId xmlns:a16="http://schemas.microsoft.com/office/drawing/2014/main" id="{D8C8CDC7-20A1-0283-47B9-60214B07EA69}"/>
              </a:ext>
            </a:extLst>
          </p:cNvPr>
          <p:cNvSpPr>
            <a:spLocks noChangeShapeType="1"/>
          </p:cNvSpPr>
          <p:nvPr/>
        </p:nvSpPr>
        <p:spPr bwMode="auto">
          <a:xfrm>
            <a:off x="914400" y="6988175"/>
            <a:ext cx="1588" cy="2536825"/>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2018310" name="Rectangle 6">
            <a:extLst>
              <a:ext uri="{FF2B5EF4-FFF2-40B4-BE49-F238E27FC236}">
                <a16:creationId xmlns:a16="http://schemas.microsoft.com/office/drawing/2014/main" id="{4A289148-50DA-EC38-7B6C-145C9B3CC969}"/>
              </a:ext>
            </a:extLst>
          </p:cNvPr>
          <p:cNvSpPr>
            <a:spLocks noChangeArrowheads="1"/>
          </p:cNvSpPr>
          <p:nvPr/>
        </p:nvSpPr>
        <p:spPr bwMode="auto">
          <a:xfrm>
            <a:off x="914400" y="6934200"/>
            <a:ext cx="5410200" cy="2481263"/>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114300"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buFont typeface="Wingdings" panose="05000000000000000000" pitchFamily="2" charset="2"/>
              <a:buNone/>
            </a:pPr>
            <a:r>
              <a:rPr lang="ja-JP" altLang="en-US" sz="1200">
                <a:latin typeface="ＭＳ Ｐゴシック" panose="020B0600070205080204" pitchFamily="50" charset="-128"/>
              </a:rPr>
              <a:t>＜まとめ＞</a:t>
            </a:r>
          </a:p>
          <a:p>
            <a:pPr>
              <a:lnSpc>
                <a:spcPct val="120000"/>
              </a:lnSpc>
              <a:buFont typeface="Wingdings" panose="05000000000000000000" pitchFamily="2" charset="2"/>
              <a:buChar char="ü"/>
            </a:pPr>
            <a:endParaRPr lang="ja-JP" altLang="en-US" sz="1200">
              <a:latin typeface="ＭＳ Ｐゴシック" panose="020B0600070205080204" pitchFamily="50" charset="-128"/>
            </a:endParaRPr>
          </a:p>
          <a:p>
            <a:pPr>
              <a:lnSpc>
                <a:spcPct val="120000"/>
              </a:lnSpc>
              <a:buFont typeface="Wingdings" panose="05000000000000000000" pitchFamily="2" charset="2"/>
              <a:buChar char="ü"/>
            </a:pPr>
            <a:r>
              <a:rPr lang="ja-JP" altLang="en-US" sz="1200">
                <a:latin typeface="ＭＳ Ｐゴシック" panose="020B0600070205080204" pitchFamily="50" charset="-128"/>
              </a:rPr>
              <a:t>損益分岐点分析を行うことで、企業に対してどれだけの売上を確保する必要があるという目標水準を示すことができます。</a:t>
            </a:r>
          </a:p>
          <a:p>
            <a:pPr>
              <a:lnSpc>
                <a:spcPct val="120000"/>
              </a:lnSpc>
              <a:buFont typeface="Wingdings" panose="05000000000000000000" pitchFamily="2" charset="2"/>
              <a:buChar char="ü"/>
            </a:pPr>
            <a:endParaRPr lang="ja-JP" altLang="en-US" sz="1200">
              <a:latin typeface="ＭＳ Ｐゴシック" panose="020B0600070205080204" pitchFamily="50" charset="-128"/>
            </a:endParaRPr>
          </a:p>
          <a:p>
            <a:pPr>
              <a:lnSpc>
                <a:spcPct val="120000"/>
              </a:lnSpc>
              <a:buFont typeface="Wingdings" panose="05000000000000000000" pitchFamily="2" charset="2"/>
              <a:buChar char="ü"/>
            </a:pPr>
            <a:r>
              <a:rPr lang="ja-JP" altLang="en-US" sz="1200">
                <a:latin typeface="ＭＳ Ｐゴシック" panose="020B0600070205080204" pitchFamily="50" charset="-128"/>
              </a:rPr>
              <a:t>実務では変動費と固定費の区分は簡単ではなく、企業の実態に即した的確な分析を行うことが必要です。</a:t>
            </a:r>
          </a:p>
          <a:p>
            <a:pPr>
              <a:lnSpc>
                <a:spcPct val="120000"/>
              </a:lnSpc>
              <a:buFont typeface="Wingdings" panose="05000000000000000000" pitchFamily="2" charset="2"/>
              <a:buChar char="ü"/>
            </a:pPr>
            <a:endParaRPr lang="ja-JP" altLang="en-US" sz="1200">
              <a:latin typeface="ＭＳ Ｐゴシック" panose="020B0600070205080204" pitchFamily="50" charset="-128"/>
            </a:endParaRPr>
          </a:p>
          <a:p>
            <a:pPr>
              <a:lnSpc>
                <a:spcPct val="120000"/>
              </a:lnSpc>
              <a:buFont typeface="Wingdings" panose="05000000000000000000" pitchFamily="2" charset="2"/>
              <a:buChar char="ü"/>
            </a:pPr>
            <a:r>
              <a:rPr lang="ja-JP" altLang="en-US" sz="1200">
                <a:latin typeface="ＭＳ Ｐゴシック" panose="020B0600070205080204" pitchFamily="50" charset="-128"/>
              </a:rPr>
              <a:t>損益分岐点売上高の引き下げのために、限界利益率を変動させることで大きな効果があります。固定費の削減については、必要・不要な経営資源についてどう考えるかが重要です。</a:t>
            </a:r>
          </a:p>
        </p:txBody>
      </p:sp>
      <p:grpSp>
        <p:nvGrpSpPr>
          <p:cNvPr id="2018311" name="Group 7">
            <a:extLst>
              <a:ext uri="{FF2B5EF4-FFF2-40B4-BE49-F238E27FC236}">
                <a16:creationId xmlns:a16="http://schemas.microsoft.com/office/drawing/2014/main" id="{5632CFDA-E1DC-76CF-7391-29FBC9BF75F8}"/>
              </a:ext>
            </a:extLst>
          </p:cNvPr>
          <p:cNvGrpSpPr>
            <a:grpSpLocks/>
          </p:cNvGrpSpPr>
          <p:nvPr/>
        </p:nvGrpSpPr>
        <p:grpSpPr bwMode="auto">
          <a:xfrm>
            <a:off x="5156200" y="0"/>
            <a:ext cx="1549400" cy="228600"/>
            <a:chOff x="2928" y="-48"/>
            <a:chExt cx="1392" cy="192"/>
          </a:xfrm>
        </p:grpSpPr>
        <p:sp>
          <p:nvSpPr>
            <p:cNvPr id="2018312" name="Line 8">
              <a:extLst>
                <a:ext uri="{FF2B5EF4-FFF2-40B4-BE49-F238E27FC236}">
                  <a16:creationId xmlns:a16="http://schemas.microsoft.com/office/drawing/2014/main" id="{5CB2C191-2ED4-70D4-F8D5-19E375495AED}"/>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2018313" name="Rectangle 9">
              <a:extLst>
                <a:ext uri="{FF2B5EF4-FFF2-40B4-BE49-F238E27FC236}">
                  <a16:creationId xmlns:a16="http://schemas.microsoft.com/office/drawing/2014/main" id="{9E97802B-CD92-6D74-2F9D-30E32DF8675B}"/>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ＭＳ Ｐゴシック" panose="020B0600070205080204" pitchFamily="50" charset="-128"/>
                </a:rPr>
                <a:t>Ⅱ</a:t>
              </a:r>
              <a:r>
                <a:rPr lang="ja-JP" altLang="en-US" sz="1000">
                  <a:latin typeface="ＭＳ Ｐゴシック" panose="020B0600070205080204" pitchFamily="50" charset="-128"/>
                </a:rPr>
                <a:t>　財務上の問題分析</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9410" name="Rectangle 66">
            <a:extLst>
              <a:ext uri="{FF2B5EF4-FFF2-40B4-BE49-F238E27FC236}">
                <a16:creationId xmlns:a16="http://schemas.microsoft.com/office/drawing/2014/main" id="{29DF9EA6-129A-EEF1-2E99-493BE27F62C9}"/>
              </a:ext>
            </a:extLst>
          </p:cNvPr>
          <p:cNvSpPr>
            <a:spLocks noChangeArrowheads="1"/>
          </p:cNvSpPr>
          <p:nvPr/>
        </p:nvSpPr>
        <p:spPr bwMode="auto">
          <a:xfrm>
            <a:off x="914400" y="2590800"/>
            <a:ext cx="5410200" cy="6934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kumimoji="0" lang="ja-JP" altLang="en-US" sz="1000">
                <a:latin typeface="ＭＳ Ｐ明朝" panose="02020600040205080304" pitchFamily="18" charset="-128"/>
                <a:ea typeface="ＭＳ Ｐ明朝" panose="02020600040205080304" pitchFamily="18" charset="-128"/>
              </a:rPr>
              <a:t>投資についての評価方法について、以下のものが代表的な考え方として挙げられます。</a:t>
            </a:r>
          </a:p>
          <a:p>
            <a:pPr>
              <a:lnSpc>
                <a:spcPct val="120000"/>
              </a:lnSpc>
            </a:pPr>
            <a:r>
              <a:rPr kumimoji="0" lang="ja-JP" altLang="en-US" sz="1000">
                <a:latin typeface="ＭＳ Ｐ明朝" panose="02020600040205080304" pitchFamily="18" charset="-128"/>
                <a:ea typeface="ＭＳ Ｐ明朝" panose="02020600040205080304" pitchFamily="18" charset="-128"/>
              </a:rPr>
              <a:t>①正味現在価値法</a:t>
            </a:r>
          </a:p>
          <a:p>
            <a:pPr>
              <a:lnSpc>
                <a:spcPct val="120000"/>
              </a:lnSpc>
            </a:pPr>
            <a:r>
              <a:rPr kumimoji="0" lang="ja-JP" altLang="en-US" sz="1000">
                <a:latin typeface="ＭＳ Ｐ明朝" panose="02020600040205080304" pitchFamily="18" charset="-128"/>
                <a:ea typeface="ＭＳ Ｐ明朝" panose="02020600040205080304" pitchFamily="18" charset="-128"/>
              </a:rPr>
              <a:t>　</a:t>
            </a:r>
            <a:r>
              <a:rPr kumimoji="0" lang="en-US" altLang="ja-JP" sz="1000">
                <a:latin typeface="ＭＳ Ｐ明朝" panose="02020600040205080304" pitchFamily="18" charset="-128"/>
                <a:ea typeface="ＭＳ Ｐ明朝" panose="02020600040205080304" pitchFamily="18" charset="-128"/>
              </a:rPr>
              <a:t>NPV</a:t>
            </a:r>
            <a:r>
              <a:rPr kumimoji="0" lang="ja-JP" altLang="en-US" sz="1000">
                <a:latin typeface="ＭＳ Ｐ明朝" panose="02020600040205080304" pitchFamily="18" charset="-128"/>
                <a:ea typeface="ＭＳ Ｐ明朝" panose="02020600040205080304" pitchFamily="18" charset="-128"/>
              </a:rPr>
              <a:t>法と呼ばれるもので、投資により生み出されるキャッシュフローの現在価値と初期投資額との　</a:t>
            </a:r>
          </a:p>
          <a:p>
            <a:pPr>
              <a:lnSpc>
                <a:spcPct val="120000"/>
              </a:lnSpc>
            </a:pPr>
            <a:r>
              <a:rPr kumimoji="0" lang="ja-JP" altLang="en-US" sz="1000">
                <a:latin typeface="ＭＳ Ｐ明朝" panose="02020600040205080304" pitchFamily="18" charset="-128"/>
                <a:ea typeface="ＭＳ Ｐ明朝" panose="02020600040205080304" pitchFamily="18" charset="-128"/>
              </a:rPr>
              <a:t>　大小を比較して、その是非を評価するものです。</a:t>
            </a:r>
          </a:p>
          <a:p>
            <a:pPr>
              <a:lnSpc>
                <a:spcPct val="120000"/>
              </a:lnSpc>
            </a:pPr>
            <a:r>
              <a:rPr kumimoji="0" lang="ja-JP" altLang="en-US" sz="1000">
                <a:latin typeface="ＭＳ Ｐ明朝" panose="02020600040205080304" pitchFamily="18" charset="-128"/>
                <a:ea typeface="ＭＳ Ｐ明朝" panose="02020600040205080304" pitchFamily="18" charset="-128"/>
              </a:rPr>
              <a:t>②内部利益率法</a:t>
            </a:r>
          </a:p>
          <a:p>
            <a:pPr>
              <a:lnSpc>
                <a:spcPct val="120000"/>
              </a:lnSpc>
            </a:pPr>
            <a:r>
              <a:rPr kumimoji="0" lang="ja-JP" altLang="en-US" sz="1000">
                <a:latin typeface="ＭＳ Ｐ明朝" panose="02020600040205080304" pitchFamily="18" charset="-128"/>
                <a:ea typeface="ＭＳ Ｐ明朝" panose="02020600040205080304" pitchFamily="18" charset="-128"/>
              </a:rPr>
              <a:t>　</a:t>
            </a:r>
            <a:r>
              <a:rPr kumimoji="0" lang="en-US" altLang="ja-JP" sz="1000">
                <a:latin typeface="ＭＳ Ｐ明朝" panose="02020600040205080304" pitchFamily="18" charset="-128"/>
                <a:ea typeface="ＭＳ Ｐ明朝" panose="02020600040205080304" pitchFamily="18" charset="-128"/>
              </a:rPr>
              <a:t>IRR</a:t>
            </a:r>
            <a:r>
              <a:rPr kumimoji="0" lang="ja-JP" altLang="en-US" sz="1000">
                <a:latin typeface="ＭＳ Ｐ明朝" panose="02020600040205080304" pitchFamily="18" charset="-128"/>
                <a:ea typeface="ＭＳ Ｐ明朝" panose="02020600040205080304" pitchFamily="18" charset="-128"/>
              </a:rPr>
              <a:t>法と呼ばれるもので、投資利回りに関する基準値（ハードルレート）と当該投資機会の利回りの</a:t>
            </a:r>
          </a:p>
          <a:p>
            <a:pPr>
              <a:lnSpc>
                <a:spcPct val="120000"/>
              </a:lnSpc>
            </a:pPr>
            <a:r>
              <a:rPr kumimoji="0" lang="ja-JP" altLang="en-US" sz="1000">
                <a:latin typeface="ＭＳ Ｐ明朝" panose="02020600040205080304" pitchFamily="18" charset="-128"/>
                <a:ea typeface="ＭＳ Ｐ明朝" panose="02020600040205080304" pitchFamily="18" charset="-128"/>
              </a:rPr>
              <a:t>　算出結果とを比較して、投資の是非を評価します。ここで求められる内部利益率は、上記の正味　　現在価値がゼロになる割引率となります。</a:t>
            </a:r>
          </a:p>
          <a:p>
            <a:pPr>
              <a:lnSpc>
                <a:spcPct val="120000"/>
              </a:lnSpc>
            </a:pPr>
            <a:r>
              <a:rPr kumimoji="0" lang="ja-JP" altLang="en-US" sz="1000">
                <a:latin typeface="ＭＳ Ｐ明朝" panose="02020600040205080304" pitchFamily="18" charset="-128"/>
                <a:ea typeface="ＭＳ Ｐ明朝" panose="02020600040205080304" pitchFamily="18" charset="-128"/>
              </a:rPr>
              <a:t>③回収期間法</a:t>
            </a:r>
          </a:p>
          <a:p>
            <a:pPr>
              <a:lnSpc>
                <a:spcPct val="120000"/>
              </a:lnSpc>
            </a:pPr>
            <a:r>
              <a:rPr kumimoji="0" lang="ja-JP" altLang="en-US" sz="1000">
                <a:latin typeface="ＭＳ Ｐ明朝" panose="02020600040205080304" pitchFamily="18" charset="-128"/>
                <a:ea typeface="ＭＳ Ｐ明朝" panose="02020600040205080304" pitchFamily="18" charset="-128"/>
              </a:rPr>
              <a:t>　初期投資額が何期以内に回収されるかを計算して、許容範囲（カットオフ期間）内であれば、是と　　される考え方です。</a:t>
            </a:r>
          </a:p>
          <a:p>
            <a:pPr>
              <a:lnSpc>
                <a:spcPct val="120000"/>
              </a:lnSpc>
            </a:pPr>
            <a:r>
              <a:rPr kumimoji="0" lang="ja-JP" altLang="en-US" sz="1000">
                <a:latin typeface="ＭＳ Ｐ明朝" panose="02020600040205080304" pitchFamily="18" charset="-128"/>
                <a:ea typeface="ＭＳ Ｐ明朝" panose="02020600040205080304" pitchFamily="18" charset="-128"/>
              </a:rPr>
              <a:t>④会計的利益率法</a:t>
            </a:r>
          </a:p>
          <a:p>
            <a:pPr>
              <a:lnSpc>
                <a:spcPct val="120000"/>
              </a:lnSpc>
            </a:pPr>
            <a:r>
              <a:rPr kumimoji="0" lang="ja-JP" altLang="en-US" sz="1000">
                <a:latin typeface="ＭＳ Ｐ明朝" panose="02020600040205080304" pitchFamily="18" charset="-128"/>
                <a:ea typeface="ＭＳ Ｐ明朝" panose="02020600040205080304" pitchFamily="18" charset="-128"/>
              </a:rPr>
              <a:t>　投資により期待される会計上の所得を、投資で取得予定の資産の購入価額で割って算出します。</a:t>
            </a:r>
          </a:p>
          <a:p>
            <a:pPr>
              <a:lnSpc>
                <a:spcPct val="120000"/>
              </a:lnSpc>
            </a:pPr>
            <a:r>
              <a:rPr kumimoji="0" lang="ja-JP" altLang="en-US" sz="1000">
                <a:latin typeface="ＭＳ Ｐ明朝" panose="02020600040205080304" pitchFamily="18" charset="-128"/>
                <a:ea typeface="ＭＳ Ｐ明朝" panose="02020600040205080304" pitchFamily="18" charset="-128"/>
              </a:rPr>
              <a:t>　やはり基準値を設定しておいて、それよりも高ければ是とされます。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このように投資に対する評価の各種方法がありますが、実際の企業の設備投資においてはどの方法がどの位使われているのかについて一つの調査結果があります。これを見ると、</a:t>
            </a:r>
            <a:r>
              <a:rPr lang="ja-JP" altLang="en-US" sz="1000">
                <a:latin typeface="ＭＳ Ｐ明朝" panose="02020600040205080304" pitchFamily="18" charset="-128"/>
                <a:ea typeface="ＭＳ Ｐ明朝" panose="02020600040205080304" pitchFamily="18" charset="-128"/>
              </a:rPr>
              <a:t>設備投資における経済性評価を実施していない上場企業が、</a:t>
            </a:r>
            <a:r>
              <a:rPr lang="en-US" altLang="ja-JP" sz="1000">
                <a:latin typeface="ＭＳ Ｐ明朝" panose="02020600040205080304" pitchFamily="18" charset="-128"/>
                <a:ea typeface="ＭＳ Ｐ明朝" panose="02020600040205080304" pitchFamily="18" charset="-128"/>
              </a:rPr>
              <a:t>3</a:t>
            </a:r>
            <a:r>
              <a:rPr lang="ja-JP" altLang="en-US" sz="1000">
                <a:latin typeface="ＭＳ Ｐ明朝" panose="02020600040205080304" pitchFamily="18" charset="-128"/>
                <a:ea typeface="ＭＳ Ｐ明朝" panose="02020600040205080304" pitchFamily="18" charset="-128"/>
              </a:rPr>
              <a:t>割を超えているという実態があります。これは上場企業についての調査ですので、おそらく中堅／中小企業においては設備投資の事前計画はそれ以上に行われていないのではと思われます</a:t>
            </a:r>
            <a:r>
              <a:rPr lang="en-US" altLang="ja-JP" sz="1000">
                <a:latin typeface="ＭＳ Ｐ明朝" panose="02020600040205080304" pitchFamily="18" charset="-128"/>
                <a:ea typeface="ＭＳ Ｐ明朝" panose="02020600040205080304" pitchFamily="18" charset="-128"/>
              </a:rPr>
              <a:t>(</a:t>
            </a:r>
            <a:r>
              <a:rPr lang="ja-JP" altLang="en-US" sz="1000">
                <a:latin typeface="ＭＳ Ｐ明朝" panose="02020600040205080304" pitchFamily="18" charset="-128"/>
                <a:ea typeface="ＭＳ Ｐ明朝" panose="02020600040205080304" pitchFamily="18" charset="-128"/>
              </a:rPr>
              <a:t>図表</a:t>
            </a:r>
            <a:r>
              <a:rPr lang="en-US" altLang="ja-JP" sz="1000">
                <a:latin typeface="ＭＳ Ｐ明朝" panose="02020600040205080304" pitchFamily="18" charset="-128"/>
                <a:ea typeface="ＭＳ Ｐ明朝" panose="02020600040205080304" pitchFamily="18" charset="-128"/>
              </a:rPr>
              <a:t>2-3-1 </a:t>
            </a:r>
            <a:r>
              <a:rPr lang="ja-JP" altLang="en-US" sz="1000">
                <a:latin typeface="ＭＳ Ｐ明朝" panose="02020600040205080304" pitchFamily="18" charset="-128"/>
                <a:ea typeface="ＭＳ Ｐ明朝" panose="02020600040205080304" pitchFamily="18" charset="-128"/>
              </a:rPr>
              <a:t>上図　参照</a:t>
            </a:r>
            <a:r>
              <a:rPr lang="en-US" altLang="ja-JP" sz="1000">
                <a:latin typeface="ＭＳ Ｐ明朝" panose="02020600040205080304" pitchFamily="18" charset="-128"/>
                <a:ea typeface="ＭＳ Ｐ明朝" panose="02020600040205080304" pitchFamily="18" charset="-128"/>
              </a:rPr>
              <a:t>)</a:t>
            </a:r>
            <a:r>
              <a:rPr lang="ja-JP" altLang="en-US" sz="1000">
                <a:latin typeface="ＭＳ Ｐ明朝" panose="02020600040205080304" pitchFamily="18" charset="-128"/>
                <a:ea typeface="ＭＳ Ｐ明朝" panose="02020600040205080304" pitchFamily="18" charset="-128"/>
              </a:rPr>
              <a:t>。</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以前の経済拡大期には「作れば売れる」としてほぼ確実な消費が見込まれたため、中堅／中小企業では設備投資計画なしに積極的な設備投資が行われてきたという事情もあったのかもしれません。しかし景気低迷下の現在では、中堅／中小企業にとって貴重な資産を投じて確実にリターンを見込める設備投資に絞り込む必要があります。そのため、中堅・中小企業にとって設備投資計画の際に経済性評価の実施が求められ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図表</a:t>
            </a:r>
            <a:r>
              <a:rPr lang="en-US" altLang="ja-JP" sz="1000">
                <a:latin typeface="ＭＳ Ｐ明朝" panose="02020600040205080304" pitchFamily="18" charset="-128"/>
                <a:ea typeface="ＭＳ Ｐ明朝" panose="02020600040205080304" pitchFamily="18" charset="-128"/>
              </a:rPr>
              <a:t>2-3-1 </a:t>
            </a:r>
            <a:r>
              <a:rPr lang="ja-JP" altLang="en-US" sz="1000">
                <a:latin typeface="ＭＳ Ｐ明朝" panose="02020600040205080304" pitchFamily="18" charset="-128"/>
                <a:ea typeface="ＭＳ Ｐ明朝" panose="02020600040205080304" pitchFamily="18" charset="-128"/>
              </a:rPr>
              <a:t>下図より、設備投資計画の際の経済性評価の方法として、上場企業で最も多く使われているのは「回収期間法」となります。「回収期間法」は「投資をはやく回収できるか」といった安全性を重視した評価方法ですが、現在価値に割り引くという考え方ではないという限界があります。それに対して、この調査によると投資の採算性を予測する、つまりその投資が将来生み出すキャッシュフローを基に現在価値の考え方で計算することのできる「正味現在価値法」と「内部利益率法」は余り用いられていません。</a:t>
            </a:r>
          </a:p>
          <a:p>
            <a:pPr>
              <a:lnSpc>
                <a:spcPct val="120000"/>
              </a:lnSpc>
            </a:pPr>
            <a:r>
              <a:rPr lang="ja-JP" altLang="en-US" sz="1000">
                <a:latin typeface="ＭＳ Ｐ明朝" panose="02020600040205080304" pitchFamily="18" charset="-128"/>
                <a:ea typeface="ＭＳ Ｐ明朝" panose="02020600040205080304" pitchFamily="18" charset="-128"/>
              </a:rPr>
              <a:t>　</a:t>
            </a:r>
          </a:p>
          <a:p>
            <a:pPr>
              <a:lnSpc>
                <a:spcPct val="120000"/>
              </a:lnSpc>
            </a:pPr>
            <a:r>
              <a:rPr lang="ja-JP" altLang="en-US" sz="1000">
                <a:latin typeface="ＭＳ Ｐ明朝" panose="02020600040205080304" pitchFamily="18" charset="-128"/>
                <a:ea typeface="ＭＳ Ｐ明朝" panose="02020600040205080304" pitchFamily="18" charset="-128"/>
              </a:rPr>
              <a:t>しかしながら、景気が低迷する現在では、投資に対して将来得ることのできるキャッシュフローを見積もることが設備投資の成功のために必須となってきており、「正味現在価値法」や「内部利益率法」を活用した設備投資計画の経済性評価実施が中堅／中小企業においても必要と考えられます。</a:t>
            </a:r>
          </a:p>
        </p:txBody>
      </p:sp>
      <p:sp>
        <p:nvSpPr>
          <p:cNvPr id="1849411" name="Rectangle 67">
            <a:extLst>
              <a:ext uri="{FF2B5EF4-FFF2-40B4-BE49-F238E27FC236}">
                <a16:creationId xmlns:a16="http://schemas.microsoft.com/office/drawing/2014/main" id="{073F201B-0663-A832-AE05-E84DAEE11EC0}"/>
              </a:ext>
            </a:extLst>
          </p:cNvPr>
          <p:cNvSpPr>
            <a:spLocks noChangeArrowheads="1"/>
          </p:cNvSpPr>
          <p:nvPr/>
        </p:nvSpPr>
        <p:spPr bwMode="auto">
          <a:xfrm>
            <a:off x="533400" y="22860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設備投資計画の実態</a:t>
            </a:r>
          </a:p>
        </p:txBody>
      </p:sp>
      <p:sp>
        <p:nvSpPr>
          <p:cNvPr id="1849412" name="Line 68">
            <a:extLst>
              <a:ext uri="{FF2B5EF4-FFF2-40B4-BE49-F238E27FC236}">
                <a16:creationId xmlns:a16="http://schemas.microsoft.com/office/drawing/2014/main" id="{E7E913ED-B76F-3315-3447-90C5FABAF918}"/>
              </a:ext>
            </a:extLst>
          </p:cNvPr>
          <p:cNvSpPr>
            <a:spLocks noChangeShapeType="1"/>
          </p:cNvSpPr>
          <p:nvPr/>
        </p:nvSpPr>
        <p:spPr bwMode="auto">
          <a:xfrm>
            <a:off x="533400" y="25908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49415" name="Oval 71">
            <a:extLst>
              <a:ext uri="{FF2B5EF4-FFF2-40B4-BE49-F238E27FC236}">
                <a16:creationId xmlns:a16="http://schemas.microsoft.com/office/drawing/2014/main" id="{43288FA2-4B1A-E35A-9428-1E58FB0EBB48}"/>
              </a:ext>
            </a:extLst>
          </p:cNvPr>
          <p:cNvSpPr>
            <a:spLocks noChangeArrowheads="1"/>
          </p:cNvSpPr>
          <p:nvPr/>
        </p:nvSpPr>
        <p:spPr bwMode="auto">
          <a:xfrm>
            <a:off x="533400" y="914400"/>
            <a:ext cx="381000" cy="381000"/>
          </a:xfrm>
          <a:prstGeom prst="ellipse">
            <a:avLst/>
          </a:prstGeom>
          <a:gradFill rotWithShape="0">
            <a:gsLst>
              <a:gs pos="0">
                <a:srgbClr val="333333"/>
              </a:gs>
              <a:gs pos="100000">
                <a:schemeClr val="folHlink"/>
              </a:gs>
            </a:gsLst>
            <a:lin ang="2700000" scaled="1"/>
          </a:gradFill>
          <a:ln>
            <a:noFill/>
          </a:ln>
          <a:effectLst/>
          <a:extLst>
            <a:ext uri="{91240B29-F687-4F45-9708-019B960494DF}">
              <a14:hiddenLine xmlns:a14="http://schemas.microsoft.com/office/drawing/2010/main" w="3175">
                <a:solidFill>
                  <a:srgbClr val="99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b="1">
                <a:solidFill>
                  <a:schemeClr val="bg1"/>
                </a:solidFill>
                <a:latin typeface="Arial" panose="020B0604020202020204" pitchFamily="34" charset="0"/>
              </a:rPr>
              <a:t>3</a:t>
            </a:r>
          </a:p>
        </p:txBody>
      </p:sp>
      <p:sp>
        <p:nvSpPr>
          <p:cNvPr id="1849416" name="Rectangle 72">
            <a:extLst>
              <a:ext uri="{FF2B5EF4-FFF2-40B4-BE49-F238E27FC236}">
                <a16:creationId xmlns:a16="http://schemas.microsoft.com/office/drawing/2014/main" id="{4DB06E57-34D7-4CE2-4808-7815B57296E5}"/>
              </a:ext>
            </a:extLst>
          </p:cNvPr>
          <p:cNvSpPr>
            <a:spLocks noChangeArrowheads="1"/>
          </p:cNvSpPr>
          <p:nvPr/>
        </p:nvSpPr>
        <p:spPr bwMode="auto">
          <a:xfrm>
            <a:off x="762000" y="9906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400" b="1"/>
              <a:t>投資の採算性に関する分析</a:t>
            </a:r>
          </a:p>
        </p:txBody>
      </p:sp>
      <p:sp>
        <p:nvSpPr>
          <p:cNvPr id="1849417" name="Line 73">
            <a:extLst>
              <a:ext uri="{FF2B5EF4-FFF2-40B4-BE49-F238E27FC236}">
                <a16:creationId xmlns:a16="http://schemas.microsoft.com/office/drawing/2014/main" id="{4B02AFE5-4DD7-CEE5-AABC-EF38DF070680}"/>
              </a:ext>
            </a:extLst>
          </p:cNvPr>
          <p:cNvSpPr>
            <a:spLocks noChangeShapeType="1"/>
          </p:cNvSpPr>
          <p:nvPr/>
        </p:nvSpPr>
        <p:spPr bwMode="auto">
          <a:xfrm>
            <a:off x="914400" y="1371600"/>
            <a:ext cx="1588" cy="609600"/>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49418" name="Rectangle 74">
            <a:extLst>
              <a:ext uri="{FF2B5EF4-FFF2-40B4-BE49-F238E27FC236}">
                <a16:creationId xmlns:a16="http://schemas.microsoft.com/office/drawing/2014/main" id="{363C0395-1107-F687-C73A-5B296D64B508}"/>
              </a:ext>
            </a:extLst>
          </p:cNvPr>
          <p:cNvSpPr>
            <a:spLocks noChangeArrowheads="1"/>
          </p:cNvSpPr>
          <p:nvPr/>
        </p:nvSpPr>
        <p:spPr bwMode="auto">
          <a:xfrm>
            <a:off x="914400" y="1371600"/>
            <a:ext cx="5410200" cy="60960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defTabSz="292100">
              <a:defRPr kumimoji="1" sz="2400">
                <a:solidFill>
                  <a:schemeClr val="tx1"/>
                </a:solidFill>
                <a:latin typeface="Times New Roman" panose="02020603050405020304" pitchFamily="18" charset="0"/>
                <a:ea typeface="ＭＳ Ｐゴシック" panose="020B0600070205080204" pitchFamily="50" charset="-128"/>
              </a:defRPr>
            </a:lvl1pPr>
            <a:lvl2pPr algn="l" defTabSz="292100">
              <a:defRPr kumimoji="1" sz="2400">
                <a:solidFill>
                  <a:schemeClr val="tx1"/>
                </a:solidFill>
                <a:latin typeface="Times New Roman" panose="02020603050405020304" pitchFamily="18" charset="0"/>
                <a:ea typeface="ＭＳ Ｐゴシック" panose="020B0600070205080204" pitchFamily="50" charset="-128"/>
              </a:defRPr>
            </a:lvl2pPr>
            <a:lvl3pPr algn="l" defTabSz="292100">
              <a:defRPr kumimoji="1" sz="2400">
                <a:solidFill>
                  <a:schemeClr val="tx1"/>
                </a:solidFill>
                <a:latin typeface="Times New Roman" panose="02020603050405020304" pitchFamily="18" charset="0"/>
                <a:ea typeface="ＭＳ Ｐゴシック" panose="020B0600070205080204" pitchFamily="50" charset="-128"/>
              </a:defRPr>
            </a:lvl3pPr>
            <a:lvl4pPr algn="l" defTabSz="292100">
              <a:defRPr kumimoji="1" sz="2400">
                <a:solidFill>
                  <a:schemeClr val="tx1"/>
                </a:solidFill>
                <a:latin typeface="Times New Roman" panose="02020603050405020304" pitchFamily="18" charset="0"/>
                <a:ea typeface="ＭＳ Ｐゴシック" panose="020B0600070205080204" pitchFamily="50" charset="-128"/>
              </a:defRPr>
            </a:lvl4pPr>
            <a:lvl5pPr algn="l" defTabSz="292100">
              <a:defRPr kumimoji="1" sz="2400">
                <a:solidFill>
                  <a:schemeClr val="tx1"/>
                </a:solidFill>
                <a:latin typeface="Times New Roman" panose="02020603050405020304" pitchFamily="18" charset="0"/>
                <a:ea typeface="ＭＳ Ｐゴシック" panose="020B0600070205080204" pitchFamily="50" charset="-128"/>
              </a:defRPr>
            </a:lvl5pPr>
            <a:lvl6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200">
                <a:latin typeface="ＭＳ Ｐゴシック" panose="020B0600070205080204" pitchFamily="50" charset="-128"/>
              </a:rPr>
              <a:t>設備投資判断についての考え方と留意事項について検討します。</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9593" name="Rectangle 9">
            <a:extLst>
              <a:ext uri="{FF2B5EF4-FFF2-40B4-BE49-F238E27FC236}">
                <a16:creationId xmlns:a16="http://schemas.microsoft.com/office/drawing/2014/main" id="{FFDAE9B8-13BC-25CD-98C2-A130D16C69B4}"/>
              </a:ext>
            </a:extLst>
          </p:cNvPr>
          <p:cNvSpPr>
            <a:spLocks noChangeArrowheads="1"/>
          </p:cNvSpPr>
          <p:nvPr/>
        </p:nvSpPr>
        <p:spPr bwMode="auto">
          <a:xfrm>
            <a:off x="533400" y="43434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2-3-1</a:t>
            </a:r>
          </a:p>
        </p:txBody>
      </p:sp>
      <p:sp>
        <p:nvSpPr>
          <p:cNvPr id="1859594" name="Rectangle 10">
            <a:extLst>
              <a:ext uri="{FF2B5EF4-FFF2-40B4-BE49-F238E27FC236}">
                <a16:creationId xmlns:a16="http://schemas.microsoft.com/office/drawing/2014/main" id="{64B2E158-2684-D49A-B24B-C0400953C118}"/>
              </a:ext>
            </a:extLst>
          </p:cNvPr>
          <p:cNvSpPr>
            <a:spLocks noChangeArrowheads="1"/>
          </p:cNvSpPr>
          <p:nvPr/>
        </p:nvSpPr>
        <p:spPr bwMode="auto">
          <a:xfrm>
            <a:off x="1482725" y="43434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設備投資計画の際の経済性評価のアンケート結果</a:t>
            </a:r>
          </a:p>
        </p:txBody>
      </p:sp>
      <p:sp>
        <p:nvSpPr>
          <p:cNvPr id="1859598" name="AutoShape 14">
            <a:extLst>
              <a:ext uri="{FF2B5EF4-FFF2-40B4-BE49-F238E27FC236}">
                <a16:creationId xmlns:a16="http://schemas.microsoft.com/office/drawing/2014/main" id="{69E6ABA0-266B-DE1C-8FFB-124B8A8F9910}"/>
              </a:ext>
            </a:extLst>
          </p:cNvPr>
          <p:cNvSpPr>
            <a:spLocks noChangeArrowheads="1"/>
          </p:cNvSpPr>
          <p:nvPr/>
        </p:nvSpPr>
        <p:spPr bwMode="auto">
          <a:xfrm>
            <a:off x="1471613" y="4518025"/>
            <a:ext cx="2520950" cy="171450"/>
          </a:xfrm>
          <a:prstGeom prst="roundRect">
            <a:avLst>
              <a:gd name="adj" fmla="val 16667"/>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設備投資計画の際の経済性評価の実施有無</a:t>
            </a:r>
            <a:r>
              <a:rPr lang="en-US" altLang="ja-JP" sz="1000" baseline="30000">
                <a:latin typeface="ＭＳ Ｐゴシック" panose="020B0600070205080204" pitchFamily="50" charset="-128"/>
              </a:rPr>
              <a:t>※</a:t>
            </a:r>
          </a:p>
        </p:txBody>
      </p:sp>
      <p:sp>
        <p:nvSpPr>
          <p:cNvPr id="1859599" name="Line 15">
            <a:extLst>
              <a:ext uri="{FF2B5EF4-FFF2-40B4-BE49-F238E27FC236}">
                <a16:creationId xmlns:a16="http://schemas.microsoft.com/office/drawing/2014/main" id="{99F0CD8F-B7D0-3270-319F-4238F0860740}"/>
              </a:ext>
            </a:extLst>
          </p:cNvPr>
          <p:cNvSpPr>
            <a:spLocks noChangeShapeType="1"/>
          </p:cNvSpPr>
          <p:nvPr/>
        </p:nvSpPr>
        <p:spPr bwMode="auto">
          <a:xfrm>
            <a:off x="1093788" y="4748213"/>
            <a:ext cx="3276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nvGrpSpPr>
          <p:cNvPr id="1859600" name="Group 16">
            <a:extLst>
              <a:ext uri="{FF2B5EF4-FFF2-40B4-BE49-F238E27FC236}">
                <a16:creationId xmlns:a16="http://schemas.microsoft.com/office/drawing/2014/main" id="{03B80EAB-8E9C-0155-29CD-A99E50E74CF5}"/>
              </a:ext>
            </a:extLst>
          </p:cNvPr>
          <p:cNvGrpSpPr>
            <a:grpSpLocks noChangeAspect="1"/>
          </p:cNvGrpSpPr>
          <p:nvPr/>
        </p:nvGrpSpPr>
        <p:grpSpPr bwMode="auto">
          <a:xfrm>
            <a:off x="973138" y="4805363"/>
            <a:ext cx="3509962" cy="1076325"/>
            <a:chOff x="1787" y="1942"/>
            <a:chExt cx="2764" cy="1639"/>
          </a:xfrm>
        </p:grpSpPr>
        <p:sp>
          <p:nvSpPr>
            <p:cNvPr id="1859601" name="Rectangle 17">
              <a:extLst>
                <a:ext uri="{FF2B5EF4-FFF2-40B4-BE49-F238E27FC236}">
                  <a16:creationId xmlns:a16="http://schemas.microsoft.com/office/drawing/2014/main" id="{6801E417-1B4F-B7E0-A8AE-8CF815513DBB}"/>
                </a:ext>
              </a:extLst>
            </p:cNvPr>
            <p:cNvSpPr>
              <a:spLocks noChangeAspect="1" noChangeArrowheads="1"/>
            </p:cNvSpPr>
            <p:nvPr/>
          </p:nvSpPr>
          <p:spPr bwMode="auto">
            <a:xfrm>
              <a:off x="1799" y="1942"/>
              <a:ext cx="2630" cy="13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p>
          </p:txBody>
        </p:sp>
        <p:sp>
          <p:nvSpPr>
            <p:cNvPr id="1859602" name="Line 18">
              <a:extLst>
                <a:ext uri="{FF2B5EF4-FFF2-40B4-BE49-F238E27FC236}">
                  <a16:creationId xmlns:a16="http://schemas.microsoft.com/office/drawing/2014/main" id="{1E43EB14-2131-B304-38B7-AA7A60BDEBC1}"/>
                </a:ext>
              </a:extLst>
            </p:cNvPr>
            <p:cNvSpPr>
              <a:spLocks noChangeAspect="1" noChangeShapeType="1"/>
            </p:cNvSpPr>
            <p:nvPr/>
          </p:nvSpPr>
          <p:spPr bwMode="auto">
            <a:xfrm>
              <a:off x="2321" y="1942"/>
              <a:ext cx="2" cy="1336"/>
            </a:xfrm>
            <a:prstGeom prst="line">
              <a:avLst/>
            </a:prstGeom>
            <a:noFill/>
            <a:ln w="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03" name="Line 19">
              <a:extLst>
                <a:ext uri="{FF2B5EF4-FFF2-40B4-BE49-F238E27FC236}">
                  <a16:creationId xmlns:a16="http://schemas.microsoft.com/office/drawing/2014/main" id="{6469605F-BE6F-9028-07C5-27041E13C330}"/>
                </a:ext>
              </a:extLst>
            </p:cNvPr>
            <p:cNvSpPr>
              <a:spLocks noChangeAspect="1" noChangeShapeType="1"/>
            </p:cNvSpPr>
            <p:nvPr/>
          </p:nvSpPr>
          <p:spPr bwMode="auto">
            <a:xfrm>
              <a:off x="2853" y="1942"/>
              <a:ext cx="1" cy="1336"/>
            </a:xfrm>
            <a:prstGeom prst="line">
              <a:avLst/>
            </a:prstGeom>
            <a:noFill/>
            <a:ln w="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04" name="Line 20">
              <a:extLst>
                <a:ext uri="{FF2B5EF4-FFF2-40B4-BE49-F238E27FC236}">
                  <a16:creationId xmlns:a16="http://schemas.microsoft.com/office/drawing/2014/main" id="{3C9D88FB-BB7F-2CD1-03B4-FAD1A46604C5}"/>
                </a:ext>
              </a:extLst>
            </p:cNvPr>
            <p:cNvSpPr>
              <a:spLocks noChangeAspect="1" noChangeShapeType="1"/>
            </p:cNvSpPr>
            <p:nvPr/>
          </p:nvSpPr>
          <p:spPr bwMode="auto">
            <a:xfrm>
              <a:off x="3375" y="1942"/>
              <a:ext cx="2" cy="1336"/>
            </a:xfrm>
            <a:prstGeom prst="line">
              <a:avLst/>
            </a:prstGeom>
            <a:noFill/>
            <a:ln w="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05" name="Line 21">
              <a:extLst>
                <a:ext uri="{FF2B5EF4-FFF2-40B4-BE49-F238E27FC236}">
                  <a16:creationId xmlns:a16="http://schemas.microsoft.com/office/drawing/2014/main" id="{4EE19108-FCA3-0235-66A6-C26369CFE55E}"/>
                </a:ext>
              </a:extLst>
            </p:cNvPr>
            <p:cNvSpPr>
              <a:spLocks noChangeAspect="1" noChangeShapeType="1"/>
            </p:cNvSpPr>
            <p:nvPr/>
          </p:nvSpPr>
          <p:spPr bwMode="auto">
            <a:xfrm>
              <a:off x="3907" y="1942"/>
              <a:ext cx="1" cy="1336"/>
            </a:xfrm>
            <a:prstGeom prst="line">
              <a:avLst/>
            </a:prstGeom>
            <a:noFill/>
            <a:ln w="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06" name="Line 22">
              <a:extLst>
                <a:ext uri="{FF2B5EF4-FFF2-40B4-BE49-F238E27FC236}">
                  <a16:creationId xmlns:a16="http://schemas.microsoft.com/office/drawing/2014/main" id="{0FE6DDC3-6940-CE2B-108D-746827DB184D}"/>
                </a:ext>
              </a:extLst>
            </p:cNvPr>
            <p:cNvSpPr>
              <a:spLocks noChangeAspect="1" noChangeShapeType="1"/>
            </p:cNvSpPr>
            <p:nvPr/>
          </p:nvSpPr>
          <p:spPr bwMode="auto">
            <a:xfrm>
              <a:off x="4429" y="1942"/>
              <a:ext cx="2" cy="13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07" name="Rectangle 23">
              <a:extLst>
                <a:ext uri="{FF2B5EF4-FFF2-40B4-BE49-F238E27FC236}">
                  <a16:creationId xmlns:a16="http://schemas.microsoft.com/office/drawing/2014/main" id="{63F5A126-C563-E0E8-3195-4E19AE7181E7}"/>
                </a:ext>
              </a:extLst>
            </p:cNvPr>
            <p:cNvSpPr>
              <a:spLocks noChangeAspect="1" noChangeArrowheads="1"/>
            </p:cNvSpPr>
            <p:nvPr/>
          </p:nvSpPr>
          <p:spPr bwMode="auto">
            <a:xfrm>
              <a:off x="1799" y="1942"/>
              <a:ext cx="2630" cy="1336"/>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ja-JP" altLang="en-US"/>
            </a:p>
          </p:txBody>
        </p:sp>
        <p:sp>
          <p:nvSpPr>
            <p:cNvPr id="1859608" name="Rectangle 24">
              <a:extLst>
                <a:ext uri="{FF2B5EF4-FFF2-40B4-BE49-F238E27FC236}">
                  <a16:creationId xmlns:a16="http://schemas.microsoft.com/office/drawing/2014/main" id="{694106A6-E3B2-6672-FCE2-DA71B49C850E}"/>
                </a:ext>
              </a:extLst>
            </p:cNvPr>
            <p:cNvSpPr>
              <a:spLocks noChangeAspect="1" noChangeArrowheads="1"/>
            </p:cNvSpPr>
            <p:nvPr/>
          </p:nvSpPr>
          <p:spPr bwMode="auto">
            <a:xfrm>
              <a:off x="1799" y="2344"/>
              <a:ext cx="1704" cy="532"/>
            </a:xfrm>
            <a:prstGeom prst="rect">
              <a:avLst/>
            </a:prstGeom>
            <a:solidFill>
              <a:schemeClr val="hlink"/>
            </a:solidFill>
            <a:ln w="9525">
              <a:solidFill>
                <a:srgbClr val="000000"/>
              </a:solidFill>
              <a:miter lim="800000"/>
              <a:headEnd/>
              <a:tailEnd/>
            </a:ln>
          </p:spPr>
          <p:txBody>
            <a:bodyPr/>
            <a:lstStyle/>
            <a:p>
              <a:endParaRPr lang="ja-JP" altLang="en-US"/>
            </a:p>
          </p:txBody>
        </p:sp>
        <p:sp>
          <p:nvSpPr>
            <p:cNvPr id="1859609" name="Rectangle 25">
              <a:extLst>
                <a:ext uri="{FF2B5EF4-FFF2-40B4-BE49-F238E27FC236}">
                  <a16:creationId xmlns:a16="http://schemas.microsoft.com/office/drawing/2014/main" id="{1C643550-F92B-17D3-9987-A2E1F4C9C5DD}"/>
                </a:ext>
              </a:extLst>
            </p:cNvPr>
            <p:cNvSpPr>
              <a:spLocks noChangeAspect="1" noChangeArrowheads="1"/>
            </p:cNvSpPr>
            <p:nvPr/>
          </p:nvSpPr>
          <p:spPr bwMode="auto">
            <a:xfrm>
              <a:off x="3503" y="2344"/>
              <a:ext cx="926" cy="532"/>
            </a:xfrm>
            <a:prstGeom prst="rect">
              <a:avLst/>
            </a:prstGeom>
            <a:solidFill>
              <a:schemeClr val="bg2"/>
            </a:solidFill>
            <a:ln w="9525">
              <a:solidFill>
                <a:srgbClr val="000000"/>
              </a:solidFill>
              <a:miter lim="800000"/>
              <a:headEnd/>
              <a:tailEnd/>
            </a:ln>
          </p:spPr>
          <p:txBody>
            <a:bodyPr/>
            <a:lstStyle/>
            <a:p>
              <a:endParaRPr lang="ja-JP" altLang="en-US"/>
            </a:p>
          </p:txBody>
        </p:sp>
        <p:sp>
          <p:nvSpPr>
            <p:cNvPr id="1859610" name="Line 26">
              <a:extLst>
                <a:ext uri="{FF2B5EF4-FFF2-40B4-BE49-F238E27FC236}">
                  <a16:creationId xmlns:a16="http://schemas.microsoft.com/office/drawing/2014/main" id="{0C2BBD38-8F12-0FF3-9349-7C6B2474E791}"/>
                </a:ext>
              </a:extLst>
            </p:cNvPr>
            <p:cNvSpPr>
              <a:spLocks noChangeAspect="1" noChangeShapeType="1"/>
            </p:cNvSpPr>
            <p:nvPr/>
          </p:nvSpPr>
          <p:spPr bwMode="auto">
            <a:xfrm>
              <a:off x="1799" y="3278"/>
              <a:ext cx="26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11" name="Line 27">
              <a:extLst>
                <a:ext uri="{FF2B5EF4-FFF2-40B4-BE49-F238E27FC236}">
                  <a16:creationId xmlns:a16="http://schemas.microsoft.com/office/drawing/2014/main" id="{441B0124-FE3B-FC21-CB7B-285399B31784}"/>
                </a:ext>
              </a:extLst>
            </p:cNvPr>
            <p:cNvSpPr>
              <a:spLocks noChangeAspect="1" noChangeShapeType="1"/>
            </p:cNvSpPr>
            <p:nvPr/>
          </p:nvSpPr>
          <p:spPr bwMode="auto">
            <a:xfrm flipV="1">
              <a:off x="1799" y="3244"/>
              <a:ext cx="1" cy="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12" name="Line 28">
              <a:extLst>
                <a:ext uri="{FF2B5EF4-FFF2-40B4-BE49-F238E27FC236}">
                  <a16:creationId xmlns:a16="http://schemas.microsoft.com/office/drawing/2014/main" id="{597C61E0-84A5-92BC-15F8-6E991CD75C0B}"/>
                </a:ext>
              </a:extLst>
            </p:cNvPr>
            <p:cNvSpPr>
              <a:spLocks noChangeAspect="1" noChangeShapeType="1"/>
            </p:cNvSpPr>
            <p:nvPr/>
          </p:nvSpPr>
          <p:spPr bwMode="auto">
            <a:xfrm flipV="1">
              <a:off x="2321" y="3244"/>
              <a:ext cx="2" cy="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13" name="Line 29">
              <a:extLst>
                <a:ext uri="{FF2B5EF4-FFF2-40B4-BE49-F238E27FC236}">
                  <a16:creationId xmlns:a16="http://schemas.microsoft.com/office/drawing/2014/main" id="{1343F998-7976-06A5-07E7-7EE05C5E6EF4}"/>
                </a:ext>
              </a:extLst>
            </p:cNvPr>
            <p:cNvSpPr>
              <a:spLocks noChangeAspect="1" noChangeShapeType="1"/>
            </p:cNvSpPr>
            <p:nvPr/>
          </p:nvSpPr>
          <p:spPr bwMode="auto">
            <a:xfrm flipV="1">
              <a:off x="2853" y="3244"/>
              <a:ext cx="1" cy="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14" name="Line 30">
              <a:extLst>
                <a:ext uri="{FF2B5EF4-FFF2-40B4-BE49-F238E27FC236}">
                  <a16:creationId xmlns:a16="http://schemas.microsoft.com/office/drawing/2014/main" id="{E723C004-8C5D-9A2C-E31F-1723710FD491}"/>
                </a:ext>
              </a:extLst>
            </p:cNvPr>
            <p:cNvSpPr>
              <a:spLocks noChangeAspect="1" noChangeShapeType="1"/>
            </p:cNvSpPr>
            <p:nvPr/>
          </p:nvSpPr>
          <p:spPr bwMode="auto">
            <a:xfrm flipV="1">
              <a:off x="3375" y="3244"/>
              <a:ext cx="2" cy="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15" name="Line 31">
              <a:extLst>
                <a:ext uri="{FF2B5EF4-FFF2-40B4-BE49-F238E27FC236}">
                  <a16:creationId xmlns:a16="http://schemas.microsoft.com/office/drawing/2014/main" id="{51E5345B-B426-5CD0-5F3D-6BE14D31BE0E}"/>
                </a:ext>
              </a:extLst>
            </p:cNvPr>
            <p:cNvSpPr>
              <a:spLocks noChangeAspect="1" noChangeShapeType="1"/>
            </p:cNvSpPr>
            <p:nvPr/>
          </p:nvSpPr>
          <p:spPr bwMode="auto">
            <a:xfrm flipV="1">
              <a:off x="3907" y="3244"/>
              <a:ext cx="1" cy="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16" name="Line 32">
              <a:extLst>
                <a:ext uri="{FF2B5EF4-FFF2-40B4-BE49-F238E27FC236}">
                  <a16:creationId xmlns:a16="http://schemas.microsoft.com/office/drawing/2014/main" id="{63BFED71-79B2-16B8-AEFC-8BB1FD09C285}"/>
                </a:ext>
              </a:extLst>
            </p:cNvPr>
            <p:cNvSpPr>
              <a:spLocks noChangeAspect="1" noChangeShapeType="1"/>
            </p:cNvSpPr>
            <p:nvPr/>
          </p:nvSpPr>
          <p:spPr bwMode="auto">
            <a:xfrm flipV="1">
              <a:off x="4429" y="3244"/>
              <a:ext cx="2" cy="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17" name="Line 33">
              <a:extLst>
                <a:ext uri="{FF2B5EF4-FFF2-40B4-BE49-F238E27FC236}">
                  <a16:creationId xmlns:a16="http://schemas.microsoft.com/office/drawing/2014/main" id="{EF600987-EFED-771E-F3A4-69415E8F34F7}"/>
                </a:ext>
              </a:extLst>
            </p:cNvPr>
            <p:cNvSpPr>
              <a:spLocks noChangeAspect="1" noChangeShapeType="1"/>
            </p:cNvSpPr>
            <p:nvPr/>
          </p:nvSpPr>
          <p:spPr bwMode="auto">
            <a:xfrm>
              <a:off x="1799" y="1942"/>
              <a:ext cx="1" cy="13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18" name="Line 34">
              <a:extLst>
                <a:ext uri="{FF2B5EF4-FFF2-40B4-BE49-F238E27FC236}">
                  <a16:creationId xmlns:a16="http://schemas.microsoft.com/office/drawing/2014/main" id="{86D2CE56-F22E-6D90-887A-1936B4D441D4}"/>
                </a:ext>
              </a:extLst>
            </p:cNvPr>
            <p:cNvSpPr>
              <a:spLocks noChangeAspect="1" noChangeShapeType="1"/>
            </p:cNvSpPr>
            <p:nvPr/>
          </p:nvSpPr>
          <p:spPr bwMode="auto">
            <a:xfrm>
              <a:off x="1799" y="3278"/>
              <a:ext cx="4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19" name="Line 35">
              <a:extLst>
                <a:ext uri="{FF2B5EF4-FFF2-40B4-BE49-F238E27FC236}">
                  <a16:creationId xmlns:a16="http://schemas.microsoft.com/office/drawing/2014/main" id="{9C8F7A87-45DE-A2D1-1F8D-5A8F71B795BE}"/>
                </a:ext>
              </a:extLst>
            </p:cNvPr>
            <p:cNvSpPr>
              <a:spLocks noChangeAspect="1" noChangeShapeType="1"/>
            </p:cNvSpPr>
            <p:nvPr/>
          </p:nvSpPr>
          <p:spPr bwMode="auto">
            <a:xfrm>
              <a:off x="1799" y="1942"/>
              <a:ext cx="4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20" name="Rectangle 36">
              <a:extLst>
                <a:ext uri="{FF2B5EF4-FFF2-40B4-BE49-F238E27FC236}">
                  <a16:creationId xmlns:a16="http://schemas.microsoft.com/office/drawing/2014/main" id="{B6C82B74-4289-B69D-78A2-204D3CC18972}"/>
                </a:ext>
              </a:extLst>
            </p:cNvPr>
            <p:cNvSpPr>
              <a:spLocks noChangeAspect="1" noChangeArrowheads="1"/>
            </p:cNvSpPr>
            <p:nvPr/>
          </p:nvSpPr>
          <p:spPr bwMode="auto">
            <a:xfrm>
              <a:off x="2582" y="2561"/>
              <a:ext cx="199"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64.7%</a:t>
              </a:r>
              <a:endParaRPr lang="en-US" altLang="ja-JP" sz="900">
                <a:latin typeface="ＭＳ Ｐゴシック" panose="020B0600070205080204" pitchFamily="50" charset="-128"/>
              </a:endParaRPr>
            </a:p>
          </p:txBody>
        </p:sp>
        <p:sp>
          <p:nvSpPr>
            <p:cNvPr id="1859621" name="Rectangle 37">
              <a:extLst>
                <a:ext uri="{FF2B5EF4-FFF2-40B4-BE49-F238E27FC236}">
                  <a16:creationId xmlns:a16="http://schemas.microsoft.com/office/drawing/2014/main" id="{282B57B6-DB22-FC25-ED06-17C03EBF3661}"/>
                </a:ext>
              </a:extLst>
            </p:cNvPr>
            <p:cNvSpPr>
              <a:spLocks noChangeAspect="1" noChangeArrowheads="1"/>
            </p:cNvSpPr>
            <p:nvPr/>
          </p:nvSpPr>
          <p:spPr bwMode="auto">
            <a:xfrm>
              <a:off x="3906" y="2561"/>
              <a:ext cx="199"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chemeClr val="bg1"/>
                  </a:solidFill>
                  <a:latin typeface="ＭＳ Ｐゴシック" panose="020B0600070205080204" pitchFamily="50" charset="-128"/>
                </a:rPr>
                <a:t>35.3%</a:t>
              </a:r>
            </a:p>
          </p:txBody>
        </p:sp>
        <p:sp>
          <p:nvSpPr>
            <p:cNvPr id="1859622" name="Rectangle 38">
              <a:extLst>
                <a:ext uri="{FF2B5EF4-FFF2-40B4-BE49-F238E27FC236}">
                  <a16:creationId xmlns:a16="http://schemas.microsoft.com/office/drawing/2014/main" id="{3CF3BA76-7222-A999-54F3-4072E34DF5D6}"/>
                </a:ext>
              </a:extLst>
            </p:cNvPr>
            <p:cNvSpPr>
              <a:spLocks noChangeAspect="1" noChangeArrowheads="1"/>
            </p:cNvSpPr>
            <p:nvPr/>
          </p:nvSpPr>
          <p:spPr bwMode="auto">
            <a:xfrm>
              <a:off x="1787" y="3373"/>
              <a:ext cx="90"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0%</a:t>
              </a:r>
              <a:endParaRPr lang="en-US" altLang="ja-JP" sz="900">
                <a:latin typeface="ＭＳ Ｐゴシック" panose="020B0600070205080204" pitchFamily="50" charset="-128"/>
              </a:endParaRPr>
            </a:p>
          </p:txBody>
        </p:sp>
        <p:sp>
          <p:nvSpPr>
            <p:cNvPr id="1859623" name="Rectangle 39">
              <a:extLst>
                <a:ext uri="{FF2B5EF4-FFF2-40B4-BE49-F238E27FC236}">
                  <a16:creationId xmlns:a16="http://schemas.microsoft.com/office/drawing/2014/main" id="{F2FD071B-2CA5-379E-8045-B6209A3BF429}"/>
                </a:ext>
              </a:extLst>
            </p:cNvPr>
            <p:cNvSpPr>
              <a:spLocks noChangeAspect="1" noChangeArrowheads="1"/>
            </p:cNvSpPr>
            <p:nvPr/>
          </p:nvSpPr>
          <p:spPr bwMode="auto">
            <a:xfrm>
              <a:off x="2287" y="3373"/>
              <a:ext cx="135"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20%</a:t>
              </a:r>
              <a:endParaRPr lang="en-US" altLang="ja-JP" sz="900">
                <a:latin typeface="ＭＳ Ｐゴシック" panose="020B0600070205080204" pitchFamily="50" charset="-128"/>
              </a:endParaRPr>
            </a:p>
          </p:txBody>
        </p:sp>
        <p:sp>
          <p:nvSpPr>
            <p:cNvPr id="1859624" name="Rectangle 40">
              <a:extLst>
                <a:ext uri="{FF2B5EF4-FFF2-40B4-BE49-F238E27FC236}">
                  <a16:creationId xmlns:a16="http://schemas.microsoft.com/office/drawing/2014/main" id="{EA454B37-155B-6CFD-5145-396A8A4D2132}"/>
                </a:ext>
              </a:extLst>
            </p:cNvPr>
            <p:cNvSpPr>
              <a:spLocks noChangeAspect="1" noChangeArrowheads="1"/>
            </p:cNvSpPr>
            <p:nvPr/>
          </p:nvSpPr>
          <p:spPr bwMode="auto">
            <a:xfrm>
              <a:off x="2818" y="3373"/>
              <a:ext cx="135"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40%</a:t>
              </a:r>
              <a:endParaRPr lang="en-US" altLang="ja-JP" sz="900">
                <a:latin typeface="ＭＳ Ｐゴシック" panose="020B0600070205080204" pitchFamily="50" charset="-128"/>
              </a:endParaRPr>
            </a:p>
          </p:txBody>
        </p:sp>
        <p:sp>
          <p:nvSpPr>
            <p:cNvPr id="1859625" name="Rectangle 41">
              <a:extLst>
                <a:ext uri="{FF2B5EF4-FFF2-40B4-BE49-F238E27FC236}">
                  <a16:creationId xmlns:a16="http://schemas.microsoft.com/office/drawing/2014/main" id="{314BF6C1-4500-456D-10A6-109AF6014C4A}"/>
                </a:ext>
              </a:extLst>
            </p:cNvPr>
            <p:cNvSpPr>
              <a:spLocks noChangeAspect="1" noChangeArrowheads="1"/>
            </p:cNvSpPr>
            <p:nvPr/>
          </p:nvSpPr>
          <p:spPr bwMode="auto">
            <a:xfrm>
              <a:off x="3341" y="3373"/>
              <a:ext cx="135"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60%</a:t>
              </a:r>
              <a:endParaRPr lang="en-US" altLang="ja-JP" sz="900">
                <a:latin typeface="ＭＳ Ｐゴシック" panose="020B0600070205080204" pitchFamily="50" charset="-128"/>
              </a:endParaRPr>
            </a:p>
          </p:txBody>
        </p:sp>
        <p:sp>
          <p:nvSpPr>
            <p:cNvPr id="1859626" name="Rectangle 42">
              <a:extLst>
                <a:ext uri="{FF2B5EF4-FFF2-40B4-BE49-F238E27FC236}">
                  <a16:creationId xmlns:a16="http://schemas.microsoft.com/office/drawing/2014/main" id="{56D8B96A-A010-31E4-E026-03BF89D4DFE6}"/>
                </a:ext>
              </a:extLst>
            </p:cNvPr>
            <p:cNvSpPr>
              <a:spLocks noChangeAspect="1" noChangeArrowheads="1"/>
            </p:cNvSpPr>
            <p:nvPr/>
          </p:nvSpPr>
          <p:spPr bwMode="auto">
            <a:xfrm>
              <a:off x="3872" y="3373"/>
              <a:ext cx="135"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80%</a:t>
              </a:r>
              <a:endParaRPr lang="en-US" altLang="ja-JP" sz="900">
                <a:latin typeface="ＭＳ Ｐゴシック" panose="020B0600070205080204" pitchFamily="50" charset="-128"/>
              </a:endParaRPr>
            </a:p>
          </p:txBody>
        </p:sp>
        <p:sp>
          <p:nvSpPr>
            <p:cNvPr id="1859627" name="Rectangle 43">
              <a:extLst>
                <a:ext uri="{FF2B5EF4-FFF2-40B4-BE49-F238E27FC236}">
                  <a16:creationId xmlns:a16="http://schemas.microsoft.com/office/drawing/2014/main" id="{5082C493-F263-B70C-9196-91E7B373040E}"/>
                </a:ext>
              </a:extLst>
            </p:cNvPr>
            <p:cNvSpPr>
              <a:spLocks noChangeAspect="1" noChangeArrowheads="1"/>
            </p:cNvSpPr>
            <p:nvPr/>
          </p:nvSpPr>
          <p:spPr bwMode="auto">
            <a:xfrm>
              <a:off x="4371" y="3373"/>
              <a:ext cx="180"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100%</a:t>
              </a:r>
              <a:endParaRPr lang="en-US" altLang="ja-JP" sz="900">
                <a:latin typeface="ＭＳ Ｐゴシック" panose="020B0600070205080204" pitchFamily="50" charset="-128"/>
              </a:endParaRPr>
            </a:p>
          </p:txBody>
        </p:sp>
        <p:sp>
          <p:nvSpPr>
            <p:cNvPr id="1859628" name="Rectangle 44">
              <a:extLst>
                <a:ext uri="{FF2B5EF4-FFF2-40B4-BE49-F238E27FC236}">
                  <a16:creationId xmlns:a16="http://schemas.microsoft.com/office/drawing/2014/main" id="{FCA9842D-4C94-0F17-3632-2A0F248AD3A3}"/>
                </a:ext>
              </a:extLst>
            </p:cNvPr>
            <p:cNvSpPr>
              <a:spLocks noChangeAspect="1" noChangeArrowheads="1"/>
            </p:cNvSpPr>
            <p:nvPr/>
          </p:nvSpPr>
          <p:spPr bwMode="auto">
            <a:xfrm>
              <a:off x="2180" y="2051"/>
              <a:ext cx="578" cy="2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rgbClr val="000000"/>
                  </a:solidFill>
                  <a:latin typeface="ＭＳ Ｐゴシック" panose="020B0600070205080204" pitchFamily="50" charset="-128"/>
                </a:rPr>
                <a:t>実施する </a:t>
              </a:r>
              <a:r>
                <a:rPr lang="en-US" altLang="ja-JP" sz="900">
                  <a:solidFill>
                    <a:srgbClr val="000000"/>
                  </a:solidFill>
                  <a:latin typeface="ＭＳ Ｐゴシック" panose="020B0600070205080204" pitchFamily="50" charset="-128"/>
                </a:rPr>
                <a:t>55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sp>
          <p:nvSpPr>
            <p:cNvPr id="1859629" name="Rectangle 45">
              <a:extLst>
                <a:ext uri="{FF2B5EF4-FFF2-40B4-BE49-F238E27FC236}">
                  <a16:creationId xmlns:a16="http://schemas.microsoft.com/office/drawing/2014/main" id="{892E4BDD-0DF9-6FA1-2635-504E7CFFC4EC}"/>
                </a:ext>
              </a:extLst>
            </p:cNvPr>
            <p:cNvSpPr>
              <a:spLocks noChangeAspect="1" noChangeArrowheads="1"/>
            </p:cNvSpPr>
            <p:nvPr/>
          </p:nvSpPr>
          <p:spPr bwMode="auto">
            <a:xfrm>
              <a:off x="3461" y="2051"/>
              <a:ext cx="650" cy="2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rgbClr val="000000"/>
                  </a:solidFill>
                  <a:latin typeface="ＭＳ Ｐゴシック" panose="020B0600070205080204" pitchFamily="50" charset="-128"/>
                </a:rPr>
                <a:t>実施しない </a:t>
              </a:r>
              <a:r>
                <a:rPr lang="en-US" altLang="ja-JP" sz="900">
                  <a:solidFill>
                    <a:srgbClr val="000000"/>
                  </a:solidFill>
                  <a:latin typeface="ＭＳ Ｐゴシック" panose="020B0600070205080204" pitchFamily="50" charset="-128"/>
                </a:rPr>
                <a:t>30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grpSp>
      <p:sp>
        <p:nvSpPr>
          <p:cNvPr id="1859630" name="Rectangle 46">
            <a:extLst>
              <a:ext uri="{FF2B5EF4-FFF2-40B4-BE49-F238E27FC236}">
                <a16:creationId xmlns:a16="http://schemas.microsoft.com/office/drawing/2014/main" id="{EBD318BE-DE5F-2F3D-D729-B042FEF29647}"/>
              </a:ext>
            </a:extLst>
          </p:cNvPr>
          <p:cNvSpPr>
            <a:spLocks noChangeArrowheads="1"/>
          </p:cNvSpPr>
          <p:nvPr/>
        </p:nvSpPr>
        <p:spPr bwMode="auto">
          <a:xfrm>
            <a:off x="533400" y="8839200"/>
            <a:ext cx="4343400" cy="152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800">
                <a:latin typeface="ＭＳ Ｐゴシック" panose="020B0600070205080204" pitchFamily="50" charset="-128"/>
              </a:rPr>
              <a:t>グラフ出典：</a:t>
            </a:r>
            <a:r>
              <a:rPr lang="en-US" altLang="ja-JP" sz="800">
                <a:latin typeface="ＭＳ Ｐゴシック" panose="020B0600070205080204" pitchFamily="50" charset="-128"/>
              </a:rPr>
              <a:t>『</a:t>
            </a:r>
            <a:r>
              <a:rPr lang="ja-JP" altLang="en-US" sz="800">
                <a:latin typeface="ＭＳ Ｐゴシック" panose="020B0600070205080204" pitchFamily="50" charset="-128"/>
              </a:rPr>
              <a:t>わが国の管理会計</a:t>
            </a:r>
            <a:r>
              <a:rPr lang="en-US" altLang="ja-JP" sz="800">
                <a:latin typeface="ＭＳ Ｐゴシック" panose="020B0600070205080204" pitchFamily="50" charset="-128"/>
              </a:rPr>
              <a:t>-</a:t>
            </a:r>
            <a:r>
              <a:rPr lang="ja-JP" altLang="en-US" sz="800">
                <a:latin typeface="ＭＳ Ｐゴシック" panose="020B0600070205080204" pitchFamily="50" charset="-128"/>
              </a:rPr>
              <a:t>実態調査研究</a:t>
            </a:r>
            <a:r>
              <a:rPr lang="en-US" altLang="ja-JP" sz="800">
                <a:latin typeface="ＭＳ Ｐゴシック" panose="020B0600070205080204" pitchFamily="50" charset="-128"/>
              </a:rPr>
              <a:t>-』</a:t>
            </a:r>
            <a:r>
              <a:rPr lang="ja-JP" altLang="en-US" sz="800">
                <a:latin typeface="ＭＳ Ｐゴシック" panose="020B0600070205080204" pitchFamily="50" charset="-128"/>
              </a:rPr>
              <a:t>佐藤進編著、中央大学出版部、</a:t>
            </a:r>
            <a:r>
              <a:rPr lang="en-US" altLang="ja-JP" sz="800">
                <a:latin typeface="ＭＳ Ｐゴシック" panose="020B0600070205080204" pitchFamily="50" charset="-128"/>
              </a:rPr>
              <a:t>1999</a:t>
            </a:r>
            <a:r>
              <a:rPr lang="ja-JP" altLang="en-US" sz="800">
                <a:latin typeface="ＭＳ Ｐゴシック" panose="020B0600070205080204" pitchFamily="50" charset="-128"/>
              </a:rPr>
              <a:t>年より作成</a:t>
            </a:r>
          </a:p>
        </p:txBody>
      </p:sp>
      <p:sp>
        <p:nvSpPr>
          <p:cNvPr id="1859631" name="Rectangle 47">
            <a:extLst>
              <a:ext uri="{FF2B5EF4-FFF2-40B4-BE49-F238E27FC236}">
                <a16:creationId xmlns:a16="http://schemas.microsoft.com/office/drawing/2014/main" id="{3B49FF91-188A-9066-3A87-BB57DB7FAACE}"/>
              </a:ext>
            </a:extLst>
          </p:cNvPr>
          <p:cNvSpPr>
            <a:spLocks noChangeArrowheads="1"/>
          </p:cNvSpPr>
          <p:nvPr/>
        </p:nvSpPr>
        <p:spPr bwMode="auto">
          <a:xfrm>
            <a:off x="4411663" y="4800600"/>
            <a:ext cx="1912937"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1000">
                <a:latin typeface="ＭＳ Ｐゴシック" panose="020B0600070205080204" pitchFamily="50" charset="-128"/>
              </a:rPr>
              <a:t>※</a:t>
            </a:r>
            <a:r>
              <a:rPr lang="ja-JP" altLang="en-US" sz="1000">
                <a:latin typeface="ＭＳ Ｐゴシック" panose="020B0600070205080204" pitchFamily="50" charset="-128"/>
              </a:rPr>
              <a:t>調査対象企業：</a:t>
            </a:r>
          </a:p>
          <a:p>
            <a:r>
              <a:rPr lang="ja-JP" altLang="en-US" sz="1000">
                <a:latin typeface="ＭＳ Ｐゴシック" panose="020B0600070205080204" pitchFamily="50" charset="-128"/>
              </a:rPr>
              <a:t>　東京証券取引所</a:t>
            </a:r>
          </a:p>
          <a:p>
            <a:r>
              <a:rPr lang="ja-JP" altLang="en-US" sz="1000">
                <a:latin typeface="ＭＳ Ｐゴシック" panose="020B0600070205080204" pitchFamily="50" charset="-128"/>
              </a:rPr>
              <a:t>　一部・二部上場の機械製造</a:t>
            </a:r>
          </a:p>
          <a:p>
            <a:r>
              <a:rPr lang="ja-JP" altLang="en-US" sz="1000">
                <a:latin typeface="ＭＳ Ｐゴシック" panose="020B0600070205080204" pitchFamily="50" charset="-128"/>
              </a:rPr>
              <a:t>　ポストの企業、</a:t>
            </a:r>
            <a:r>
              <a:rPr lang="en-US" altLang="ja-JP" sz="1000">
                <a:latin typeface="ＭＳ Ｐゴシック" panose="020B0600070205080204" pitchFamily="50" charset="-128"/>
              </a:rPr>
              <a:t>581</a:t>
            </a:r>
            <a:r>
              <a:rPr lang="ja-JP" altLang="en-US" sz="1000">
                <a:latin typeface="ＭＳ Ｐゴシック" panose="020B0600070205080204" pitchFamily="50" charset="-128"/>
              </a:rPr>
              <a:t>社</a:t>
            </a:r>
          </a:p>
        </p:txBody>
      </p:sp>
      <p:sp>
        <p:nvSpPr>
          <p:cNvPr id="1859632" name="AutoShape 48">
            <a:extLst>
              <a:ext uri="{FF2B5EF4-FFF2-40B4-BE49-F238E27FC236}">
                <a16:creationId xmlns:a16="http://schemas.microsoft.com/office/drawing/2014/main" id="{A3A46BEE-C7D3-CAE5-A3E0-9201B7EA6180}"/>
              </a:ext>
            </a:extLst>
          </p:cNvPr>
          <p:cNvSpPr>
            <a:spLocks noChangeArrowheads="1"/>
          </p:cNvSpPr>
          <p:nvPr/>
        </p:nvSpPr>
        <p:spPr bwMode="auto">
          <a:xfrm>
            <a:off x="1444625" y="6019800"/>
            <a:ext cx="2520950" cy="171450"/>
          </a:xfrm>
          <a:prstGeom prst="roundRect">
            <a:avLst>
              <a:gd name="adj" fmla="val 16667"/>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設備投資計画の際の経済性評価の実施有無</a:t>
            </a:r>
            <a:r>
              <a:rPr lang="en-US" altLang="ja-JP" sz="1000" baseline="30000">
                <a:latin typeface="ＭＳ Ｐゴシック" panose="020B0600070205080204" pitchFamily="50" charset="-128"/>
              </a:rPr>
              <a:t>※</a:t>
            </a:r>
          </a:p>
        </p:txBody>
      </p:sp>
      <p:sp>
        <p:nvSpPr>
          <p:cNvPr id="1859633" name="Line 49">
            <a:extLst>
              <a:ext uri="{FF2B5EF4-FFF2-40B4-BE49-F238E27FC236}">
                <a16:creationId xmlns:a16="http://schemas.microsoft.com/office/drawing/2014/main" id="{4144D6C4-F0EA-8400-A4E2-369987068CA6}"/>
              </a:ext>
            </a:extLst>
          </p:cNvPr>
          <p:cNvSpPr>
            <a:spLocks noChangeShapeType="1"/>
          </p:cNvSpPr>
          <p:nvPr/>
        </p:nvSpPr>
        <p:spPr bwMode="auto">
          <a:xfrm>
            <a:off x="1066800" y="6249988"/>
            <a:ext cx="3276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859634" name="Rectangle 50">
            <a:extLst>
              <a:ext uri="{FF2B5EF4-FFF2-40B4-BE49-F238E27FC236}">
                <a16:creationId xmlns:a16="http://schemas.microsoft.com/office/drawing/2014/main" id="{9397F05A-D3BF-E2BF-CE01-3E58290CA5E6}"/>
              </a:ext>
            </a:extLst>
          </p:cNvPr>
          <p:cNvSpPr>
            <a:spLocks noChangeAspect="1" noChangeArrowheads="1"/>
          </p:cNvSpPr>
          <p:nvPr/>
        </p:nvSpPr>
        <p:spPr bwMode="auto">
          <a:xfrm>
            <a:off x="560388" y="6575425"/>
            <a:ext cx="7302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1000">
                <a:latin typeface="ＭＳ Ｐゴシック" panose="020B0600070205080204" pitchFamily="50" charset="-128"/>
              </a:rPr>
              <a:t>正味現在価値法</a:t>
            </a:r>
          </a:p>
        </p:txBody>
      </p:sp>
      <p:sp>
        <p:nvSpPr>
          <p:cNvPr id="1859635" name="Rectangle 51">
            <a:extLst>
              <a:ext uri="{FF2B5EF4-FFF2-40B4-BE49-F238E27FC236}">
                <a16:creationId xmlns:a16="http://schemas.microsoft.com/office/drawing/2014/main" id="{8A8C75F5-7F46-9DDA-6455-547E02A80602}"/>
              </a:ext>
            </a:extLst>
          </p:cNvPr>
          <p:cNvSpPr>
            <a:spLocks noChangeAspect="1" noChangeArrowheads="1"/>
          </p:cNvSpPr>
          <p:nvPr/>
        </p:nvSpPr>
        <p:spPr bwMode="auto">
          <a:xfrm>
            <a:off x="560388" y="7035800"/>
            <a:ext cx="86995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1000">
                <a:latin typeface="ＭＳ Ｐゴシック" panose="020B0600070205080204" pitchFamily="50" charset="-128"/>
              </a:rPr>
              <a:t>内部利益率法</a:t>
            </a:r>
          </a:p>
        </p:txBody>
      </p:sp>
      <p:sp>
        <p:nvSpPr>
          <p:cNvPr id="1859636" name="Rectangle 52">
            <a:extLst>
              <a:ext uri="{FF2B5EF4-FFF2-40B4-BE49-F238E27FC236}">
                <a16:creationId xmlns:a16="http://schemas.microsoft.com/office/drawing/2014/main" id="{2ED1FA97-C045-1B95-E43F-B95228BA6F0D}"/>
              </a:ext>
            </a:extLst>
          </p:cNvPr>
          <p:cNvSpPr>
            <a:spLocks noChangeAspect="1" noChangeArrowheads="1"/>
          </p:cNvSpPr>
          <p:nvPr/>
        </p:nvSpPr>
        <p:spPr bwMode="auto">
          <a:xfrm>
            <a:off x="560388" y="7481888"/>
            <a:ext cx="74295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1000">
                <a:latin typeface="ＭＳ Ｐゴシック" panose="020B0600070205080204" pitchFamily="50" charset="-128"/>
              </a:rPr>
              <a:t>回収期間法</a:t>
            </a:r>
          </a:p>
        </p:txBody>
      </p:sp>
      <p:sp>
        <p:nvSpPr>
          <p:cNvPr id="1859637" name="Rectangle 53">
            <a:extLst>
              <a:ext uri="{FF2B5EF4-FFF2-40B4-BE49-F238E27FC236}">
                <a16:creationId xmlns:a16="http://schemas.microsoft.com/office/drawing/2014/main" id="{5FABB518-D1EB-5467-C7B6-FD647AF2C1FF}"/>
              </a:ext>
            </a:extLst>
          </p:cNvPr>
          <p:cNvSpPr>
            <a:spLocks noChangeAspect="1" noChangeArrowheads="1"/>
          </p:cNvSpPr>
          <p:nvPr/>
        </p:nvSpPr>
        <p:spPr bwMode="auto">
          <a:xfrm>
            <a:off x="560388" y="7926388"/>
            <a:ext cx="855662"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1000">
                <a:latin typeface="ＭＳ Ｐゴシック" panose="020B0600070205080204" pitchFamily="50" charset="-128"/>
              </a:rPr>
              <a:t>会計的利益率法</a:t>
            </a:r>
          </a:p>
        </p:txBody>
      </p:sp>
      <p:sp>
        <p:nvSpPr>
          <p:cNvPr id="1859638" name="Rectangle 54">
            <a:extLst>
              <a:ext uri="{FF2B5EF4-FFF2-40B4-BE49-F238E27FC236}">
                <a16:creationId xmlns:a16="http://schemas.microsoft.com/office/drawing/2014/main" id="{631508EC-300F-15B5-362A-375ECFB6A53E}"/>
              </a:ext>
            </a:extLst>
          </p:cNvPr>
          <p:cNvSpPr>
            <a:spLocks noChangeAspect="1" noChangeArrowheads="1"/>
          </p:cNvSpPr>
          <p:nvPr/>
        </p:nvSpPr>
        <p:spPr bwMode="auto">
          <a:xfrm>
            <a:off x="560388" y="8372475"/>
            <a:ext cx="479425"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1000">
                <a:latin typeface="ＭＳ Ｐゴシック" panose="020B0600070205080204" pitchFamily="50" charset="-128"/>
              </a:rPr>
              <a:t>その他</a:t>
            </a:r>
          </a:p>
        </p:txBody>
      </p:sp>
      <p:sp>
        <p:nvSpPr>
          <p:cNvPr id="1859639" name="Rectangle 55">
            <a:extLst>
              <a:ext uri="{FF2B5EF4-FFF2-40B4-BE49-F238E27FC236}">
                <a16:creationId xmlns:a16="http://schemas.microsoft.com/office/drawing/2014/main" id="{19E40B4A-DEA0-E780-8B0F-5DB4311DEA30}"/>
              </a:ext>
            </a:extLst>
          </p:cNvPr>
          <p:cNvSpPr>
            <a:spLocks noChangeAspect="1" noChangeArrowheads="1"/>
          </p:cNvSpPr>
          <p:nvPr/>
        </p:nvSpPr>
        <p:spPr bwMode="auto">
          <a:xfrm>
            <a:off x="1397000" y="6324600"/>
            <a:ext cx="2349500" cy="12144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p>
        </p:txBody>
      </p:sp>
      <p:sp>
        <p:nvSpPr>
          <p:cNvPr id="1859640" name="Line 56">
            <a:extLst>
              <a:ext uri="{FF2B5EF4-FFF2-40B4-BE49-F238E27FC236}">
                <a16:creationId xmlns:a16="http://schemas.microsoft.com/office/drawing/2014/main" id="{0A357535-AA5F-3214-DEDA-516A1955A3D5}"/>
              </a:ext>
            </a:extLst>
          </p:cNvPr>
          <p:cNvSpPr>
            <a:spLocks noChangeAspect="1" noChangeShapeType="1"/>
          </p:cNvSpPr>
          <p:nvPr/>
        </p:nvSpPr>
        <p:spPr bwMode="auto">
          <a:xfrm>
            <a:off x="1863725" y="6324600"/>
            <a:ext cx="1588" cy="2286000"/>
          </a:xfrm>
          <a:prstGeom prst="line">
            <a:avLst/>
          </a:prstGeom>
          <a:noFill/>
          <a:ln w="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41" name="Line 57">
            <a:extLst>
              <a:ext uri="{FF2B5EF4-FFF2-40B4-BE49-F238E27FC236}">
                <a16:creationId xmlns:a16="http://schemas.microsoft.com/office/drawing/2014/main" id="{0D9BC9A4-63DE-E7D5-B4FE-49C530E0478B}"/>
              </a:ext>
            </a:extLst>
          </p:cNvPr>
          <p:cNvSpPr>
            <a:spLocks noChangeAspect="1" noChangeShapeType="1"/>
          </p:cNvSpPr>
          <p:nvPr/>
        </p:nvSpPr>
        <p:spPr bwMode="auto">
          <a:xfrm>
            <a:off x="2338388" y="6324600"/>
            <a:ext cx="1587" cy="2286000"/>
          </a:xfrm>
          <a:prstGeom prst="line">
            <a:avLst/>
          </a:prstGeom>
          <a:noFill/>
          <a:ln w="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42" name="Line 58">
            <a:extLst>
              <a:ext uri="{FF2B5EF4-FFF2-40B4-BE49-F238E27FC236}">
                <a16:creationId xmlns:a16="http://schemas.microsoft.com/office/drawing/2014/main" id="{78949525-C4B7-D65A-8A4E-99B112CBBD7F}"/>
              </a:ext>
            </a:extLst>
          </p:cNvPr>
          <p:cNvSpPr>
            <a:spLocks noChangeAspect="1" noChangeShapeType="1"/>
          </p:cNvSpPr>
          <p:nvPr/>
        </p:nvSpPr>
        <p:spPr bwMode="auto">
          <a:xfrm>
            <a:off x="2806700" y="6324600"/>
            <a:ext cx="1588" cy="2286000"/>
          </a:xfrm>
          <a:prstGeom prst="line">
            <a:avLst/>
          </a:prstGeom>
          <a:noFill/>
          <a:ln w="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43" name="Line 59">
            <a:extLst>
              <a:ext uri="{FF2B5EF4-FFF2-40B4-BE49-F238E27FC236}">
                <a16:creationId xmlns:a16="http://schemas.microsoft.com/office/drawing/2014/main" id="{17C9894C-CC22-E1D0-8DC7-B87C669C4D92}"/>
              </a:ext>
            </a:extLst>
          </p:cNvPr>
          <p:cNvSpPr>
            <a:spLocks noChangeAspect="1" noChangeShapeType="1"/>
          </p:cNvSpPr>
          <p:nvPr/>
        </p:nvSpPr>
        <p:spPr bwMode="auto">
          <a:xfrm>
            <a:off x="3281363" y="6324600"/>
            <a:ext cx="1587" cy="2286000"/>
          </a:xfrm>
          <a:prstGeom prst="line">
            <a:avLst/>
          </a:prstGeom>
          <a:noFill/>
          <a:ln w="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44" name="Line 60">
            <a:extLst>
              <a:ext uri="{FF2B5EF4-FFF2-40B4-BE49-F238E27FC236}">
                <a16:creationId xmlns:a16="http://schemas.microsoft.com/office/drawing/2014/main" id="{480B33F4-6C8C-D73F-9FD4-02F349BD664F}"/>
              </a:ext>
            </a:extLst>
          </p:cNvPr>
          <p:cNvSpPr>
            <a:spLocks noChangeAspect="1" noChangeShapeType="1"/>
          </p:cNvSpPr>
          <p:nvPr/>
        </p:nvSpPr>
        <p:spPr bwMode="auto">
          <a:xfrm>
            <a:off x="3746500" y="6324600"/>
            <a:ext cx="4763" cy="1214438"/>
          </a:xfrm>
          <a:prstGeom prst="line">
            <a:avLst/>
          </a:prstGeom>
          <a:noFill/>
          <a:ln w="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45" name="Rectangle 61">
            <a:extLst>
              <a:ext uri="{FF2B5EF4-FFF2-40B4-BE49-F238E27FC236}">
                <a16:creationId xmlns:a16="http://schemas.microsoft.com/office/drawing/2014/main" id="{A400FF4A-45FD-4AA6-C0C4-5E378E7E34F7}"/>
              </a:ext>
            </a:extLst>
          </p:cNvPr>
          <p:cNvSpPr>
            <a:spLocks noChangeAspect="1" noChangeArrowheads="1"/>
          </p:cNvSpPr>
          <p:nvPr/>
        </p:nvSpPr>
        <p:spPr bwMode="auto">
          <a:xfrm>
            <a:off x="1397000" y="6324600"/>
            <a:ext cx="2349500" cy="228600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ja-JP" altLang="en-US"/>
          </a:p>
        </p:txBody>
      </p:sp>
      <p:sp>
        <p:nvSpPr>
          <p:cNvPr id="1859646" name="Rectangle 62">
            <a:extLst>
              <a:ext uri="{FF2B5EF4-FFF2-40B4-BE49-F238E27FC236}">
                <a16:creationId xmlns:a16="http://schemas.microsoft.com/office/drawing/2014/main" id="{E159970A-EE4A-5BFF-34E2-743362F44143}"/>
              </a:ext>
            </a:extLst>
          </p:cNvPr>
          <p:cNvSpPr>
            <a:spLocks noChangeAspect="1" noChangeArrowheads="1"/>
          </p:cNvSpPr>
          <p:nvPr/>
        </p:nvSpPr>
        <p:spPr bwMode="auto">
          <a:xfrm>
            <a:off x="1397000" y="6502400"/>
            <a:ext cx="203200" cy="271463"/>
          </a:xfrm>
          <a:prstGeom prst="rect">
            <a:avLst/>
          </a:prstGeom>
          <a:solidFill>
            <a:schemeClr val="hlink"/>
          </a:solidFill>
          <a:ln w="9525">
            <a:solidFill>
              <a:srgbClr val="000000"/>
            </a:solidFill>
            <a:miter lim="800000"/>
            <a:headEnd/>
            <a:tailEnd/>
          </a:ln>
        </p:spPr>
        <p:txBody>
          <a:bodyPr/>
          <a:lstStyle/>
          <a:p>
            <a:endParaRPr lang="ja-JP" altLang="en-US"/>
          </a:p>
        </p:txBody>
      </p:sp>
      <p:sp>
        <p:nvSpPr>
          <p:cNvPr id="1859647" name="Rectangle 63">
            <a:extLst>
              <a:ext uri="{FF2B5EF4-FFF2-40B4-BE49-F238E27FC236}">
                <a16:creationId xmlns:a16="http://schemas.microsoft.com/office/drawing/2014/main" id="{31E6E29A-8C08-1FD6-742B-504FCF68340C}"/>
              </a:ext>
            </a:extLst>
          </p:cNvPr>
          <p:cNvSpPr>
            <a:spLocks noChangeAspect="1" noChangeArrowheads="1"/>
          </p:cNvSpPr>
          <p:nvPr/>
        </p:nvSpPr>
        <p:spPr bwMode="auto">
          <a:xfrm>
            <a:off x="1600200" y="6502400"/>
            <a:ext cx="2146300" cy="271463"/>
          </a:xfrm>
          <a:prstGeom prst="rect">
            <a:avLst/>
          </a:prstGeom>
          <a:solidFill>
            <a:schemeClr val="bg2"/>
          </a:solidFill>
          <a:ln w="9525">
            <a:solidFill>
              <a:srgbClr val="000000"/>
            </a:solidFill>
            <a:miter lim="800000"/>
            <a:headEnd/>
            <a:tailEnd/>
          </a:ln>
        </p:spPr>
        <p:txBody>
          <a:bodyPr/>
          <a:lstStyle/>
          <a:p>
            <a:endParaRPr lang="ja-JP" altLang="en-US"/>
          </a:p>
        </p:txBody>
      </p:sp>
      <p:sp>
        <p:nvSpPr>
          <p:cNvPr id="1859648" name="Line 64">
            <a:extLst>
              <a:ext uri="{FF2B5EF4-FFF2-40B4-BE49-F238E27FC236}">
                <a16:creationId xmlns:a16="http://schemas.microsoft.com/office/drawing/2014/main" id="{E74960BA-87C2-92D2-3545-68BCB87C4A6D}"/>
              </a:ext>
            </a:extLst>
          </p:cNvPr>
          <p:cNvSpPr>
            <a:spLocks noChangeAspect="1" noChangeShapeType="1"/>
          </p:cNvSpPr>
          <p:nvPr/>
        </p:nvSpPr>
        <p:spPr bwMode="auto">
          <a:xfrm>
            <a:off x="1397000" y="8612188"/>
            <a:ext cx="23495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49" name="Line 65">
            <a:extLst>
              <a:ext uri="{FF2B5EF4-FFF2-40B4-BE49-F238E27FC236}">
                <a16:creationId xmlns:a16="http://schemas.microsoft.com/office/drawing/2014/main" id="{DC418FCA-407C-674D-FA29-CF88B2AAF2AD}"/>
              </a:ext>
            </a:extLst>
          </p:cNvPr>
          <p:cNvSpPr>
            <a:spLocks noChangeAspect="1" noChangeShapeType="1"/>
          </p:cNvSpPr>
          <p:nvPr/>
        </p:nvSpPr>
        <p:spPr bwMode="auto">
          <a:xfrm flipV="1">
            <a:off x="1397000" y="8580438"/>
            <a:ext cx="1588" cy="31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50" name="Line 66">
            <a:extLst>
              <a:ext uri="{FF2B5EF4-FFF2-40B4-BE49-F238E27FC236}">
                <a16:creationId xmlns:a16="http://schemas.microsoft.com/office/drawing/2014/main" id="{D4D2343C-92DE-46FD-9C21-28EDE6B6B15E}"/>
              </a:ext>
            </a:extLst>
          </p:cNvPr>
          <p:cNvSpPr>
            <a:spLocks noChangeAspect="1" noChangeShapeType="1"/>
          </p:cNvSpPr>
          <p:nvPr/>
        </p:nvSpPr>
        <p:spPr bwMode="auto">
          <a:xfrm flipV="1">
            <a:off x="1863725" y="8580438"/>
            <a:ext cx="1588" cy="31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51" name="Line 67">
            <a:extLst>
              <a:ext uri="{FF2B5EF4-FFF2-40B4-BE49-F238E27FC236}">
                <a16:creationId xmlns:a16="http://schemas.microsoft.com/office/drawing/2014/main" id="{D3FC1F6E-C257-AD40-CF34-F0680DCF82F0}"/>
              </a:ext>
            </a:extLst>
          </p:cNvPr>
          <p:cNvSpPr>
            <a:spLocks noChangeAspect="1" noChangeShapeType="1"/>
          </p:cNvSpPr>
          <p:nvPr/>
        </p:nvSpPr>
        <p:spPr bwMode="auto">
          <a:xfrm flipV="1">
            <a:off x="2338388" y="8580438"/>
            <a:ext cx="1587" cy="31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52" name="Line 68">
            <a:extLst>
              <a:ext uri="{FF2B5EF4-FFF2-40B4-BE49-F238E27FC236}">
                <a16:creationId xmlns:a16="http://schemas.microsoft.com/office/drawing/2014/main" id="{59A6B26B-C02E-28AA-0821-2D24842B2762}"/>
              </a:ext>
            </a:extLst>
          </p:cNvPr>
          <p:cNvSpPr>
            <a:spLocks noChangeAspect="1" noChangeShapeType="1"/>
          </p:cNvSpPr>
          <p:nvPr/>
        </p:nvSpPr>
        <p:spPr bwMode="auto">
          <a:xfrm flipV="1">
            <a:off x="2806700" y="8580438"/>
            <a:ext cx="1588" cy="31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53" name="Line 69">
            <a:extLst>
              <a:ext uri="{FF2B5EF4-FFF2-40B4-BE49-F238E27FC236}">
                <a16:creationId xmlns:a16="http://schemas.microsoft.com/office/drawing/2014/main" id="{E8924F9B-8778-9CBE-D74E-AE83F3F7CCF9}"/>
              </a:ext>
            </a:extLst>
          </p:cNvPr>
          <p:cNvSpPr>
            <a:spLocks noChangeAspect="1" noChangeShapeType="1"/>
          </p:cNvSpPr>
          <p:nvPr/>
        </p:nvSpPr>
        <p:spPr bwMode="auto">
          <a:xfrm flipV="1">
            <a:off x="3281363" y="8580438"/>
            <a:ext cx="1587" cy="31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54" name="Line 70">
            <a:extLst>
              <a:ext uri="{FF2B5EF4-FFF2-40B4-BE49-F238E27FC236}">
                <a16:creationId xmlns:a16="http://schemas.microsoft.com/office/drawing/2014/main" id="{EAF39855-6718-376F-B5DA-CE33D3613894}"/>
              </a:ext>
            </a:extLst>
          </p:cNvPr>
          <p:cNvSpPr>
            <a:spLocks noChangeAspect="1" noChangeShapeType="1"/>
          </p:cNvSpPr>
          <p:nvPr/>
        </p:nvSpPr>
        <p:spPr bwMode="auto">
          <a:xfrm flipV="1">
            <a:off x="3746500" y="8580438"/>
            <a:ext cx="4763" cy="31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55" name="Line 71">
            <a:extLst>
              <a:ext uri="{FF2B5EF4-FFF2-40B4-BE49-F238E27FC236}">
                <a16:creationId xmlns:a16="http://schemas.microsoft.com/office/drawing/2014/main" id="{913273EF-B68A-9D54-2A10-D398E9BF1FA0}"/>
              </a:ext>
            </a:extLst>
          </p:cNvPr>
          <p:cNvSpPr>
            <a:spLocks noChangeAspect="1" noChangeShapeType="1"/>
          </p:cNvSpPr>
          <p:nvPr/>
        </p:nvSpPr>
        <p:spPr bwMode="auto">
          <a:xfrm>
            <a:off x="1397000" y="6324600"/>
            <a:ext cx="1588" cy="12144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56" name="Line 72">
            <a:extLst>
              <a:ext uri="{FF2B5EF4-FFF2-40B4-BE49-F238E27FC236}">
                <a16:creationId xmlns:a16="http://schemas.microsoft.com/office/drawing/2014/main" id="{C4E158F1-76E7-6117-2312-2C63E3A2177A}"/>
              </a:ext>
            </a:extLst>
          </p:cNvPr>
          <p:cNvSpPr>
            <a:spLocks noChangeAspect="1" noChangeShapeType="1"/>
          </p:cNvSpPr>
          <p:nvPr/>
        </p:nvSpPr>
        <p:spPr bwMode="auto">
          <a:xfrm>
            <a:off x="1397000" y="861218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859657" name="Rectangle 73">
            <a:extLst>
              <a:ext uri="{FF2B5EF4-FFF2-40B4-BE49-F238E27FC236}">
                <a16:creationId xmlns:a16="http://schemas.microsoft.com/office/drawing/2014/main" id="{320CEE6B-F1BF-16CE-F8AE-C20F6076780B}"/>
              </a:ext>
            </a:extLst>
          </p:cNvPr>
          <p:cNvSpPr>
            <a:spLocks noChangeAspect="1" noChangeArrowheads="1"/>
          </p:cNvSpPr>
          <p:nvPr/>
        </p:nvSpPr>
        <p:spPr bwMode="auto">
          <a:xfrm>
            <a:off x="1414463" y="6588125"/>
            <a:ext cx="19526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8.6%</a:t>
            </a:r>
            <a:endParaRPr lang="en-US" altLang="ja-JP" sz="900">
              <a:latin typeface="ＭＳ Ｐゴシック" panose="020B0600070205080204" pitchFamily="50" charset="-128"/>
            </a:endParaRPr>
          </a:p>
        </p:txBody>
      </p:sp>
      <p:sp>
        <p:nvSpPr>
          <p:cNvPr id="1859658" name="Rectangle 74">
            <a:extLst>
              <a:ext uri="{FF2B5EF4-FFF2-40B4-BE49-F238E27FC236}">
                <a16:creationId xmlns:a16="http://schemas.microsoft.com/office/drawing/2014/main" id="{0A3087B8-EF12-29A4-B7B5-D5AFD0FAB3EB}"/>
              </a:ext>
            </a:extLst>
          </p:cNvPr>
          <p:cNvSpPr>
            <a:spLocks noChangeAspect="1" noChangeArrowheads="1"/>
          </p:cNvSpPr>
          <p:nvPr/>
        </p:nvSpPr>
        <p:spPr bwMode="auto">
          <a:xfrm>
            <a:off x="2581275" y="6588125"/>
            <a:ext cx="2524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chemeClr val="bg1"/>
                </a:solidFill>
                <a:latin typeface="ＭＳ Ｐゴシック" panose="020B0600070205080204" pitchFamily="50" charset="-128"/>
              </a:rPr>
              <a:t>91.4%</a:t>
            </a:r>
          </a:p>
        </p:txBody>
      </p:sp>
      <p:sp>
        <p:nvSpPr>
          <p:cNvPr id="1859659" name="Rectangle 75">
            <a:extLst>
              <a:ext uri="{FF2B5EF4-FFF2-40B4-BE49-F238E27FC236}">
                <a16:creationId xmlns:a16="http://schemas.microsoft.com/office/drawing/2014/main" id="{CB16145B-6333-815C-942B-49101B5099EA}"/>
              </a:ext>
            </a:extLst>
          </p:cNvPr>
          <p:cNvSpPr>
            <a:spLocks noChangeAspect="1" noChangeArrowheads="1"/>
          </p:cNvSpPr>
          <p:nvPr/>
        </p:nvSpPr>
        <p:spPr bwMode="auto">
          <a:xfrm>
            <a:off x="1368425" y="8699500"/>
            <a:ext cx="1143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0%</a:t>
            </a:r>
            <a:endParaRPr lang="en-US" altLang="ja-JP" sz="900">
              <a:latin typeface="ＭＳ Ｐゴシック" panose="020B0600070205080204" pitchFamily="50" charset="-128"/>
            </a:endParaRPr>
          </a:p>
        </p:txBody>
      </p:sp>
      <p:sp>
        <p:nvSpPr>
          <p:cNvPr id="1859660" name="Rectangle 76">
            <a:extLst>
              <a:ext uri="{FF2B5EF4-FFF2-40B4-BE49-F238E27FC236}">
                <a16:creationId xmlns:a16="http://schemas.microsoft.com/office/drawing/2014/main" id="{95B22447-0952-CCAD-7A4B-83D16272D5C8}"/>
              </a:ext>
            </a:extLst>
          </p:cNvPr>
          <p:cNvSpPr>
            <a:spLocks noChangeAspect="1" noChangeArrowheads="1"/>
          </p:cNvSpPr>
          <p:nvPr/>
        </p:nvSpPr>
        <p:spPr bwMode="auto">
          <a:xfrm>
            <a:off x="1808163" y="8699500"/>
            <a:ext cx="171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20%</a:t>
            </a:r>
            <a:endParaRPr lang="en-US" altLang="ja-JP" sz="900">
              <a:latin typeface="ＭＳ Ｐゴシック" panose="020B0600070205080204" pitchFamily="50" charset="-128"/>
            </a:endParaRPr>
          </a:p>
        </p:txBody>
      </p:sp>
      <p:sp>
        <p:nvSpPr>
          <p:cNvPr id="1859661" name="Rectangle 77">
            <a:extLst>
              <a:ext uri="{FF2B5EF4-FFF2-40B4-BE49-F238E27FC236}">
                <a16:creationId xmlns:a16="http://schemas.microsoft.com/office/drawing/2014/main" id="{E9E157D9-4448-C76D-1929-D1FBBCB563E9}"/>
              </a:ext>
            </a:extLst>
          </p:cNvPr>
          <p:cNvSpPr>
            <a:spLocks noChangeAspect="1" noChangeArrowheads="1"/>
          </p:cNvSpPr>
          <p:nvPr/>
        </p:nvSpPr>
        <p:spPr bwMode="auto">
          <a:xfrm>
            <a:off x="2284413" y="8699500"/>
            <a:ext cx="171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40%</a:t>
            </a:r>
            <a:endParaRPr lang="en-US" altLang="ja-JP" sz="900">
              <a:latin typeface="ＭＳ Ｐゴシック" panose="020B0600070205080204" pitchFamily="50" charset="-128"/>
            </a:endParaRPr>
          </a:p>
        </p:txBody>
      </p:sp>
      <p:sp>
        <p:nvSpPr>
          <p:cNvPr id="1859662" name="Rectangle 78">
            <a:extLst>
              <a:ext uri="{FF2B5EF4-FFF2-40B4-BE49-F238E27FC236}">
                <a16:creationId xmlns:a16="http://schemas.microsoft.com/office/drawing/2014/main" id="{058352C7-CDB9-ABCE-4672-51B1D99F58F6}"/>
              </a:ext>
            </a:extLst>
          </p:cNvPr>
          <p:cNvSpPr>
            <a:spLocks noChangeAspect="1" noChangeArrowheads="1"/>
          </p:cNvSpPr>
          <p:nvPr/>
        </p:nvSpPr>
        <p:spPr bwMode="auto">
          <a:xfrm>
            <a:off x="2751138" y="8699500"/>
            <a:ext cx="171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60%</a:t>
            </a:r>
            <a:endParaRPr lang="en-US" altLang="ja-JP" sz="900">
              <a:latin typeface="ＭＳ Ｐゴシック" panose="020B0600070205080204" pitchFamily="50" charset="-128"/>
            </a:endParaRPr>
          </a:p>
        </p:txBody>
      </p:sp>
      <p:sp>
        <p:nvSpPr>
          <p:cNvPr id="1859663" name="Rectangle 79">
            <a:extLst>
              <a:ext uri="{FF2B5EF4-FFF2-40B4-BE49-F238E27FC236}">
                <a16:creationId xmlns:a16="http://schemas.microsoft.com/office/drawing/2014/main" id="{EEF2197F-88F1-6759-C96A-6CCD6F746BCD}"/>
              </a:ext>
            </a:extLst>
          </p:cNvPr>
          <p:cNvSpPr>
            <a:spLocks noChangeAspect="1" noChangeArrowheads="1"/>
          </p:cNvSpPr>
          <p:nvPr/>
        </p:nvSpPr>
        <p:spPr bwMode="auto">
          <a:xfrm>
            <a:off x="3225800" y="8699500"/>
            <a:ext cx="1714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80%</a:t>
            </a:r>
            <a:endParaRPr lang="en-US" altLang="ja-JP" sz="900">
              <a:latin typeface="ＭＳ Ｐゴシック" panose="020B0600070205080204" pitchFamily="50" charset="-128"/>
            </a:endParaRPr>
          </a:p>
        </p:txBody>
      </p:sp>
      <p:sp>
        <p:nvSpPr>
          <p:cNvPr id="1859664" name="Rectangle 80">
            <a:extLst>
              <a:ext uri="{FF2B5EF4-FFF2-40B4-BE49-F238E27FC236}">
                <a16:creationId xmlns:a16="http://schemas.microsoft.com/office/drawing/2014/main" id="{2AC782E9-6854-8F8B-A181-9F2476DD5399}"/>
              </a:ext>
            </a:extLst>
          </p:cNvPr>
          <p:cNvSpPr>
            <a:spLocks noChangeAspect="1" noChangeArrowheads="1"/>
          </p:cNvSpPr>
          <p:nvPr/>
        </p:nvSpPr>
        <p:spPr bwMode="auto">
          <a:xfrm>
            <a:off x="3662363" y="8699500"/>
            <a:ext cx="228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100%</a:t>
            </a:r>
            <a:endParaRPr lang="en-US" altLang="ja-JP" sz="900">
              <a:latin typeface="ＭＳ Ｐゴシック" panose="020B0600070205080204" pitchFamily="50" charset="-128"/>
            </a:endParaRPr>
          </a:p>
        </p:txBody>
      </p:sp>
      <p:sp>
        <p:nvSpPr>
          <p:cNvPr id="1859665" name="Rectangle 81">
            <a:extLst>
              <a:ext uri="{FF2B5EF4-FFF2-40B4-BE49-F238E27FC236}">
                <a16:creationId xmlns:a16="http://schemas.microsoft.com/office/drawing/2014/main" id="{471A31A9-FDF1-0F98-0563-4AF6DA07DD87}"/>
              </a:ext>
            </a:extLst>
          </p:cNvPr>
          <p:cNvSpPr>
            <a:spLocks noChangeAspect="1" noChangeArrowheads="1"/>
          </p:cNvSpPr>
          <p:nvPr/>
        </p:nvSpPr>
        <p:spPr bwMode="auto">
          <a:xfrm>
            <a:off x="1563688" y="6367463"/>
            <a:ext cx="677862" cy="136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rgbClr val="000000"/>
                </a:solidFill>
                <a:latin typeface="ＭＳ Ｐゴシック" panose="020B0600070205080204" pitchFamily="50" charset="-128"/>
              </a:rPr>
              <a:t>実施する </a:t>
            </a:r>
            <a:r>
              <a:rPr lang="en-US" altLang="ja-JP" sz="900">
                <a:solidFill>
                  <a:srgbClr val="000000"/>
                </a:solidFill>
                <a:latin typeface="ＭＳ Ｐゴシック" panose="020B0600070205080204" pitchFamily="50" charset="-128"/>
              </a:rPr>
              <a:t>5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sp>
        <p:nvSpPr>
          <p:cNvPr id="1859666" name="Rectangle 82">
            <a:extLst>
              <a:ext uri="{FF2B5EF4-FFF2-40B4-BE49-F238E27FC236}">
                <a16:creationId xmlns:a16="http://schemas.microsoft.com/office/drawing/2014/main" id="{0EB88496-125B-0468-3564-B020CA6A79C4}"/>
              </a:ext>
            </a:extLst>
          </p:cNvPr>
          <p:cNvSpPr>
            <a:spLocks noChangeAspect="1" noChangeArrowheads="1"/>
          </p:cNvSpPr>
          <p:nvPr/>
        </p:nvSpPr>
        <p:spPr bwMode="auto">
          <a:xfrm>
            <a:off x="2636838" y="6367463"/>
            <a:ext cx="825500" cy="136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rgbClr val="000000"/>
                </a:solidFill>
                <a:latin typeface="ＭＳ Ｐゴシック" panose="020B0600070205080204" pitchFamily="50" charset="-128"/>
              </a:rPr>
              <a:t>実施しない </a:t>
            </a:r>
            <a:r>
              <a:rPr lang="en-US" altLang="ja-JP" sz="900">
                <a:solidFill>
                  <a:srgbClr val="000000"/>
                </a:solidFill>
                <a:latin typeface="ＭＳ Ｐゴシック" panose="020B0600070205080204" pitchFamily="50" charset="-128"/>
              </a:rPr>
              <a:t>53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sp>
        <p:nvSpPr>
          <p:cNvPr id="1859667" name="Rectangle 83">
            <a:extLst>
              <a:ext uri="{FF2B5EF4-FFF2-40B4-BE49-F238E27FC236}">
                <a16:creationId xmlns:a16="http://schemas.microsoft.com/office/drawing/2014/main" id="{82480E0B-896F-C9E0-0C1A-FBA45AC75E81}"/>
              </a:ext>
            </a:extLst>
          </p:cNvPr>
          <p:cNvSpPr>
            <a:spLocks noChangeAspect="1" noChangeArrowheads="1"/>
          </p:cNvSpPr>
          <p:nvPr/>
        </p:nvSpPr>
        <p:spPr bwMode="auto">
          <a:xfrm>
            <a:off x="1397000" y="6951663"/>
            <a:ext cx="122238" cy="271462"/>
          </a:xfrm>
          <a:prstGeom prst="rect">
            <a:avLst/>
          </a:prstGeom>
          <a:solidFill>
            <a:schemeClr val="hlink"/>
          </a:solidFill>
          <a:ln w="9525">
            <a:solidFill>
              <a:srgbClr val="000000"/>
            </a:solidFill>
            <a:miter lim="800000"/>
            <a:headEnd/>
            <a:tailEnd/>
          </a:ln>
        </p:spPr>
        <p:txBody>
          <a:bodyPr/>
          <a:lstStyle/>
          <a:p>
            <a:endParaRPr lang="ja-JP" altLang="en-US"/>
          </a:p>
        </p:txBody>
      </p:sp>
      <p:sp>
        <p:nvSpPr>
          <p:cNvPr id="1859668" name="Rectangle 84">
            <a:extLst>
              <a:ext uri="{FF2B5EF4-FFF2-40B4-BE49-F238E27FC236}">
                <a16:creationId xmlns:a16="http://schemas.microsoft.com/office/drawing/2014/main" id="{F4B75C59-BA11-3417-308E-AD7467D95503}"/>
              </a:ext>
            </a:extLst>
          </p:cNvPr>
          <p:cNvSpPr>
            <a:spLocks noChangeAspect="1" noChangeArrowheads="1"/>
          </p:cNvSpPr>
          <p:nvPr/>
        </p:nvSpPr>
        <p:spPr bwMode="auto">
          <a:xfrm>
            <a:off x="1519238" y="6951663"/>
            <a:ext cx="2227262" cy="271462"/>
          </a:xfrm>
          <a:prstGeom prst="rect">
            <a:avLst/>
          </a:prstGeom>
          <a:solidFill>
            <a:schemeClr val="bg2"/>
          </a:solidFill>
          <a:ln w="9525">
            <a:solidFill>
              <a:srgbClr val="000000"/>
            </a:solidFill>
            <a:miter lim="800000"/>
            <a:headEnd/>
            <a:tailEnd/>
          </a:ln>
        </p:spPr>
        <p:txBody>
          <a:bodyPr/>
          <a:lstStyle/>
          <a:p>
            <a:endParaRPr lang="ja-JP" altLang="en-US"/>
          </a:p>
        </p:txBody>
      </p:sp>
      <p:sp>
        <p:nvSpPr>
          <p:cNvPr id="1859669" name="Rectangle 85">
            <a:extLst>
              <a:ext uri="{FF2B5EF4-FFF2-40B4-BE49-F238E27FC236}">
                <a16:creationId xmlns:a16="http://schemas.microsoft.com/office/drawing/2014/main" id="{13C7C063-147B-6EA0-9F6A-5B4BB4C935E3}"/>
              </a:ext>
            </a:extLst>
          </p:cNvPr>
          <p:cNvSpPr>
            <a:spLocks noChangeAspect="1" noChangeArrowheads="1"/>
          </p:cNvSpPr>
          <p:nvPr/>
        </p:nvSpPr>
        <p:spPr bwMode="auto">
          <a:xfrm>
            <a:off x="1414463" y="7223125"/>
            <a:ext cx="19526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5.2%</a:t>
            </a:r>
            <a:endParaRPr lang="en-US" altLang="ja-JP" sz="900">
              <a:latin typeface="ＭＳ Ｐゴシック" panose="020B0600070205080204" pitchFamily="50" charset="-128"/>
            </a:endParaRPr>
          </a:p>
        </p:txBody>
      </p:sp>
      <p:sp>
        <p:nvSpPr>
          <p:cNvPr id="1859670" name="Rectangle 86">
            <a:extLst>
              <a:ext uri="{FF2B5EF4-FFF2-40B4-BE49-F238E27FC236}">
                <a16:creationId xmlns:a16="http://schemas.microsoft.com/office/drawing/2014/main" id="{F24C354E-3250-65AC-A467-611E3C6D5848}"/>
              </a:ext>
            </a:extLst>
          </p:cNvPr>
          <p:cNvSpPr>
            <a:spLocks noChangeAspect="1" noChangeArrowheads="1"/>
          </p:cNvSpPr>
          <p:nvPr/>
        </p:nvSpPr>
        <p:spPr bwMode="auto">
          <a:xfrm>
            <a:off x="2541588" y="7061200"/>
            <a:ext cx="2524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chemeClr val="bg1"/>
                </a:solidFill>
                <a:latin typeface="ＭＳ Ｐゴシック" panose="020B0600070205080204" pitchFamily="50" charset="-128"/>
              </a:rPr>
              <a:t>94.8%</a:t>
            </a:r>
          </a:p>
        </p:txBody>
      </p:sp>
      <p:sp>
        <p:nvSpPr>
          <p:cNvPr id="1859671" name="Rectangle 87">
            <a:extLst>
              <a:ext uri="{FF2B5EF4-FFF2-40B4-BE49-F238E27FC236}">
                <a16:creationId xmlns:a16="http://schemas.microsoft.com/office/drawing/2014/main" id="{B795CAE5-8019-FF7F-B408-5F02F9147EB3}"/>
              </a:ext>
            </a:extLst>
          </p:cNvPr>
          <p:cNvSpPr>
            <a:spLocks noChangeAspect="1" noChangeArrowheads="1"/>
          </p:cNvSpPr>
          <p:nvPr/>
        </p:nvSpPr>
        <p:spPr bwMode="auto">
          <a:xfrm>
            <a:off x="1460500" y="6799263"/>
            <a:ext cx="2063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3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sp>
        <p:nvSpPr>
          <p:cNvPr id="1859672" name="Rectangle 88">
            <a:extLst>
              <a:ext uri="{FF2B5EF4-FFF2-40B4-BE49-F238E27FC236}">
                <a16:creationId xmlns:a16="http://schemas.microsoft.com/office/drawing/2014/main" id="{33298577-08F0-E138-8B34-463EDE0A6CF2}"/>
              </a:ext>
            </a:extLst>
          </p:cNvPr>
          <p:cNvSpPr>
            <a:spLocks noChangeAspect="1" noChangeArrowheads="1"/>
          </p:cNvSpPr>
          <p:nvPr/>
        </p:nvSpPr>
        <p:spPr bwMode="auto">
          <a:xfrm>
            <a:off x="2635250" y="6799263"/>
            <a:ext cx="263525" cy="13652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55 </a:t>
            </a:r>
            <a:r>
              <a:rPr lang="ja-JP" altLang="en-US" sz="900">
                <a:solidFill>
                  <a:srgbClr val="000000"/>
                </a:solidFill>
                <a:latin typeface="ＭＳ Ｐゴシック" panose="020B0600070205080204" pitchFamily="50" charset="-128"/>
              </a:rPr>
              <a:t>社</a:t>
            </a:r>
          </a:p>
        </p:txBody>
      </p:sp>
      <p:sp>
        <p:nvSpPr>
          <p:cNvPr id="1859673" name="Rectangle 89">
            <a:extLst>
              <a:ext uri="{FF2B5EF4-FFF2-40B4-BE49-F238E27FC236}">
                <a16:creationId xmlns:a16="http://schemas.microsoft.com/office/drawing/2014/main" id="{7357983A-7085-69F8-68E9-16B8BE31EF61}"/>
              </a:ext>
            </a:extLst>
          </p:cNvPr>
          <p:cNvSpPr>
            <a:spLocks noChangeAspect="1" noChangeArrowheads="1"/>
          </p:cNvSpPr>
          <p:nvPr/>
        </p:nvSpPr>
        <p:spPr bwMode="auto">
          <a:xfrm>
            <a:off x="3228975" y="7400925"/>
            <a:ext cx="517525" cy="271463"/>
          </a:xfrm>
          <a:prstGeom prst="rect">
            <a:avLst/>
          </a:prstGeom>
          <a:solidFill>
            <a:schemeClr val="bg2"/>
          </a:solidFill>
          <a:ln w="9525">
            <a:solidFill>
              <a:srgbClr val="000000"/>
            </a:solidFill>
            <a:miter lim="800000"/>
            <a:headEnd/>
            <a:tailEnd/>
          </a:ln>
        </p:spPr>
        <p:txBody>
          <a:bodyPr/>
          <a:lstStyle/>
          <a:p>
            <a:endParaRPr lang="ja-JP" altLang="en-US"/>
          </a:p>
        </p:txBody>
      </p:sp>
      <p:sp>
        <p:nvSpPr>
          <p:cNvPr id="1859674" name="Rectangle 90">
            <a:extLst>
              <a:ext uri="{FF2B5EF4-FFF2-40B4-BE49-F238E27FC236}">
                <a16:creationId xmlns:a16="http://schemas.microsoft.com/office/drawing/2014/main" id="{E51EC861-BD3C-6CFF-E407-32B8624669BF}"/>
              </a:ext>
            </a:extLst>
          </p:cNvPr>
          <p:cNvSpPr>
            <a:spLocks noChangeAspect="1" noChangeArrowheads="1"/>
          </p:cNvSpPr>
          <p:nvPr/>
        </p:nvSpPr>
        <p:spPr bwMode="auto">
          <a:xfrm>
            <a:off x="3421063" y="7477125"/>
            <a:ext cx="2524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chemeClr val="bg1"/>
                </a:solidFill>
                <a:latin typeface="ＭＳ Ｐゴシック" panose="020B0600070205080204" pitchFamily="50" charset="-128"/>
              </a:rPr>
              <a:t>22.0%</a:t>
            </a:r>
          </a:p>
        </p:txBody>
      </p:sp>
      <p:sp>
        <p:nvSpPr>
          <p:cNvPr id="1859675" name="Rectangle 91">
            <a:extLst>
              <a:ext uri="{FF2B5EF4-FFF2-40B4-BE49-F238E27FC236}">
                <a16:creationId xmlns:a16="http://schemas.microsoft.com/office/drawing/2014/main" id="{18BF9534-6135-09B7-0FD6-86B7EC11D2F1}"/>
              </a:ext>
            </a:extLst>
          </p:cNvPr>
          <p:cNvSpPr>
            <a:spLocks noChangeAspect="1" noChangeArrowheads="1"/>
          </p:cNvSpPr>
          <p:nvPr/>
        </p:nvSpPr>
        <p:spPr bwMode="auto">
          <a:xfrm>
            <a:off x="3387725" y="7299325"/>
            <a:ext cx="26352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13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sp>
        <p:nvSpPr>
          <p:cNvPr id="1859676" name="Rectangle 92">
            <a:extLst>
              <a:ext uri="{FF2B5EF4-FFF2-40B4-BE49-F238E27FC236}">
                <a16:creationId xmlns:a16="http://schemas.microsoft.com/office/drawing/2014/main" id="{2932AB1D-586D-386F-F27D-AB613E9422A2}"/>
              </a:ext>
            </a:extLst>
          </p:cNvPr>
          <p:cNvSpPr>
            <a:spLocks noChangeAspect="1" noChangeArrowheads="1"/>
          </p:cNvSpPr>
          <p:nvPr/>
        </p:nvSpPr>
        <p:spPr bwMode="auto">
          <a:xfrm>
            <a:off x="2046288" y="7261225"/>
            <a:ext cx="263525" cy="136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46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sp>
        <p:nvSpPr>
          <p:cNvPr id="1859677" name="Rectangle 93">
            <a:extLst>
              <a:ext uri="{FF2B5EF4-FFF2-40B4-BE49-F238E27FC236}">
                <a16:creationId xmlns:a16="http://schemas.microsoft.com/office/drawing/2014/main" id="{703FE64C-9FFE-C418-AB0B-084460399F56}"/>
              </a:ext>
            </a:extLst>
          </p:cNvPr>
          <p:cNvSpPr>
            <a:spLocks noChangeAspect="1" noChangeArrowheads="1"/>
          </p:cNvSpPr>
          <p:nvPr/>
        </p:nvSpPr>
        <p:spPr bwMode="auto">
          <a:xfrm>
            <a:off x="1397000" y="7850188"/>
            <a:ext cx="396875" cy="271462"/>
          </a:xfrm>
          <a:prstGeom prst="rect">
            <a:avLst/>
          </a:prstGeom>
          <a:solidFill>
            <a:schemeClr val="hlink"/>
          </a:solidFill>
          <a:ln w="9525">
            <a:solidFill>
              <a:srgbClr val="000000"/>
            </a:solidFill>
            <a:miter lim="800000"/>
            <a:headEnd/>
            <a:tailEnd/>
          </a:ln>
        </p:spPr>
        <p:txBody>
          <a:bodyPr/>
          <a:lstStyle/>
          <a:p>
            <a:endParaRPr lang="ja-JP" altLang="en-US"/>
          </a:p>
        </p:txBody>
      </p:sp>
      <p:sp>
        <p:nvSpPr>
          <p:cNvPr id="1859678" name="Rectangle 94">
            <a:extLst>
              <a:ext uri="{FF2B5EF4-FFF2-40B4-BE49-F238E27FC236}">
                <a16:creationId xmlns:a16="http://schemas.microsoft.com/office/drawing/2014/main" id="{EA6F8000-F77A-663A-6D66-4011796EA15C}"/>
              </a:ext>
            </a:extLst>
          </p:cNvPr>
          <p:cNvSpPr>
            <a:spLocks noChangeAspect="1" noChangeArrowheads="1"/>
          </p:cNvSpPr>
          <p:nvPr/>
        </p:nvSpPr>
        <p:spPr bwMode="auto">
          <a:xfrm>
            <a:off x="1500188" y="7935913"/>
            <a:ext cx="25558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16.9%</a:t>
            </a:r>
            <a:endParaRPr lang="en-US" altLang="ja-JP" sz="900">
              <a:latin typeface="ＭＳ Ｐゴシック" panose="020B0600070205080204" pitchFamily="50" charset="-128"/>
            </a:endParaRPr>
          </a:p>
        </p:txBody>
      </p:sp>
      <p:sp>
        <p:nvSpPr>
          <p:cNvPr id="1859679" name="Rectangle 95">
            <a:extLst>
              <a:ext uri="{FF2B5EF4-FFF2-40B4-BE49-F238E27FC236}">
                <a16:creationId xmlns:a16="http://schemas.microsoft.com/office/drawing/2014/main" id="{60F2738D-33A5-4244-1AB7-D4149DC4FA9D}"/>
              </a:ext>
            </a:extLst>
          </p:cNvPr>
          <p:cNvSpPr>
            <a:spLocks noChangeAspect="1" noChangeArrowheads="1"/>
          </p:cNvSpPr>
          <p:nvPr/>
        </p:nvSpPr>
        <p:spPr bwMode="auto">
          <a:xfrm>
            <a:off x="1468438" y="7721600"/>
            <a:ext cx="26352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10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sp>
        <p:nvSpPr>
          <p:cNvPr id="1859680" name="Rectangle 96">
            <a:extLst>
              <a:ext uri="{FF2B5EF4-FFF2-40B4-BE49-F238E27FC236}">
                <a16:creationId xmlns:a16="http://schemas.microsoft.com/office/drawing/2014/main" id="{A1BF63E1-B8F9-B09B-24A2-01775A779CC9}"/>
              </a:ext>
            </a:extLst>
          </p:cNvPr>
          <p:cNvSpPr>
            <a:spLocks noChangeAspect="1" noChangeArrowheads="1"/>
          </p:cNvSpPr>
          <p:nvPr/>
        </p:nvSpPr>
        <p:spPr bwMode="auto">
          <a:xfrm>
            <a:off x="2717800" y="7721600"/>
            <a:ext cx="263525" cy="136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49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sp>
        <p:nvSpPr>
          <p:cNvPr id="1859681" name="Rectangle 97">
            <a:extLst>
              <a:ext uri="{FF2B5EF4-FFF2-40B4-BE49-F238E27FC236}">
                <a16:creationId xmlns:a16="http://schemas.microsoft.com/office/drawing/2014/main" id="{B23A3B26-CA15-1120-D4F3-8B2ED5733E82}"/>
              </a:ext>
            </a:extLst>
          </p:cNvPr>
          <p:cNvSpPr>
            <a:spLocks noChangeAspect="1" noChangeArrowheads="1"/>
          </p:cNvSpPr>
          <p:nvPr/>
        </p:nvSpPr>
        <p:spPr bwMode="auto">
          <a:xfrm>
            <a:off x="1397000" y="8301038"/>
            <a:ext cx="88900" cy="271462"/>
          </a:xfrm>
          <a:prstGeom prst="rect">
            <a:avLst/>
          </a:prstGeom>
          <a:solidFill>
            <a:schemeClr val="hlink"/>
          </a:solidFill>
          <a:ln w="9525">
            <a:solidFill>
              <a:srgbClr val="000000"/>
            </a:solidFill>
            <a:miter lim="800000"/>
            <a:headEnd/>
            <a:tailEnd/>
          </a:ln>
        </p:spPr>
        <p:txBody>
          <a:bodyPr/>
          <a:lstStyle/>
          <a:p>
            <a:endParaRPr lang="ja-JP" altLang="en-US"/>
          </a:p>
        </p:txBody>
      </p:sp>
      <p:sp>
        <p:nvSpPr>
          <p:cNvPr id="1859682" name="Rectangle 98">
            <a:extLst>
              <a:ext uri="{FF2B5EF4-FFF2-40B4-BE49-F238E27FC236}">
                <a16:creationId xmlns:a16="http://schemas.microsoft.com/office/drawing/2014/main" id="{68E8CCD5-9C33-1497-C25B-A410A7AF3DA7}"/>
              </a:ext>
            </a:extLst>
          </p:cNvPr>
          <p:cNvSpPr>
            <a:spLocks noChangeAspect="1" noChangeArrowheads="1"/>
          </p:cNvSpPr>
          <p:nvPr/>
        </p:nvSpPr>
        <p:spPr bwMode="auto">
          <a:xfrm>
            <a:off x="1358900" y="8589963"/>
            <a:ext cx="19526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3.6%</a:t>
            </a:r>
            <a:endParaRPr lang="en-US" altLang="ja-JP" sz="900">
              <a:latin typeface="ＭＳ Ｐゴシック" panose="020B0600070205080204" pitchFamily="50" charset="-128"/>
            </a:endParaRPr>
          </a:p>
        </p:txBody>
      </p:sp>
      <p:sp>
        <p:nvSpPr>
          <p:cNvPr id="1859683" name="Rectangle 99">
            <a:extLst>
              <a:ext uri="{FF2B5EF4-FFF2-40B4-BE49-F238E27FC236}">
                <a16:creationId xmlns:a16="http://schemas.microsoft.com/office/drawing/2014/main" id="{49F7D134-43D8-990B-9B0B-868B3ACC8455}"/>
              </a:ext>
            </a:extLst>
          </p:cNvPr>
          <p:cNvSpPr>
            <a:spLocks noChangeAspect="1" noChangeArrowheads="1"/>
          </p:cNvSpPr>
          <p:nvPr/>
        </p:nvSpPr>
        <p:spPr bwMode="auto">
          <a:xfrm>
            <a:off x="1443038" y="8181975"/>
            <a:ext cx="2063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2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sp>
        <p:nvSpPr>
          <p:cNvPr id="1859684" name="Rectangle 100">
            <a:extLst>
              <a:ext uri="{FF2B5EF4-FFF2-40B4-BE49-F238E27FC236}">
                <a16:creationId xmlns:a16="http://schemas.microsoft.com/office/drawing/2014/main" id="{15055F7F-6A5F-AD48-4DD4-11A2EA20FEFA}"/>
              </a:ext>
            </a:extLst>
          </p:cNvPr>
          <p:cNvSpPr>
            <a:spLocks noChangeAspect="1" noChangeArrowheads="1"/>
          </p:cNvSpPr>
          <p:nvPr/>
        </p:nvSpPr>
        <p:spPr bwMode="auto">
          <a:xfrm>
            <a:off x="2635250" y="8166100"/>
            <a:ext cx="263525" cy="136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54 </a:t>
            </a:r>
            <a:r>
              <a:rPr lang="ja-JP" altLang="en-US" sz="900">
                <a:solidFill>
                  <a:srgbClr val="000000"/>
                </a:solidFill>
                <a:latin typeface="ＭＳ Ｐゴシック" panose="020B0600070205080204" pitchFamily="50" charset="-128"/>
              </a:rPr>
              <a:t>社</a:t>
            </a:r>
            <a:endParaRPr lang="ja-JP" altLang="en-US" sz="900">
              <a:latin typeface="ＭＳ Ｐゴシック" panose="020B0600070205080204" pitchFamily="50" charset="-128"/>
            </a:endParaRPr>
          </a:p>
        </p:txBody>
      </p:sp>
      <p:sp>
        <p:nvSpPr>
          <p:cNvPr id="1859685" name="Rectangle 101">
            <a:extLst>
              <a:ext uri="{FF2B5EF4-FFF2-40B4-BE49-F238E27FC236}">
                <a16:creationId xmlns:a16="http://schemas.microsoft.com/office/drawing/2014/main" id="{63B82E04-5223-3BD9-889F-5299D7BFFE24}"/>
              </a:ext>
            </a:extLst>
          </p:cNvPr>
          <p:cNvSpPr>
            <a:spLocks noChangeAspect="1" noChangeArrowheads="1"/>
          </p:cNvSpPr>
          <p:nvPr/>
        </p:nvSpPr>
        <p:spPr bwMode="auto">
          <a:xfrm>
            <a:off x="1397000" y="7400925"/>
            <a:ext cx="1831975" cy="271463"/>
          </a:xfrm>
          <a:prstGeom prst="rect">
            <a:avLst/>
          </a:prstGeom>
          <a:solidFill>
            <a:schemeClr val="hlink"/>
          </a:solidFill>
          <a:ln w="9525">
            <a:solidFill>
              <a:srgbClr val="000000"/>
            </a:solidFill>
            <a:miter lim="800000"/>
            <a:headEnd/>
            <a:tailEnd/>
          </a:ln>
        </p:spPr>
        <p:txBody>
          <a:bodyPr/>
          <a:lstStyle/>
          <a:p>
            <a:endParaRPr lang="ja-JP" altLang="en-US"/>
          </a:p>
        </p:txBody>
      </p:sp>
      <p:sp>
        <p:nvSpPr>
          <p:cNvPr id="1859686" name="Rectangle 102">
            <a:extLst>
              <a:ext uri="{FF2B5EF4-FFF2-40B4-BE49-F238E27FC236}">
                <a16:creationId xmlns:a16="http://schemas.microsoft.com/office/drawing/2014/main" id="{0398F3F8-8D0B-FEC2-40B6-FE8AF2A318D4}"/>
              </a:ext>
            </a:extLst>
          </p:cNvPr>
          <p:cNvSpPr>
            <a:spLocks noChangeAspect="1" noChangeArrowheads="1"/>
          </p:cNvSpPr>
          <p:nvPr/>
        </p:nvSpPr>
        <p:spPr bwMode="auto">
          <a:xfrm>
            <a:off x="2247900" y="7477125"/>
            <a:ext cx="2524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rgbClr val="000000"/>
                </a:solidFill>
                <a:latin typeface="ＭＳ Ｐゴシック" panose="020B0600070205080204" pitchFamily="50" charset="-128"/>
              </a:rPr>
              <a:t>78.0%</a:t>
            </a:r>
            <a:endParaRPr lang="en-US" altLang="ja-JP" sz="900">
              <a:latin typeface="ＭＳ Ｐゴシック" panose="020B0600070205080204" pitchFamily="50" charset="-128"/>
            </a:endParaRPr>
          </a:p>
        </p:txBody>
      </p:sp>
      <p:sp>
        <p:nvSpPr>
          <p:cNvPr id="1859687" name="Rectangle 103">
            <a:extLst>
              <a:ext uri="{FF2B5EF4-FFF2-40B4-BE49-F238E27FC236}">
                <a16:creationId xmlns:a16="http://schemas.microsoft.com/office/drawing/2014/main" id="{A0919E52-F8CC-1476-D4EE-65D6FC1025CB}"/>
              </a:ext>
            </a:extLst>
          </p:cNvPr>
          <p:cNvSpPr>
            <a:spLocks noChangeAspect="1" noChangeArrowheads="1"/>
          </p:cNvSpPr>
          <p:nvPr/>
        </p:nvSpPr>
        <p:spPr bwMode="auto">
          <a:xfrm>
            <a:off x="1793875" y="7850188"/>
            <a:ext cx="1952625" cy="271462"/>
          </a:xfrm>
          <a:prstGeom prst="rect">
            <a:avLst/>
          </a:prstGeom>
          <a:solidFill>
            <a:schemeClr val="bg2"/>
          </a:solidFill>
          <a:ln w="9525">
            <a:solidFill>
              <a:srgbClr val="000000"/>
            </a:solidFill>
            <a:miter lim="800000"/>
            <a:headEnd/>
            <a:tailEnd/>
          </a:ln>
        </p:spPr>
        <p:txBody>
          <a:bodyPr/>
          <a:lstStyle/>
          <a:p>
            <a:endParaRPr lang="ja-JP" altLang="en-US"/>
          </a:p>
        </p:txBody>
      </p:sp>
      <p:sp>
        <p:nvSpPr>
          <p:cNvPr id="1859688" name="Rectangle 104">
            <a:extLst>
              <a:ext uri="{FF2B5EF4-FFF2-40B4-BE49-F238E27FC236}">
                <a16:creationId xmlns:a16="http://schemas.microsoft.com/office/drawing/2014/main" id="{ACD99F5B-CF02-7728-DFB7-B5FDEFB1BB96}"/>
              </a:ext>
            </a:extLst>
          </p:cNvPr>
          <p:cNvSpPr>
            <a:spLocks noChangeAspect="1" noChangeArrowheads="1"/>
          </p:cNvSpPr>
          <p:nvPr/>
        </p:nvSpPr>
        <p:spPr bwMode="auto">
          <a:xfrm>
            <a:off x="2682875" y="7926388"/>
            <a:ext cx="2524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chemeClr val="bg1"/>
                </a:solidFill>
                <a:latin typeface="ＭＳ Ｐゴシック" panose="020B0600070205080204" pitchFamily="50" charset="-128"/>
              </a:rPr>
              <a:t>83.1%</a:t>
            </a:r>
          </a:p>
        </p:txBody>
      </p:sp>
      <p:sp>
        <p:nvSpPr>
          <p:cNvPr id="1859689" name="Rectangle 105">
            <a:extLst>
              <a:ext uri="{FF2B5EF4-FFF2-40B4-BE49-F238E27FC236}">
                <a16:creationId xmlns:a16="http://schemas.microsoft.com/office/drawing/2014/main" id="{E25FA6A7-232C-1206-ACDF-628069F1C572}"/>
              </a:ext>
            </a:extLst>
          </p:cNvPr>
          <p:cNvSpPr>
            <a:spLocks noChangeAspect="1" noChangeArrowheads="1"/>
          </p:cNvSpPr>
          <p:nvPr/>
        </p:nvSpPr>
        <p:spPr bwMode="auto">
          <a:xfrm>
            <a:off x="1485900" y="8301038"/>
            <a:ext cx="2260600" cy="271462"/>
          </a:xfrm>
          <a:prstGeom prst="rect">
            <a:avLst/>
          </a:prstGeom>
          <a:solidFill>
            <a:schemeClr val="bg2"/>
          </a:solidFill>
          <a:ln w="9525">
            <a:solidFill>
              <a:srgbClr val="000000"/>
            </a:solidFill>
            <a:miter lim="800000"/>
            <a:headEnd/>
            <a:tailEnd/>
          </a:ln>
        </p:spPr>
        <p:txBody>
          <a:bodyPr/>
          <a:lstStyle/>
          <a:p>
            <a:endParaRPr lang="ja-JP" altLang="en-US"/>
          </a:p>
        </p:txBody>
      </p:sp>
      <p:sp>
        <p:nvSpPr>
          <p:cNvPr id="1859690" name="Rectangle 106">
            <a:extLst>
              <a:ext uri="{FF2B5EF4-FFF2-40B4-BE49-F238E27FC236}">
                <a16:creationId xmlns:a16="http://schemas.microsoft.com/office/drawing/2014/main" id="{01E93CD9-EAB0-3AFE-E773-3D2CC4CB8BD8}"/>
              </a:ext>
            </a:extLst>
          </p:cNvPr>
          <p:cNvSpPr>
            <a:spLocks noChangeAspect="1" noChangeArrowheads="1"/>
          </p:cNvSpPr>
          <p:nvPr/>
        </p:nvSpPr>
        <p:spPr bwMode="auto">
          <a:xfrm>
            <a:off x="2547938" y="8369300"/>
            <a:ext cx="2540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900">
                <a:solidFill>
                  <a:schemeClr val="bg1"/>
                </a:solidFill>
                <a:latin typeface="ＭＳ Ｐゴシック" panose="020B0600070205080204" pitchFamily="50" charset="-128"/>
              </a:rPr>
              <a:t>96.4%</a:t>
            </a:r>
          </a:p>
        </p:txBody>
      </p:sp>
      <p:sp>
        <p:nvSpPr>
          <p:cNvPr id="1859691" name="AutoShape 107">
            <a:extLst>
              <a:ext uri="{FF2B5EF4-FFF2-40B4-BE49-F238E27FC236}">
                <a16:creationId xmlns:a16="http://schemas.microsoft.com/office/drawing/2014/main" id="{88FF613D-61ED-7EBB-1B95-7E60E439E2E1}"/>
              </a:ext>
            </a:extLst>
          </p:cNvPr>
          <p:cNvSpPr>
            <a:spLocks noChangeAspect="1" noChangeArrowheads="1"/>
          </p:cNvSpPr>
          <p:nvPr/>
        </p:nvSpPr>
        <p:spPr bwMode="auto">
          <a:xfrm>
            <a:off x="4008438" y="7408863"/>
            <a:ext cx="1139825" cy="296862"/>
          </a:xfrm>
          <a:prstGeom prst="roundRect">
            <a:avLst>
              <a:gd name="adj" fmla="val 16667"/>
            </a:avLst>
          </a:prstGeom>
          <a:noFill/>
          <a:ln w="9525">
            <a:solidFill>
              <a:schemeClr val="bg2"/>
            </a:solidFill>
            <a:round/>
            <a:headEnd type="none" w="sm" len="sm"/>
            <a:tailEnd type="none" w="sm" len="sm"/>
          </a:ln>
          <a:effectLst/>
          <a:extLst>
            <a:ext uri="{909E8E84-426E-40DD-AFC4-6F175D3DCCD1}">
              <a14:hiddenFill xmlns:a14="http://schemas.microsoft.com/office/drawing/2010/main">
                <a:gradFill rotWithShape="0">
                  <a:gsLst>
                    <a:gs pos="0">
                      <a:srgbClr val="FF5050"/>
                    </a:gs>
                    <a:gs pos="50000">
                      <a:srgbClr val="FF5050">
                        <a:gamma/>
                        <a:tint val="0"/>
                        <a:invGamma/>
                      </a:srgbClr>
                    </a:gs>
                    <a:gs pos="100000">
                      <a:srgbClr val="FF5050"/>
                    </a:gs>
                  </a:gsLst>
                  <a:lin ang="5400000" scaled="1"/>
                </a:gra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r>
              <a:rPr lang="ja-JP" altLang="en-US" sz="900">
                <a:solidFill>
                  <a:schemeClr val="tx2"/>
                </a:solidFill>
                <a:latin typeface="Times New Roman" panose="02020603050405020304" pitchFamily="18" charset="0"/>
              </a:rPr>
              <a:t>投資の</a:t>
            </a:r>
            <a:r>
              <a:rPr lang="ja-JP" altLang="en-US" sz="900" u="sng">
                <a:solidFill>
                  <a:schemeClr val="tx2"/>
                </a:solidFill>
                <a:latin typeface="Times New Roman" panose="02020603050405020304" pitchFamily="18" charset="0"/>
              </a:rPr>
              <a:t>安全性</a:t>
            </a:r>
            <a:r>
              <a:rPr lang="ja-JP" altLang="en-US" sz="900">
                <a:solidFill>
                  <a:schemeClr val="tx2"/>
                </a:solidFill>
                <a:latin typeface="Times New Roman" panose="02020603050405020304" pitchFamily="18" charset="0"/>
              </a:rPr>
              <a:t>を評価</a:t>
            </a:r>
          </a:p>
        </p:txBody>
      </p:sp>
      <p:sp>
        <p:nvSpPr>
          <p:cNvPr id="1859692" name="AutoShape 108">
            <a:extLst>
              <a:ext uri="{FF2B5EF4-FFF2-40B4-BE49-F238E27FC236}">
                <a16:creationId xmlns:a16="http://schemas.microsoft.com/office/drawing/2014/main" id="{604891A9-FB37-F700-E0D0-48286DE0715D}"/>
              </a:ext>
            </a:extLst>
          </p:cNvPr>
          <p:cNvSpPr>
            <a:spLocks noChangeAspect="1" noChangeArrowheads="1"/>
          </p:cNvSpPr>
          <p:nvPr/>
        </p:nvSpPr>
        <p:spPr bwMode="auto">
          <a:xfrm>
            <a:off x="4008438" y="6389688"/>
            <a:ext cx="1139825" cy="820737"/>
          </a:xfrm>
          <a:prstGeom prst="roundRect">
            <a:avLst>
              <a:gd name="adj" fmla="val 16667"/>
            </a:avLst>
          </a:prstGeom>
          <a:noFill/>
          <a:ln w="9525">
            <a:solidFill>
              <a:schemeClr val="bg2"/>
            </a:solidFill>
            <a:round/>
            <a:headEnd type="none" w="sm" len="sm"/>
            <a:tailEnd type="none" w="sm" len="sm"/>
          </a:ln>
          <a:effectLst/>
          <a:extLst>
            <a:ext uri="{909E8E84-426E-40DD-AFC4-6F175D3DCCD1}">
              <a14:hiddenFill xmlns:a14="http://schemas.microsoft.com/office/drawing/2010/main">
                <a:gradFill rotWithShape="0">
                  <a:gsLst>
                    <a:gs pos="0">
                      <a:srgbClr val="FF5050"/>
                    </a:gs>
                    <a:gs pos="50000">
                      <a:srgbClr val="FF5050">
                        <a:gamma/>
                        <a:tint val="0"/>
                        <a:invGamma/>
                      </a:srgbClr>
                    </a:gs>
                    <a:gs pos="100000">
                      <a:srgbClr val="FF5050"/>
                    </a:gs>
                  </a:gsLst>
                  <a:lin ang="5400000" scaled="1"/>
                </a:gra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r>
              <a:rPr lang="ja-JP" altLang="en-US" sz="900">
                <a:solidFill>
                  <a:schemeClr val="tx2"/>
                </a:solidFill>
                <a:latin typeface="Times New Roman" panose="02020603050405020304" pitchFamily="18" charset="0"/>
              </a:rPr>
              <a:t>投資の</a:t>
            </a:r>
            <a:r>
              <a:rPr lang="ja-JP" altLang="en-US" sz="900" u="sng">
                <a:solidFill>
                  <a:schemeClr val="tx2"/>
                </a:solidFill>
                <a:latin typeface="Times New Roman" panose="02020603050405020304" pitchFamily="18" charset="0"/>
              </a:rPr>
              <a:t>採算性</a:t>
            </a:r>
            <a:r>
              <a:rPr lang="ja-JP" altLang="en-US" sz="900">
                <a:solidFill>
                  <a:schemeClr val="tx2"/>
                </a:solidFill>
                <a:latin typeface="Times New Roman" panose="02020603050405020304" pitchFamily="18" charset="0"/>
              </a:rPr>
              <a:t>を評価</a:t>
            </a:r>
          </a:p>
          <a:p>
            <a:pPr>
              <a:spcBef>
                <a:spcPct val="30000"/>
              </a:spcBef>
            </a:pPr>
            <a:r>
              <a:rPr lang="ja-JP" altLang="en-US" sz="900">
                <a:solidFill>
                  <a:schemeClr val="tx2"/>
                </a:solidFill>
                <a:latin typeface="Times New Roman" panose="02020603050405020304" pitchFamily="18" charset="0"/>
              </a:rPr>
              <a:t>投資に対するリターンの大きさを見積る　</a:t>
            </a:r>
          </a:p>
          <a:p>
            <a:pPr>
              <a:spcBef>
                <a:spcPct val="30000"/>
              </a:spcBef>
            </a:pPr>
            <a:r>
              <a:rPr lang="ja-JP" altLang="en-US" sz="900">
                <a:solidFill>
                  <a:schemeClr val="tx2"/>
                </a:solidFill>
                <a:latin typeface="Times New Roman" panose="02020603050405020304" pitchFamily="18" charset="0"/>
              </a:rPr>
              <a:t>将来のキャッシュフローを重視した評価</a:t>
            </a:r>
          </a:p>
        </p:txBody>
      </p:sp>
      <p:sp>
        <p:nvSpPr>
          <p:cNvPr id="1859693" name="AutoShape 109">
            <a:extLst>
              <a:ext uri="{FF2B5EF4-FFF2-40B4-BE49-F238E27FC236}">
                <a16:creationId xmlns:a16="http://schemas.microsoft.com/office/drawing/2014/main" id="{1475911E-E29A-234D-79FD-1ECBA01CC220}"/>
              </a:ext>
            </a:extLst>
          </p:cNvPr>
          <p:cNvSpPr>
            <a:spLocks noChangeArrowheads="1"/>
          </p:cNvSpPr>
          <p:nvPr/>
        </p:nvSpPr>
        <p:spPr bwMode="auto">
          <a:xfrm rot="5400000">
            <a:off x="4987925" y="6777038"/>
            <a:ext cx="547688" cy="119062"/>
          </a:xfrm>
          <a:prstGeom prst="triangle">
            <a:avLst>
              <a:gd name="adj" fmla="val 50000"/>
            </a:avLst>
          </a:prstGeom>
          <a:solidFill>
            <a:srgbClr val="00006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59694" name="Rectangle 110">
            <a:extLst>
              <a:ext uri="{FF2B5EF4-FFF2-40B4-BE49-F238E27FC236}">
                <a16:creationId xmlns:a16="http://schemas.microsoft.com/office/drawing/2014/main" id="{F27B9B73-0DAC-1623-D9F1-ABE3711DE901}"/>
              </a:ext>
            </a:extLst>
          </p:cNvPr>
          <p:cNvSpPr>
            <a:spLocks noChangeAspect="1" noChangeArrowheads="1"/>
          </p:cNvSpPr>
          <p:nvPr/>
        </p:nvSpPr>
        <p:spPr bwMode="auto">
          <a:xfrm>
            <a:off x="3943350" y="7213600"/>
            <a:ext cx="793750"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900">
                <a:latin typeface="ＭＳ Ｐゴシック" panose="020B0600070205080204" pitchFamily="50" charset="-128"/>
              </a:rPr>
              <a:t>今まで</a:t>
            </a:r>
          </a:p>
        </p:txBody>
      </p:sp>
      <p:sp>
        <p:nvSpPr>
          <p:cNvPr id="1859695" name="Rectangle 111">
            <a:extLst>
              <a:ext uri="{FF2B5EF4-FFF2-40B4-BE49-F238E27FC236}">
                <a16:creationId xmlns:a16="http://schemas.microsoft.com/office/drawing/2014/main" id="{6A04A1E5-6DFE-386B-6972-7983A1BC3089}"/>
              </a:ext>
            </a:extLst>
          </p:cNvPr>
          <p:cNvSpPr>
            <a:spLocks noChangeAspect="1" noChangeArrowheads="1"/>
          </p:cNvSpPr>
          <p:nvPr/>
        </p:nvSpPr>
        <p:spPr bwMode="auto">
          <a:xfrm>
            <a:off x="3943350" y="6199188"/>
            <a:ext cx="793750"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ja-JP" altLang="en-US" sz="900">
                <a:latin typeface="ＭＳ Ｐゴシック" panose="020B0600070205080204" pitchFamily="50" charset="-128"/>
              </a:rPr>
              <a:t>これから</a:t>
            </a:r>
          </a:p>
        </p:txBody>
      </p:sp>
      <p:cxnSp>
        <p:nvCxnSpPr>
          <p:cNvPr id="1859696" name="AutoShape 112">
            <a:extLst>
              <a:ext uri="{FF2B5EF4-FFF2-40B4-BE49-F238E27FC236}">
                <a16:creationId xmlns:a16="http://schemas.microsoft.com/office/drawing/2014/main" id="{7D141F01-DA52-64C0-F54C-85067F99EC28}"/>
              </a:ext>
            </a:extLst>
          </p:cNvPr>
          <p:cNvCxnSpPr>
            <a:cxnSpLocks noChangeAspect="1" noChangeShapeType="1"/>
            <a:stCxn id="1859691" idx="0"/>
            <a:endCxn id="1859692" idx="2"/>
          </p:cNvCxnSpPr>
          <p:nvPr/>
        </p:nvCxnSpPr>
        <p:spPr bwMode="auto">
          <a:xfrm flipV="1">
            <a:off x="4578350" y="7210425"/>
            <a:ext cx="0" cy="198438"/>
          </a:xfrm>
          <a:prstGeom prst="straightConnector1">
            <a:avLst/>
          </a:prstGeom>
          <a:noFill/>
          <a:ln w="38100">
            <a:solidFill>
              <a:schemeClr val="bg2"/>
            </a:solidFill>
            <a:round/>
            <a:headE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9697" name="AutoShape 113">
            <a:extLst>
              <a:ext uri="{FF2B5EF4-FFF2-40B4-BE49-F238E27FC236}">
                <a16:creationId xmlns:a16="http://schemas.microsoft.com/office/drawing/2014/main" id="{E27C743F-FF1B-2CB4-DA21-4FE2C097F939}"/>
              </a:ext>
            </a:extLst>
          </p:cNvPr>
          <p:cNvSpPr>
            <a:spLocks noChangeAspect="1" noChangeArrowheads="1"/>
          </p:cNvSpPr>
          <p:nvPr/>
        </p:nvSpPr>
        <p:spPr bwMode="auto">
          <a:xfrm rot="5400000">
            <a:off x="3821906" y="7519195"/>
            <a:ext cx="225425" cy="74612"/>
          </a:xfrm>
          <a:prstGeom prst="triangle">
            <a:avLst>
              <a:gd name="adj" fmla="val 50000"/>
            </a:avLst>
          </a:prstGeom>
          <a:solidFill>
            <a:srgbClr val="00006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59698" name="AutoShape 114">
            <a:extLst>
              <a:ext uri="{FF2B5EF4-FFF2-40B4-BE49-F238E27FC236}">
                <a16:creationId xmlns:a16="http://schemas.microsoft.com/office/drawing/2014/main" id="{FBB3BE78-324B-6A2C-EB10-5591CB4BAC69}"/>
              </a:ext>
            </a:extLst>
          </p:cNvPr>
          <p:cNvSpPr>
            <a:spLocks noChangeAspect="1" noChangeArrowheads="1"/>
          </p:cNvSpPr>
          <p:nvPr/>
        </p:nvSpPr>
        <p:spPr bwMode="auto">
          <a:xfrm rot="5400000">
            <a:off x="3538537" y="6762751"/>
            <a:ext cx="792163" cy="74612"/>
          </a:xfrm>
          <a:prstGeom prst="triangle">
            <a:avLst>
              <a:gd name="adj" fmla="val 50000"/>
            </a:avLst>
          </a:prstGeom>
          <a:solidFill>
            <a:srgbClr val="00006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59699" name="AutoShape 115">
            <a:extLst>
              <a:ext uri="{FF2B5EF4-FFF2-40B4-BE49-F238E27FC236}">
                <a16:creationId xmlns:a16="http://schemas.microsoft.com/office/drawing/2014/main" id="{12B30389-1072-C8C9-29A6-B191E0CE73DF}"/>
              </a:ext>
            </a:extLst>
          </p:cNvPr>
          <p:cNvSpPr>
            <a:spLocks noChangeAspect="1" noChangeArrowheads="1"/>
          </p:cNvSpPr>
          <p:nvPr/>
        </p:nvSpPr>
        <p:spPr bwMode="auto">
          <a:xfrm>
            <a:off x="5334000" y="6308725"/>
            <a:ext cx="941388" cy="1436688"/>
          </a:xfrm>
          <a:prstGeom prst="roundRect">
            <a:avLst>
              <a:gd name="adj" fmla="val 16667"/>
            </a:avLst>
          </a:prstGeom>
          <a:solidFill>
            <a:schemeClr val="hlink"/>
          </a:solidFill>
          <a:ln w="9525">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r>
              <a:rPr lang="ja-JP" altLang="en-US" sz="900">
                <a:solidFill>
                  <a:schemeClr val="tx2"/>
                </a:solidFill>
                <a:latin typeface="Times New Roman" panose="02020603050405020304" pitchFamily="18" charset="0"/>
              </a:rPr>
              <a:t>採算性を重視する評価方法の実施により、将来キャッシュフロー重視が現場に適用される効果が見込まれる</a:t>
            </a:r>
          </a:p>
        </p:txBody>
      </p:sp>
      <p:sp>
        <p:nvSpPr>
          <p:cNvPr id="1859703" name="Rectangle 119">
            <a:extLst>
              <a:ext uri="{FF2B5EF4-FFF2-40B4-BE49-F238E27FC236}">
                <a16:creationId xmlns:a16="http://schemas.microsoft.com/office/drawing/2014/main" id="{DB910462-7D53-9A81-350A-EB7A7AFD0A82}"/>
              </a:ext>
            </a:extLst>
          </p:cNvPr>
          <p:cNvSpPr>
            <a:spLocks noChangeArrowheads="1"/>
          </p:cNvSpPr>
          <p:nvPr/>
        </p:nvSpPr>
        <p:spPr bwMode="auto">
          <a:xfrm>
            <a:off x="914400" y="1295400"/>
            <a:ext cx="5410200" cy="2895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88900" algn="l">
              <a:defRPr kumimoji="1" sz="2400">
                <a:solidFill>
                  <a:schemeClr val="tx1"/>
                </a:solidFill>
                <a:latin typeface="Times New Roman" panose="02020603050405020304" pitchFamily="18" charset="0"/>
                <a:ea typeface="ＭＳ Ｐゴシック" panose="020B0600070205080204" pitchFamily="50" charset="-128"/>
              </a:defRPr>
            </a:lvl2pPr>
            <a:lvl3pPr marL="863600" indent="-101600"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just">
              <a:lnSpc>
                <a:spcPct val="120000"/>
              </a:lnSpc>
            </a:pPr>
            <a:r>
              <a:rPr kumimoji="0" lang="ja-JP" altLang="en-US" sz="1000">
                <a:latin typeface="Century" panose="02040604050505020304" pitchFamily="18" charset="0"/>
                <a:ea typeface="ＭＳ Ｐ明朝" panose="02020600040205080304" pitchFamily="18" charset="-128"/>
              </a:rPr>
              <a:t>このように上場企業においてすら設備投資の採算性評価が行われない要因の一つとしては、将来キャッシュフローについて予測を立てることの困難さがあると考えられます。将来のことは分からないからと、予測数値に自信を持てないために予測自体を放棄してしまって、採算性評価を行わないでいるということで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gn="just">
              <a:lnSpc>
                <a:spcPct val="120000"/>
              </a:lnSpc>
            </a:pPr>
            <a:r>
              <a:rPr kumimoji="0" lang="ja-JP" altLang="en-US" sz="1000">
                <a:latin typeface="Century" panose="02040604050505020304" pitchFamily="18" charset="0"/>
                <a:ea typeface="ＭＳ Ｐ明朝" panose="02020600040205080304" pitchFamily="18" charset="-128"/>
              </a:rPr>
              <a:t>しかし、これは非常に危険な姿勢です。特に中堅／中小企業は設備投資が失敗すれば自社の存続すら脅かされることもあるので、ある意味で大企業以上に慎重な投資計画が必要とも言えるのです。将来のことだから予測できないと言っていたら、経営計画も予算も策定不可能となってしまいます。むしろ、「将来が分からないからこそ予測を立てて対応する」という姿勢が必要なのです。財務管理サービス人材としては、先ずは企業が将来に対する予測値を立てることに着手するよう支援することが望まれます。</a:t>
            </a:r>
          </a:p>
        </p:txBody>
      </p:sp>
      <p:grpSp>
        <p:nvGrpSpPr>
          <p:cNvPr id="1859704" name="Group 120">
            <a:extLst>
              <a:ext uri="{FF2B5EF4-FFF2-40B4-BE49-F238E27FC236}">
                <a16:creationId xmlns:a16="http://schemas.microsoft.com/office/drawing/2014/main" id="{E7545486-C164-37EB-4C45-43B022821B37}"/>
              </a:ext>
            </a:extLst>
          </p:cNvPr>
          <p:cNvGrpSpPr>
            <a:grpSpLocks/>
          </p:cNvGrpSpPr>
          <p:nvPr/>
        </p:nvGrpSpPr>
        <p:grpSpPr bwMode="auto">
          <a:xfrm>
            <a:off x="5156200" y="0"/>
            <a:ext cx="1549400" cy="228600"/>
            <a:chOff x="2928" y="-48"/>
            <a:chExt cx="1392" cy="192"/>
          </a:xfrm>
        </p:grpSpPr>
        <p:sp>
          <p:nvSpPr>
            <p:cNvPr id="1859705" name="Line 121">
              <a:extLst>
                <a:ext uri="{FF2B5EF4-FFF2-40B4-BE49-F238E27FC236}">
                  <a16:creationId xmlns:a16="http://schemas.microsoft.com/office/drawing/2014/main" id="{BA1E37C0-7343-D671-7018-8834B50C8138}"/>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59706" name="Rectangle 122">
              <a:extLst>
                <a:ext uri="{FF2B5EF4-FFF2-40B4-BE49-F238E27FC236}">
                  <a16:creationId xmlns:a16="http://schemas.microsoft.com/office/drawing/2014/main" id="{0B8BAA3E-897F-22E6-CFC9-79022B63FD5C}"/>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ＭＳ Ｐゴシック" panose="020B0600070205080204" pitchFamily="50" charset="-128"/>
                </a:rPr>
                <a:t>Ⅱ</a:t>
              </a:r>
              <a:r>
                <a:rPr lang="ja-JP" altLang="en-US" sz="1000">
                  <a:latin typeface="ＭＳ Ｐゴシック" panose="020B0600070205080204" pitchFamily="50" charset="-128"/>
                </a:rPr>
                <a:t>　財務上の問題分析</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4994" name="Rectangle 1026">
            <a:extLst>
              <a:ext uri="{FF2B5EF4-FFF2-40B4-BE49-F238E27FC236}">
                <a16:creationId xmlns:a16="http://schemas.microsoft.com/office/drawing/2014/main" id="{BB8542B5-1E9F-8C9B-92C8-BB2961B8C5BD}"/>
              </a:ext>
            </a:extLst>
          </p:cNvPr>
          <p:cNvSpPr>
            <a:spLocks noChangeArrowheads="1"/>
          </p:cNvSpPr>
          <p:nvPr/>
        </p:nvSpPr>
        <p:spPr bwMode="auto">
          <a:xfrm>
            <a:off x="914400" y="1295400"/>
            <a:ext cx="5410200" cy="5867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88900" algn="l">
              <a:defRPr kumimoji="1" sz="2400">
                <a:solidFill>
                  <a:schemeClr val="tx1"/>
                </a:solidFill>
                <a:latin typeface="Times New Roman" panose="02020603050405020304" pitchFamily="18" charset="0"/>
                <a:ea typeface="ＭＳ Ｐゴシック" panose="020B0600070205080204" pitchFamily="50" charset="-128"/>
              </a:defRPr>
            </a:lvl2pPr>
            <a:lvl3pPr marL="863600" indent="-101600"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近年、技術革新のスピード化により、機械設備などの陳腐化の度合いが高くなってきています。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映像・音楽関連では、かつて家庭用ビデオの</a:t>
            </a:r>
            <a:r>
              <a:rPr lang="en-US" altLang="ja-JP" sz="1000">
                <a:latin typeface="ＭＳ Ｐ明朝" panose="02020600040205080304" pitchFamily="18" charset="-128"/>
                <a:ea typeface="ＭＳ Ｐ明朝" panose="02020600040205080304" pitchFamily="18" charset="-128"/>
              </a:rPr>
              <a:t>VHS</a:t>
            </a:r>
            <a:r>
              <a:rPr lang="ja-JP" altLang="en-US" sz="1000">
                <a:latin typeface="ＭＳ Ｐ明朝" panose="02020600040205080304" pitchFamily="18" charset="-128"/>
                <a:ea typeface="ＭＳ Ｐ明朝" panose="02020600040205080304" pitchFamily="18" charset="-128"/>
              </a:rPr>
              <a:t>と</a:t>
            </a:r>
            <a:r>
              <a:rPr lang="en-US" altLang="ja-JP" sz="1000">
                <a:latin typeface="ＭＳ Ｐ明朝" panose="02020600040205080304" pitchFamily="18" charset="-128"/>
                <a:ea typeface="ＭＳ Ｐ明朝" panose="02020600040205080304" pitchFamily="18" charset="-128"/>
              </a:rPr>
              <a:t>β</a:t>
            </a:r>
            <a:r>
              <a:rPr lang="ja-JP" altLang="en-US" sz="1000">
                <a:latin typeface="ＭＳ Ｐ明朝" panose="02020600040205080304" pitchFamily="18" charset="-128"/>
                <a:ea typeface="ＭＳ Ｐ明朝" panose="02020600040205080304" pitchFamily="18" charset="-128"/>
              </a:rPr>
              <a:t>（ベータ）の主導権争いがあったように、現在次世代</a:t>
            </a:r>
            <a:r>
              <a:rPr lang="en-US" altLang="ja-JP" sz="1000">
                <a:latin typeface="ＭＳ Ｐ明朝" panose="02020600040205080304" pitchFamily="18" charset="-128"/>
                <a:ea typeface="ＭＳ Ｐ明朝" panose="02020600040205080304" pitchFamily="18" charset="-128"/>
              </a:rPr>
              <a:t>DVD</a:t>
            </a:r>
            <a:r>
              <a:rPr lang="ja-JP" altLang="en-US" sz="1000">
                <a:latin typeface="ＭＳ Ｐ明朝" panose="02020600040205080304" pitchFamily="18" charset="-128"/>
                <a:ea typeface="ＭＳ Ｐ明朝" panose="02020600040205080304" pitchFamily="18" charset="-128"/>
              </a:rPr>
              <a:t>規格の「ブルーレイ・ディスク」 と「</a:t>
            </a:r>
            <a:r>
              <a:rPr lang="en-US" altLang="ja-JP" sz="1000">
                <a:latin typeface="ＭＳ Ｐ明朝" panose="02020600040205080304" pitchFamily="18" charset="-128"/>
                <a:ea typeface="ＭＳ Ｐ明朝" panose="02020600040205080304" pitchFamily="18" charset="-128"/>
              </a:rPr>
              <a:t>HD DVD</a:t>
            </a:r>
            <a:r>
              <a:rPr lang="ja-JP" altLang="en-US" sz="1000">
                <a:latin typeface="ＭＳ Ｐ明朝" panose="02020600040205080304" pitchFamily="18" charset="-128"/>
                <a:ea typeface="ＭＳ Ｐ明朝" panose="02020600040205080304" pitchFamily="18" charset="-128"/>
              </a:rPr>
              <a:t>」との主導権争いが繰り広げられています。今後、次世代</a:t>
            </a:r>
            <a:r>
              <a:rPr lang="en-US" altLang="ja-JP" sz="1000">
                <a:latin typeface="ＭＳ Ｐ明朝" panose="02020600040205080304" pitchFamily="18" charset="-128"/>
                <a:ea typeface="ＭＳ Ｐ明朝" panose="02020600040205080304" pitchFamily="18" charset="-128"/>
              </a:rPr>
              <a:t>DVD</a:t>
            </a:r>
            <a:r>
              <a:rPr lang="ja-JP" altLang="en-US" sz="1000">
                <a:latin typeface="ＭＳ Ｐ明朝" panose="02020600040205080304" pitchFamily="18" charset="-128"/>
                <a:ea typeface="ＭＳ Ｐ明朝" panose="02020600040205080304" pitchFamily="18" charset="-128"/>
              </a:rPr>
              <a:t>規格の成否の差は非常に大きくなるものと思われます。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次世代</a:t>
            </a:r>
            <a:r>
              <a:rPr lang="en-US" altLang="ja-JP" sz="1000">
                <a:latin typeface="ＭＳ Ｐ明朝" panose="02020600040205080304" pitchFamily="18" charset="-128"/>
                <a:ea typeface="ＭＳ Ｐ明朝" panose="02020600040205080304" pitchFamily="18" charset="-128"/>
              </a:rPr>
              <a:t>DVD</a:t>
            </a:r>
            <a:r>
              <a:rPr lang="ja-JP" altLang="en-US" sz="1000">
                <a:latin typeface="ＭＳ Ｐ明朝" panose="02020600040205080304" pitchFamily="18" charset="-128"/>
                <a:ea typeface="ＭＳ Ｐ明朝" panose="02020600040205080304" pitchFamily="18" charset="-128"/>
              </a:rPr>
              <a:t>とはデジタル多用途ディスクと呼ばれ、現行</a:t>
            </a:r>
            <a:r>
              <a:rPr lang="en-US" altLang="ja-JP" sz="1000">
                <a:latin typeface="ＭＳ Ｐ明朝" panose="02020600040205080304" pitchFamily="18" charset="-128"/>
                <a:ea typeface="ＭＳ Ｐ明朝" panose="02020600040205080304" pitchFamily="18" charset="-128"/>
              </a:rPr>
              <a:t>DVD</a:t>
            </a:r>
            <a:r>
              <a:rPr lang="ja-JP" altLang="en-US" sz="1000">
                <a:latin typeface="ＭＳ Ｐ明朝" panose="02020600040205080304" pitchFamily="18" charset="-128"/>
                <a:ea typeface="ＭＳ Ｐ明朝" panose="02020600040205080304" pitchFamily="18" charset="-128"/>
              </a:rPr>
              <a:t>のおよそ</a:t>
            </a:r>
            <a:r>
              <a:rPr lang="en-US" altLang="ja-JP" sz="1000">
                <a:latin typeface="ＭＳ Ｐ明朝" panose="02020600040205080304" pitchFamily="18" charset="-128"/>
                <a:ea typeface="ＭＳ Ｐ明朝" panose="02020600040205080304" pitchFamily="18" charset="-128"/>
              </a:rPr>
              <a:t>6</a:t>
            </a:r>
            <a:r>
              <a:rPr lang="ja-JP" altLang="en-US" sz="1000">
                <a:latin typeface="ＭＳ Ｐ明朝" panose="02020600040205080304" pitchFamily="18" charset="-128"/>
                <a:ea typeface="ＭＳ Ｐ明朝" panose="02020600040205080304" pitchFamily="18" charset="-128"/>
              </a:rPr>
              <a:t>倍～</a:t>
            </a:r>
            <a:r>
              <a:rPr lang="en-US" altLang="ja-JP" sz="1000">
                <a:latin typeface="ＭＳ Ｐ明朝" panose="02020600040205080304" pitchFamily="18" charset="-128"/>
                <a:ea typeface="ＭＳ Ｐ明朝" panose="02020600040205080304" pitchFamily="18" charset="-128"/>
              </a:rPr>
              <a:t>10</a:t>
            </a:r>
            <a:r>
              <a:rPr lang="ja-JP" altLang="en-US" sz="1000">
                <a:latin typeface="ＭＳ Ｐ明朝" panose="02020600040205080304" pitchFamily="18" charset="-128"/>
                <a:ea typeface="ＭＳ Ｐ明朝" panose="02020600040205080304" pitchFamily="18" charset="-128"/>
              </a:rPr>
              <a:t>倍の容量がありハイビジョン画像の記録が可能となっています。次世代</a:t>
            </a:r>
            <a:r>
              <a:rPr lang="en-US" altLang="ja-JP" sz="1000">
                <a:latin typeface="ＭＳ Ｐ明朝" panose="02020600040205080304" pitchFamily="18" charset="-128"/>
                <a:ea typeface="ＭＳ Ｐ明朝" panose="02020600040205080304" pitchFamily="18" charset="-128"/>
              </a:rPr>
              <a:t>DVD</a:t>
            </a:r>
            <a:r>
              <a:rPr lang="ja-JP" altLang="en-US" sz="1000">
                <a:latin typeface="ＭＳ Ｐ明朝" panose="02020600040205080304" pitchFamily="18" charset="-128"/>
                <a:ea typeface="ＭＳ Ｐ明朝" panose="02020600040205080304" pitchFamily="18" charset="-128"/>
              </a:rPr>
              <a:t>の需要については、</a:t>
            </a:r>
            <a:r>
              <a:rPr lang="en-US" altLang="ja-JP" sz="1000">
                <a:latin typeface="ＭＳ Ｐ明朝" panose="02020600040205080304" pitchFamily="18" charset="-128"/>
                <a:ea typeface="ＭＳ Ｐ明朝" panose="02020600040205080304" pitchFamily="18" charset="-128"/>
              </a:rPr>
              <a:t>2002</a:t>
            </a:r>
            <a:r>
              <a:rPr lang="ja-JP" altLang="en-US" sz="1000">
                <a:latin typeface="ＭＳ Ｐ明朝" panose="02020600040205080304" pitchFamily="18" charset="-128"/>
                <a:ea typeface="ＭＳ Ｐ明朝" panose="02020600040205080304" pitchFamily="18" charset="-128"/>
              </a:rPr>
              <a:t>年から世界需要が倍々で拡大中であり、具体的には</a:t>
            </a:r>
            <a:r>
              <a:rPr lang="en-US" altLang="ja-JP" sz="1000">
                <a:latin typeface="ＭＳ Ｐ明朝" panose="02020600040205080304" pitchFamily="18" charset="-128"/>
                <a:ea typeface="ＭＳ Ｐ明朝" panose="02020600040205080304" pitchFamily="18" charset="-128"/>
              </a:rPr>
              <a:t>2005</a:t>
            </a:r>
            <a:r>
              <a:rPr lang="ja-JP" altLang="en-US" sz="1000">
                <a:latin typeface="ＭＳ Ｐ明朝" panose="02020600040205080304" pitchFamily="18" charset="-128"/>
                <a:ea typeface="ＭＳ Ｐ明朝" panose="02020600040205080304" pitchFamily="18" charset="-128"/>
              </a:rPr>
              <a:t>年の需要予測は、</a:t>
            </a:r>
            <a:r>
              <a:rPr lang="en-US" altLang="ja-JP" sz="1000">
                <a:latin typeface="ＭＳ Ｐ明朝" panose="02020600040205080304" pitchFamily="18" charset="-128"/>
                <a:ea typeface="ＭＳ Ｐ明朝" panose="02020600040205080304" pitchFamily="18" charset="-128"/>
              </a:rPr>
              <a:t>2004</a:t>
            </a:r>
            <a:r>
              <a:rPr lang="ja-JP" altLang="en-US" sz="1000">
                <a:latin typeface="ＭＳ Ｐ明朝" panose="02020600040205080304" pitchFamily="18" charset="-128"/>
                <a:ea typeface="ＭＳ Ｐ明朝" panose="02020600040205080304" pitchFamily="18" charset="-128"/>
              </a:rPr>
              <a:t>年の約</a:t>
            </a:r>
            <a:r>
              <a:rPr lang="en-US" altLang="ja-JP" sz="1000">
                <a:latin typeface="ＭＳ Ｐ明朝" panose="02020600040205080304" pitchFamily="18" charset="-128"/>
                <a:ea typeface="ＭＳ Ｐ明朝" panose="02020600040205080304" pitchFamily="18" charset="-128"/>
              </a:rPr>
              <a:t>2</a:t>
            </a:r>
            <a:r>
              <a:rPr lang="ja-JP" altLang="en-US" sz="1000">
                <a:latin typeface="ＭＳ Ｐ明朝" panose="02020600040205080304" pitchFamily="18" charset="-128"/>
                <a:ea typeface="ＭＳ Ｐ明朝" panose="02020600040205080304" pitchFamily="18" charset="-128"/>
              </a:rPr>
              <a:t>倍の</a:t>
            </a:r>
            <a:r>
              <a:rPr lang="en-US" altLang="ja-JP" sz="1000">
                <a:latin typeface="ＭＳ Ｐ明朝" panose="02020600040205080304" pitchFamily="18" charset="-128"/>
                <a:ea typeface="ＭＳ Ｐ明朝" panose="02020600040205080304" pitchFamily="18" charset="-128"/>
              </a:rPr>
              <a:t>25</a:t>
            </a:r>
            <a:r>
              <a:rPr lang="ja-JP" altLang="en-US" sz="1000">
                <a:latin typeface="ＭＳ Ｐ明朝" panose="02020600040205080304" pitchFamily="18" charset="-128"/>
                <a:ea typeface="ＭＳ Ｐ明朝" panose="02020600040205080304" pitchFamily="18" charset="-128"/>
              </a:rPr>
              <a:t>億万枚とされています。このように次世代</a:t>
            </a:r>
            <a:r>
              <a:rPr lang="en-US" altLang="ja-JP" sz="1000">
                <a:latin typeface="ＭＳ Ｐ明朝" panose="02020600040205080304" pitchFamily="18" charset="-128"/>
                <a:ea typeface="ＭＳ Ｐ明朝" panose="02020600040205080304" pitchFamily="18" charset="-128"/>
              </a:rPr>
              <a:t>DVD</a:t>
            </a:r>
            <a:r>
              <a:rPr lang="ja-JP" altLang="en-US" sz="1000">
                <a:latin typeface="ＭＳ Ｐ明朝" panose="02020600040205080304" pitchFamily="18" charset="-128"/>
                <a:ea typeface="ＭＳ Ｐ明朝" panose="02020600040205080304" pitchFamily="18" charset="-128"/>
              </a:rPr>
              <a:t>の需要は今後さらに拡大することが見込まれています。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次世代</a:t>
            </a:r>
            <a:r>
              <a:rPr lang="en-US" altLang="ja-JP" sz="1000">
                <a:latin typeface="ＭＳ Ｐ明朝" panose="02020600040205080304" pitchFamily="18" charset="-128"/>
                <a:ea typeface="ＭＳ Ｐ明朝" panose="02020600040205080304" pitchFamily="18" charset="-128"/>
              </a:rPr>
              <a:t>DVD</a:t>
            </a:r>
            <a:r>
              <a:rPr lang="ja-JP" altLang="en-US" sz="1000">
                <a:latin typeface="ＭＳ Ｐ明朝" panose="02020600040205080304" pitchFamily="18" charset="-128"/>
                <a:ea typeface="ＭＳ Ｐ明朝" panose="02020600040205080304" pitchFamily="18" charset="-128"/>
              </a:rPr>
              <a:t>の機器としては、</a:t>
            </a:r>
            <a:r>
              <a:rPr lang="en-US" altLang="ja-JP" sz="1000">
                <a:latin typeface="ＭＳ Ｐ明朝" panose="02020600040205080304" pitchFamily="18" charset="-128"/>
                <a:ea typeface="ＭＳ Ｐ明朝" panose="02020600040205080304" pitchFamily="18" charset="-128"/>
              </a:rPr>
              <a:t>DVD</a:t>
            </a:r>
            <a:r>
              <a:rPr lang="ja-JP" altLang="en-US" sz="1000">
                <a:latin typeface="ＭＳ Ｐ明朝" panose="02020600040205080304" pitchFamily="18" charset="-128"/>
                <a:ea typeface="ＭＳ Ｐ明朝" panose="02020600040205080304" pitchFamily="18" charset="-128"/>
              </a:rPr>
              <a:t>プレイヤー、パソコンドライブなどがあります。かつて家庭用ビデオの</a:t>
            </a:r>
            <a:r>
              <a:rPr lang="en-US" altLang="ja-JP" sz="1000">
                <a:latin typeface="ＭＳ Ｐ明朝" panose="02020600040205080304" pitchFamily="18" charset="-128"/>
                <a:ea typeface="ＭＳ Ｐ明朝" panose="02020600040205080304" pitchFamily="18" charset="-128"/>
              </a:rPr>
              <a:t>VHS</a:t>
            </a:r>
            <a:r>
              <a:rPr lang="ja-JP" altLang="en-US" sz="1000">
                <a:latin typeface="ＭＳ Ｐ明朝" panose="02020600040205080304" pitchFamily="18" charset="-128"/>
                <a:ea typeface="ＭＳ Ｐ明朝" panose="02020600040205080304" pitchFamily="18" charset="-128"/>
              </a:rPr>
              <a:t>と</a:t>
            </a:r>
            <a:r>
              <a:rPr lang="en-US" altLang="ja-JP" sz="1000">
                <a:latin typeface="ＭＳ Ｐ明朝" panose="02020600040205080304" pitchFamily="18" charset="-128"/>
                <a:ea typeface="ＭＳ Ｐ明朝" panose="02020600040205080304" pitchFamily="18" charset="-128"/>
              </a:rPr>
              <a:t>β</a:t>
            </a:r>
            <a:r>
              <a:rPr lang="ja-JP" altLang="en-US" sz="1000">
                <a:latin typeface="ＭＳ Ｐ明朝" panose="02020600040205080304" pitchFamily="18" charset="-128"/>
                <a:ea typeface="ＭＳ Ｐ明朝" panose="02020600040205080304" pitchFamily="18" charset="-128"/>
              </a:rPr>
              <a:t>（ベータ）の主導権争いにおいては家電のみであったものが、次世代</a:t>
            </a:r>
            <a:r>
              <a:rPr lang="en-US" altLang="ja-JP" sz="1000">
                <a:latin typeface="ＭＳ Ｐ明朝" panose="02020600040205080304" pitchFamily="18" charset="-128"/>
                <a:ea typeface="ＭＳ Ｐ明朝" panose="02020600040205080304" pitchFamily="18" charset="-128"/>
              </a:rPr>
              <a:t>DVD</a:t>
            </a:r>
            <a:r>
              <a:rPr lang="ja-JP" altLang="en-US" sz="1000">
                <a:latin typeface="ＭＳ Ｐ明朝" panose="02020600040205080304" pitchFamily="18" charset="-128"/>
                <a:ea typeface="ＭＳ Ｐ明朝" panose="02020600040205080304" pitchFamily="18" charset="-128"/>
              </a:rPr>
              <a:t>については、家電のみならずパソコン業界をも含んだ大きな覇権争いになることと予想されます。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図表</a:t>
            </a:r>
            <a:r>
              <a:rPr lang="en-US" altLang="ja-JP" sz="1000">
                <a:latin typeface="ＭＳ Ｐ明朝" panose="02020600040205080304" pitchFamily="18" charset="-128"/>
                <a:ea typeface="ＭＳ Ｐ明朝" panose="02020600040205080304" pitchFamily="18" charset="-128"/>
              </a:rPr>
              <a:t>2-3-3</a:t>
            </a:r>
            <a:r>
              <a:rPr lang="ja-JP" altLang="en-US" sz="1000">
                <a:latin typeface="ＭＳ Ｐ明朝" panose="02020600040205080304" pitchFamily="18" charset="-128"/>
                <a:ea typeface="ＭＳ Ｐ明朝" panose="02020600040205080304" pitchFamily="18" charset="-128"/>
              </a:rPr>
              <a:t>より、日本の電機メーカーや海外の電機・パソコンメーカー、それにコンテンツを配信する側の映画会社といった関係者は、</a:t>
            </a:r>
            <a:r>
              <a:rPr lang="en-US" altLang="ja-JP" sz="1000">
                <a:latin typeface="ＭＳ Ｐ明朝" panose="02020600040205080304" pitchFamily="18" charset="-128"/>
                <a:ea typeface="ＭＳ Ｐ明朝" panose="02020600040205080304" pitchFamily="18" charset="-128"/>
              </a:rPr>
              <a:t>2 </a:t>
            </a:r>
            <a:r>
              <a:rPr lang="ja-JP" altLang="en-US" sz="1000">
                <a:latin typeface="ＭＳ Ｐ明朝" panose="02020600040205080304" pitchFamily="18" charset="-128"/>
                <a:ea typeface="ＭＳ Ｐ明朝" panose="02020600040205080304" pitchFamily="18" charset="-128"/>
              </a:rPr>
              <a:t>つの次世代</a:t>
            </a:r>
            <a:r>
              <a:rPr lang="en-US" altLang="ja-JP" sz="1000">
                <a:latin typeface="ＭＳ Ｐ明朝" panose="02020600040205080304" pitchFamily="18" charset="-128"/>
                <a:ea typeface="ＭＳ Ｐ明朝" panose="02020600040205080304" pitchFamily="18" charset="-128"/>
              </a:rPr>
              <a:t>DVD</a:t>
            </a:r>
            <a:r>
              <a:rPr lang="ja-JP" altLang="en-US" sz="1000">
                <a:latin typeface="ＭＳ Ｐ明朝" panose="02020600040205080304" pitchFamily="18" charset="-128"/>
                <a:ea typeface="ＭＳ Ｐ明朝" panose="02020600040205080304" pitchFamily="18" charset="-128"/>
              </a:rPr>
              <a:t>規格、 「ブルーレイ・ディスク」 と「</a:t>
            </a:r>
            <a:r>
              <a:rPr lang="en-US" altLang="ja-JP" sz="1000">
                <a:latin typeface="ＭＳ Ｐ明朝" panose="02020600040205080304" pitchFamily="18" charset="-128"/>
                <a:ea typeface="ＭＳ Ｐ明朝" panose="02020600040205080304" pitchFamily="18" charset="-128"/>
              </a:rPr>
              <a:t>HD DVD</a:t>
            </a:r>
            <a:r>
              <a:rPr lang="ja-JP" altLang="en-US" sz="1000">
                <a:latin typeface="ＭＳ Ｐ明朝" panose="02020600040205080304" pitchFamily="18" charset="-128"/>
                <a:ea typeface="ＭＳ Ｐ明朝" panose="02020600040205080304" pitchFamily="18" charset="-128"/>
              </a:rPr>
              <a:t>」のいずれかに賛同を示していることがわかります。賛同を示している映画会社のシェアは現在のところ「ブルーレイ・ディスク」側がわずかに優勢ですが、</a:t>
            </a:r>
            <a:r>
              <a:rPr lang="en-US" altLang="ja-JP" sz="1000">
                <a:latin typeface="ＭＳ Ｐ明朝" panose="02020600040205080304" pitchFamily="18" charset="-128"/>
                <a:ea typeface="ＭＳ Ｐ明朝" panose="02020600040205080304" pitchFamily="18" charset="-128"/>
              </a:rPr>
              <a:t>20</a:t>
            </a:r>
            <a:r>
              <a:rPr lang="ja-JP" altLang="en-US" sz="1000">
                <a:latin typeface="ＭＳ Ｐ明朝" panose="02020600040205080304" pitchFamily="18" charset="-128"/>
                <a:ea typeface="ＭＳ Ｐ明朝" panose="02020600040205080304" pitchFamily="18" charset="-128"/>
              </a:rPr>
              <a:t>世紀フォックスは「ブルーレイ・ディスク」に確定したわけではないため、各シェア争いは非常に微妙な状況となっているのです。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そうした中でいくつかのメーカーでは再生機能の規格だけでも 「ブルーレイ・ディスク」 と「</a:t>
            </a:r>
            <a:r>
              <a:rPr lang="en-US" altLang="ja-JP" sz="1000">
                <a:latin typeface="ＭＳ Ｐ明朝" panose="02020600040205080304" pitchFamily="18" charset="-128"/>
                <a:ea typeface="ＭＳ Ｐ明朝" panose="02020600040205080304" pitchFamily="18" charset="-128"/>
              </a:rPr>
              <a:t>HD DVD</a:t>
            </a:r>
            <a:r>
              <a:rPr lang="ja-JP" altLang="en-US" sz="1000">
                <a:latin typeface="ＭＳ Ｐ明朝" panose="02020600040205080304" pitchFamily="18" charset="-128"/>
                <a:ea typeface="ＭＳ Ｐ明朝" panose="02020600040205080304" pitchFamily="18" charset="-128"/>
              </a:rPr>
              <a:t>」双方に対応できるようにしておくといった安全策もとられているようです。このように現代の設備投資の評価には予測・計算が難しい様々な不確定要素が含まれており、途中で前提から大きく乖離した場合に備えて、第二の計画を用意するといった念入りな対応が必要な場合もあります。</a:t>
            </a:r>
          </a:p>
          <a:p>
            <a:pPr algn="just">
              <a:lnSpc>
                <a:spcPct val="120000"/>
              </a:lnSpc>
            </a:pPr>
            <a:endParaRPr kumimoji="0" lang="ja-JP" altLang="en-US" sz="1000">
              <a:latin typeface="Century" panose="02040604050505020304" pitchFamily="18" charset="0"/>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技術革新がはげしい現在では投資から見込まれる収入金額だけでなく、どれ位の用途を生み出すことができる投資であるのかにも目を向けておくことも有効と考えられます。ここで「用途」というのは、その投資の対象が長期的な活用に耐え得るものであるか、他の製品向けに転用可能性があるか、といったことです。製品の多様化・製品寿命の短命化が起こっている現在、こうした定性評価も合わせて判断する必要があるのです（</a:t>
            </a:r>
            <a:r>
              <a:rPr lang="ja-JP" altLang="en-US" sz="1000">
                <a:latin typeface="ＭＳ Ｐ明朝" panose="02020600040205080304" pitchFamily="18" charset="-128"/>
                <a:ea typeface="ＭＳ Ｐ明朝" panose="02020600040205080304" pitchFamily="18" charset="-128"/>
              </a:rPr>
              <a:t>図表</a:t>
            </a:r>
            <a:r>
              <a:rPr lang="en-US" altLang="ja-JP" sz="1000">
                <a:latin typeface="ＭＳ Ｐ明朝" panose="02020600040205080304" pitchFamily="18" charset="-128"/>
                <a:ea typeface="ＭＳ Ｐ明朝" panose="02020600040205080304" pitchFamily="18" charset="-128"/>
              </a:rPr>
              <a:t>2-3-2</a:t>
            </a:r>
            <a:r>
              <a:rPr lang="ja-JP" altLang="en-US" sz="1000">
                <a:latin typeface="ＭＳ Ｐ明朝" panose="02020600040205080304" pitchFamily="18" charset="-128"/>
                <a:ea typeface="ＭＳ Ｐ明朝" panose="02020600040205080304" pitchFamily="18" charset="-128"/>
              </a:rPr>
              <a:t>参照</a:t>
            </a:r>
            <a:r>
              <a:rPr kumimoji="0" lang="ja-JP" altLang="en-US" sz="1000">
                <a:latin typeface="ＭＳ Ｐ明朝" panose="02020600040205080304" pitchFamily="18" charset="-128"/>
                <a:ea typeface="ＭＳ Ｐ明朝" panose="02020600040205080304" pitchFamily="18" charset="-128"/>
              </a:rPr>
              <a:t>）。</a:t>
            </a:r>
          </a:p>
        </p:txBody>
      </p:sp>
      <p:sp>
        <p:nvSpPr>
          <p:cNvPr id="2004995" name="Rectangle 1027">
            <a:extLst>
              <a:ext uri="{FF2B5EF4-FFF2-40B4-BE49-F238E27FC236}">
                <a16:creationId xmlns:a16="http://schemas.microsoft.com/office/drawing/2014/main" id="{77D9290D-FB92-95A3-6BD2-F75AF8173501}"/>
              </a:ext>
            </a:extLst>
          </p:cNvPr>
          <p:cNvSpPr>
            <a:spLocks noChangeArrowheads="1"/>
          </p:cNvSpPr>
          <p:nvPr/>
        </p:nvSpPr>
        <p:spPr bwMode="auto">
          <a:xfrm>
            <a:off x="533400" y="9906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現代の設備投資に必要な視点</a:t>
            </a:r>
          </a:p>
        </p:txBody>
      </p:sp>
      <p:sp>
        <p:nvSpPr>
          <p:cNvPr id="2004996" name="Line 1028">
            <a:extLst>
              <a:ext uri="{FF2B5EF4-FFF2-40B4-BE49-F238E27FC236}">
                <a16:creationId xmlns:a16="http://schemas.microsoft.com/office/drawing/2014/main" id="{D9B40030-BA81-E3F0-BF1C-EDB2E616DBFC}"/>
              </a:ext>
            </a:extLst>
          </p:cNvPr>
          <p:cNvSpPr>
            <a:spLocks noChangeShapeType="1"/>
          </p:cNvSpPr>
          <p:nvPr/>
        </p:nvSpPr>
        <p:spPr bwMode="auto">
          <a:xfrm>
            <a:off x="533400" y="12954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2004997" name="Rectangle 1029">
            <a:extLst>
              <a:ext uri="{FF2B5EF4-FFF2-40B4-BE49-F238E27FC236}">
                <a16:creationId xmlns:a16="http://schemas.microsoft.com/office/drawing/2014/main" id="{71EED272-EB06-2A6B-D95A-88D0E49028AA}"/>
              </a:ext>
            </a:extLst>
          </p:cNvPr>
          <p:cNvSpPr>
            <a:spLocks noChangeArrowheads="1"/>
          </p:cNvSpPr>
          <p:nvPr/>
        </p:nvSpPr>
        <p:spPr bwMode="auto">
          <a:xfrm>
            <a:off x="533400" y="75438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2-3-2</a:t>
            </a:r>
          </a:p>
        </p:txBody>
      </p:sp>
      <p:sp>
        <p:nvSpPr>
          <p:cNvPr id="2004998" name="Rectangle 1030">
            <a:extLst>
              <a:ext uri="{FF2B5EF4-FFF2-40B4-BE49-F238E27FC236}">
                <a16:creationId xmlns:a16="http://schemas.microsoft.com/office/drawing/2014/main" id="{3CE1118D-6E81-7154-28B6-572D776B29C6}"/>
              </a:ext>
            </a:extLst>
          </p:cNvPr>
          <p:cNvSpPr>
            <a:spLocks noChangeArrowheads="1"/>
          </p:cNvSpPr>
          <p:nvPr/>
        </p:nvSpPr>
        <p:spPr bwMode="auto">
          <a:xfrm>
            <a:off x="1482725" y="75438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設備投資における視点</a:t>
            </a:r>
          </a:p>
        </p:txBody>
      </p:sp>
      <p:sp>
        <p:nvSpPr>
          <p:cNvPr id="2004999" name="Rectangle 1031">
            <a:extLst>
              <a:ext uri="{FF2B5EF4-FFF2-40B4-BE49-F238E27FC236}">
                <a16:creationId xmlns:a16="http://schemas.microsoft.com/office/drawing/2014/main" id="{C191546F-C6DE-AE61-DB65-A4A835B1BC51}"/>
              </a:ext>
            </a:extLst>
          </p:cNvPr>
          <p:cNvSpPr>
            <a:spLocks noChangeAspect="1" noChangeArrowheads="1"/>
          </p:cNvSpPr>
          <p:nvPr/>
        </p:nvSpPr>
        <p:spPr bwMode="auto">
          <a:xfrm>
            <a:off x="2057400" y="7924800"/>
            <a:ext cx="1735138" cy="1622425"/>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endParaRPr lang="ja-JP" altLang="ja-JP" sz="1000">
              <a:latin typeface="ＭＳ Ｐゴシック" panose="020B0600070205080204" pitchFamily="50" charset="-128"/>
            </a:endParaRPr>
          </a:p>
        </p:txBody>
      </p:sp>
      <p:sp>
        <p:nvSpPr>
          <p:cNvPr id="2005000" name="Rectangle 1032">
            <a:extLst>
              <a:ext uri="{FF2B5EF4-FFF2-40B4-BE49-F238E27FC236}">
                <a16:creationId xmlns:a16="http://schemas.microsoft.com/office/drawing/2014/main" id="{37900C6D-C65A-592B-6189-2D5FBA18CF97}"/>
              </a:ext>
            </a:extLst>
          </p:cNvPr>
          <p:cNvSpPr>
            <a:spLocks noChangeAspect="1" noChangeArrowheads="1"/>
          </p:cNvSpPr>
          <p:nvPr/>
        </p:nvSpPr>
        <p:spPr bwMode="auto">
          <a:xfrm>
            <a:off x="2532063" y="8367713"/>
            <a:ext cx="787400" cy="736600"/>
          </a:xfrm>
          <a:prstGeom prst="rect">
            <a:avLst/>
          </a:prstGeom>
          <a:solidFill>
            <a:schemeClr val="hlink"/>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endParaRPr lang="ja-JP" altLang="ja-JP" sz="1000">
              <a:latin typeface="ＭＳ Ｐゴシック" panose="020B0600070205080204" pitchFamily="50" charset="-128"/>
            </a:endParaRPr>
          </a:p>
        </p:txBody>
      </p:sp>
      <p:sp>
        <p:nvSpPr>
          <p:cNvPr id="2005001" name="Text Box 1033">
            <a:extLst>
              <a:ext uri="{FF2B5EF4-FFF2-40B4-BE49-F238E27FC236}">
                <a16:creationId xmlns:a16="http://schemas.microsoft.com/office/drawing/2014/main" id="{9983EC54-C5D3-2B6F-D7A0-98C782286DA4}"/>
              </a:ext>
            </a:extLst>
          </p:cNvPr>
          <p:cNvSpPr txBox="1">
            <a:spLocks noChangeAspect="1" noChangeArrowheads="1"/>
          </p:cNvSpPr>
          <p:nvPr/>
        </p:nvSpPr>
        <p:spPr bwMode="auto">
          <a:xfrm>
            <a:off x="2525713" y="8534400"/>
            <a:ext cx="8001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spcBef>
                <a:spcPct val="50000"/>
              </a:spcBef>
            </a:pPr>
            <a:r>
              <a:rPr lang="ja-JP" altLang="en-US" sz="1000" b="1">
                <a:latin typeface="ＭＳ Ｐゴシック" panose="020B0600070205080204" pitchFamily="50" charset="-128"/>
              </a:rPr>
              <a:t>投資による「収入」</a:t>
            </a:r>
          </a:p>
        </p:txBody>
      </p:sp>
      <p:sp>
        <p:nvSpPr>
          <p:cNvPr id="2005002" name="AutoShape 1034">
            <a:extLst>
              <a:ext uri="{FF2B5EF4-FFF2-40B4-BE49-F238E27FC236}">
                <a16:creationId xmlns:a16="http://schemas.microsoft.com/office/drawing/2014/main" id="{86D8CD49-A893-CD3B-0BBE-3543CB9A36CD}"/>
              </a:ext>
            </a:extLst>
          </p:cNvPr>
          <p:cNvSpPr>
            <a:spLocks noChangeAspect="1" noChangeArrowheads="1"/>
          </p:cNvSpPr>
          <p:nvPr/>
        </p:nvSpPr>
        <p:spPr bwMode="auto">
          <a:xfrm>
            <a:off x="3970338" y="8709025"/>
            <a:ext cx="2051050" cy="723900"/>
          </a:xfrm>
          <a:prstGeom prst="wedgeRoundRectCallout">
            <a:avLst>
              <a:gd name="adj1" fmla="val -69968"/>
              <a:gd name="adj2" fmla="val -43639"/>
              <a:gd name="adj3" fmla="val 16667"/>
            </a:avLst>
          </a:prstGeom>
          <a:solidFill>
            <a:schemeClr val="bg1"/>
          </a:solidFill>
          <a:ln w="63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endParaRPr lang="ja-JP" altLang="ja-JP" sz="1000">
              <a:latin typeface="ＭＳ Ｐゴシック" panose="020B0600070205080204" pitchFamily="50" charset="-128"/>
            </a:endParaRPr>
          </a:p>
        </p:txBody>
      </p:sp>
      <p:sp>
        <p:nvSpPr>
          <p:cNvPr id="2005003" name="Text Box 1035">
            <a:extLst>
              <a:ext uri="{FF2B5EF4-FFF2-40B4-BE49-F238E27FC236}">
                <a16:creationId xmlns:a16="http://schemas.microsoft.com/office/drawing/2014/main" id="{09CB4F35-8239-A159-35BC-453C70C6FE6C}"/>
              </a:ext>
            </a:extLst>
          </p:cNvPr>
          <p:cNvSpPr txBox="1">
            <a:spLocks noChangeAspect="1" noChangeArrowheads="1"/>
          </p:cNvSpPr>
          <p:nvPr/>
        </p:nvSpPr>
        <p:spPr bwMode="auto">
          <a:xfrm>
            <a:off x="4040188" y="8742363"/>
            <a:ext cx="1828800"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spcBef>
                <a:spcPct val="50000"/>
              </a:spcBef>
            </a:pPr>
            <a:r>
              <a:rPr lang="ja-JP" altLang="en-US" sz="900">
                <a:latin typeface="ＭＳ Ｐゴシック" panose="020B0600070205080204" pitchFamily="50" charset="-128"/>
              </a:rPr>
              <a:t>長期的な活用に耐え得るのか？</a:t>
            </a:r>
          </a:p>
          <a:p>
            <a:pPr>
              <a:spcBef>
                <a:spcPct val="50000"/>
              </a:spcBef>
            </a:pPr>
            <a:r>
              <a:rPr lang="ja-JP" altLang="en-US" sz="900">
                <a:latin typeface="ＭＳ Ｐゴシック" panose="020B0600070205080204" pitchFamily="50" charset="-128"/>
              </a:rPr>
              <a:t>他の製品向けに転用可能なのか？</a:t>
            </a:r>
          </a:p>
          <a:p>
            <a:pPr>
              <a:spcBef>
                <a:spcPct val="50000"/>
              </a:spcBef>
            </a:pPr>
            <a:r>
              <a:rPr lang="ja-JP" altLang="en-US" sz="900">
                <a:latin typeface="ＭＳ Ｐゴシック" panose="020B0600070205080204" pitchFamily="50" charset="-128"/>
              </a:rPr>
              <a:t>		等</a:t>
            </a:r>
          </a:p>
        </p:txBody>
      </p:sp>
      <p:sp>
        <p:nvSpPr>
          <p:cNvPr id="2005004" name="Text Box 1036">
            <a:extLst>
              <a:ext uri="{FF2B5EF4-FFF2-40B4-BE49-F238E27FC236}">
                <a16:creationId xmlns:a16="http://schemas.microsoft.com/office/drawing/2014/main" id="{09BE5573-E60F-E986-3E24-ADFBCFF79914}"/>
              </a:ext>
            </a:extLst>
          </p:cNvPr>
          <p:cNvSpPr txBox="1">
            <a:spLocks noChangeAspect="1" noChangeArrowheads="1"/>
          </p:cNvSpPr>
          <p:nvPr/>
        </p:nvSpPr>
        <p:spPr bwMode="auto">
          <a:xfrm>
            <a:off x="2516188" y="8091488"/>
            <a:ext cx="887412"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spcBef>
                <a:spcPct val="50000"/>
              </a:spcBef>
            </a:pPr>
            <a:r>
              <a:rPr lang="ja-JP" altLang="en-US" sz="1000" b="1">
                <a:latin typeface="ＭＳ Ｐゴシック" panose="020B0600070205080204" pitchFamily="50" charset="-128"/>
              </a:rPr>
              <a:t>投資の「用途」</a:t>
            </a:r>
          </a:p>
        </p:txBody>
      </p:sp>
      <p:sp>
        <p:nvSpPr>
          <p:cNvPr id="2005005" name="Line 1037">
            <a:extLst>
              <a:ext uri="{FF2B5EF4-FFF2-40B4-BE49-F238E27FC236}">
                <a16:creationId xmlns:a16="http://schemas.microsoft.com/office/drawing/2014/main" id="{47BAF6E9-C943-C0DA-5552-169C7074AA07}"/>
              </a:ext>
            </a:extLst>
          </p:cNvPr>
          <p:cNvSpPr>
            <a:spLocks noChangeAspect="1" noChangeShapeType="1"/>
          </p:cNvSpPr>
          <p:nvPr/>
        </p:nvSpPr>
        <p:spPr bwMode="auto">
          <a:xfrm flipH="1">
            <a:off x="2400300" y="8975725"/>
            <a:ext cx="266700" cy="266700"/>
          </a:xfrm>
          <a:prstGeom prst="line">
            <a:avLst/>
          </a:prstGeom>
          <a:noFill/>
          <a:ln w="63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2005006" name="Line 1038">
            <a:extLst>
              <a:ext uri="{FF2B5EF4-FFF2-40B4-BE49-F238E27FC236}">
                <a16:creationId xmlns:a16="http://schemas.microsoft.com/office/drawing/2014/main" id="{FFB0D380-1295-F1EB-34DF-B623D6DF7A52}"/>
              </a:ext>
            </a:extLst>
          </p:cNvPr>
          <p:cNvSpPr>
            <a:spLocks noChangeAspect="1" noChangeShapeType="1"/>
          </p:cNvSpPr>
          <p:nvPr/>
        </p:nvSpPr>
        <p:spPr bwMode="auto">
          <a:xfrm flipH="1" flipV="1">
            <a:off x="2393950" y="8226425"/>
            <a:ext cx="222250" cy="222250"/>
          </a:xfrm>
          <a:prstGeom prst="line">
            <a:avLst/>
          </a:prstGeom>
          <a:noFill/>
          <a:ln w="63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2005007" name="Line 1039">
            <a:extLst>
              <a:ext uri="{FF2B5EF4-FFF2-40B4-BE49-F238E27FC236}">
                <a16:creationId xmlns:a16="http://schemas.microsoft.com/office/drawing/2014/main" id="{36B3C92C-2E87-4FCC-6E37-7CCF2B4BA457}"/>
              </a:ext>
            </a:extLst>
          </p:cNvPr>
          <p:cNvSpPr>
            <a:spLocks noChangeAspect="1" noChangeShapeType="1"/>
          </p:cNvSpPr>
          <p:nvPr/>
        </p:nvSpPr>
        <p:spPr bwMode="auto">
          <a:xfrm>
            <a:off x="3201988" y="8975725"/>
            <a:ext cx="266700" cy="266700"/>
          </a:xfrm>
          <a:prstGeom prst="line">
            <a:avLst/>
          </a:prstGeom>
          <a:noFill/>
          <a:ln w="63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2005008" name="Line 1040">
            <a:extLst>
              <a:ext uri="{FF2B5EF4-FFF2-40B4-BE49-F238E27FC236}">
                <a16:creationId xmlns:a16="http://schemas.microsoft.com/office/drawing/2014/main" id="{A1C73DBC-3F89-3B3F-6D83-8439931FC7E8}"/>
              </a:ext>
            </a:extLst>
          </p:cNvPr>
          <p:cNvSpPr>
            <a:spLocks noChangeAspect="1" noChangeShapeType="1"/>
          </p:cNvSpPr>
          <p:nvPr/>
        </p:nvSpPr>
        <p:spPr bwMode="auto">
          <a:xfrm flipV="1">
            <a:off x="3227388" y="8239125"/>
            <a:ext cx="209550" cy="209550"/>
          </a:xfrm>
          <a:prstGeom prst="line">
            <a:avLst/>
          </a:prstGeom>
          <a:noFill/>
          <a:ln w="63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2005009" name="Text Box 1041">
            <a:extLst>
              <a:ext uri="{FF2B5EF4-FFF2-40B4-BE49-F238E27FC236}">
                <a16:creationId xmlns:a16="http://schemas.microsoft.com/office/drawing/2014/main" id="{603839ED-23A1-0C75-2F98-C7271C5E2F51}"/>
              </a:ext>
            </a:extLst>
          </p:cNvPr>
          <p:cNvSpPr txBox="1">
            <a:spLocks noChangeAspect="1" noChangeArrowheads="1"/>
          </p:cNvSpPr>
          <p:nvPr/>
        </p:nvSpPr>
        <p:spPr bwMode="auto">
          <a:xfrm>
            <a:off x="2516188" y="9296400"/>
            <a:ext cx="762000" cy="214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spcBef>
                <a:spcPct val="50000"/>
              </a:spcBef>
            </a:pPr>
            <a:r>
              <a:rPr lang="ja-JP" altLang="en-US" sz="800">
                <a:latin typeface="ＭＳ Ｐゴシック" panose="020B0600070205080204" pitchFamily="50" charset="-128"/>
              </a:rPr>
              <a:t>視点の広がり</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1634" name="Rectangle 2">
            <a:extLst>
              <a:ext uri="{FF2B5EF4-FFF2-40B4-BE49-F238E27FC236}">
                <a16:creationId xmlns:a16="http://schemas.microsoft.com/office/drawing/2014/main" id="{94B2EDCF-CC44-FA3C-88EF-88FA14787FAF}"/>
              </a:ext>
            </a:extLst>
          </p:cNvPr>
          <p:cNvSpPr>
            <a:spLocks noChangeArrowheads="1"/>
          </p:cNvSpPr>
          <p:nvPr/>
        </p:nvSpPr>
        <p:spPr bwMode="auto">
          <a:xfrm>
            <a:off x="533400" y="16002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2-3-3</a:t>
            </a:r>
          </a:p>
        </p:txBody>
      </p:sp>
      <p:sp>
        <p:nvSpPr>
          <p:cNvPr id="1861635" name="Rectangle 3">
            <a:extLst>
              <a:ext uri="{FF2B5EF4-FFF2-40B4-BE49-F238E27FC236}">
                <a16:creationId xmlns:a16="http://schemas.microsoft.com/office/drawing/2014/main" id="{B5AB7271-B2FD-E764-C3CC-8F24B0372824}"/>
              </a:ext>
            </a:extLst>
          </p:cNvPr>
          <p:cNvSpPr>
            <a:spLocks noChangeArrowheads="1"/>
          </p:cNvSpPr>
          <p:nvPr/>
        </p:nvSpPr>
        <p:spPr bwMode="auto">
          <a:xfrm>
            <a:off x="1482725" y="16002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次世代</a:t>
            </a:r>
            <a:r>
              <a:rPr lang="en-US" altLang="ja-JP" sz="1000">
                <a:solidFill>
                  <a:schemeClr val="bg1"/>
                </a:solidFill>
              </a:rPr>
              <a:t>DVD</a:t>
            </a:r>
            <a:r>
              <a:rPr lang="ja-JP" altLang="en-US" sz="1000">
                <a:solidFill>
                  <a:schemeClr val="bg1"/>
                </a:solidFill>
              </a:rPr>
              <a:t>（デジタル多用途ディスク）の</a:t>
            </a:r>
            <a:r>
              <a:rPr lang="en-US" altLang="ja-JP" sz="1000">
                <a:solidFill>
                  <a:schemeClr val="bg1"/>
                </a:solidFill>
              </a:rPr>
              <a:t>2</a:t>
            </a:r>
            <a:r>
              <a:rPr lang="ja-JP" altLang="en-US" sz="1000">
                <a:solidFill>
                  <a:schemeClr val="bg1"/>
                </a:solidFill>
              </a:rPr>
              <a:t>つの規格</a:t>
            </a:r>
          </a:p>
        </p:txBody>
      </p:sp>
      <p:sp>
        <p:nvSpPr>
          <p:cNvPr id="1861641" name="Rectangle 9">
            <a:extLst>
              <a:ext uri="{FF2B5EF4-FFF2-40B4-BE49-F238E27FC236}">
                <a16:creationId xmlns:a16="http://schemas.microsoft.com/office/drawing/2014/main" id="{489B22C3-4B08-137A-839C-3B2095EE6CA3}"/>
              </a:ext>
            </a:extLst>
          </p:cNvPr>
          <p:cNvSpPr>
            <a:spLocks noChangeArrowheads="1"/>
          </p:cNvSpPr>
          <p:nvPr/>
        </p:nvSpPr>
        <p:spPr bwMode="ltGray">
          <a:xfrm>
            <a:off x="1600200" y="1828800"/>
            <a:ext cx="2249488" cy="457200"/>
          </a:xfrm>
          <a:prstGeom prst="rect">
            <a:avLst/>
          </a:prstGeom>
          <a:solidFill>
            <a:srgbClr val="333399"/>
          </a:solidFill>
          <a:ln w="12700">
            <a:solidFill>
              <a:schemeClr val="bg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0" hangingPunct="0">
              <a:buFont typeface="Wingdings" panose="05000000000000000000" pitchFamily="2" charset="2"/>
              <a:buNone/>
            </a:pPr>
            <a:r>
              <a:rPr kumimoji="0" lang="ja-JP" altLang="en-US" sz="1000" b="1">
                <a:solidFill>
                  <a:schemeClr val="bg1"/>
                </a:solidFill>
                <a:latin typeface="Arial" panose="020B0604020202020204" pitchFamily="34" charset="0"/>
              </a:rPr>
              <a:t>ブルーレイ・ディスク</a:t>
            </a:r>
          </a:p>
        </p:txBody>
      </p:sp>
      <p:sp>
        <p:nvSpPr>
          <p:cNvPr id="1861642" name="Rectangle 10">
            <a:extLst>
              <a:ext uri="{FF2B5EF4-FFF2-40B4-BE49-F238E27FC236}">
                <a16:creationId xmlns:a16="http://schemas.microsoft.com/office/drawing/2014/main" id="{CCBF2263-FD1C-74D2-6833-CCDE36EFABC5}"/>
              </a:ext>
            </a:extLst>
          </p:cNvPr>
          <p:cNvSpPr>
            <a:spLocks noChangeArrowheads="1"/>
          </p:cNvSpPr>
          <p:nvPr/>
        </p:nvSpPr>
        <p:spPr bwMode="ltGray">
          <a:xfrm>
            <a:off x="3922713" y="1828800"/>
            <a:ext cx="2249487" cy="457200"/>
          </a:xfrm>
          <a:prstGeom prst="rect">
            <a:avLst/>
          </a:prstGeom>
          <a:solidFill>
            <a:srgbClr val="333399"/>
          </a:solidFill>
          <a:ln w="12700">
            <a:solidFill>
              <a:schemeClr val="bg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0" hangingPunct="0">
              <a:buFont typeface="Wingdings" panose="05000000000000000000" pitchFamily="2" charset="2"/>
              <a:buNone/>
            </a:pPr>
            <a:r>
              <a:rPr kumimoji="0" lang="en-US" altLang="ja-JP" sz="1000" b="1">
                <a:solidFill>
                  <a:schemeClr val="bg1"/>
                </a:solidFill>
                <a:latin typeface="Arial" panose="020B0604020202020204" pitchFamily="34" charset="0"/>
              </a:rPr>
              <a:t>HD DVD</a:t>
            </a:r>
          </a:p>
        </p:txBody>
      </p:sp>
      <p:sp>
        <p:nvSpPr>
          <p:cNvPr id="1861643" name="Rectangle 11">
            <a:extLst>
              <a:ext uri="{FF2B5EF4-FFF2-40B4-BE49-F238E27FC236}">
                <a16:creationId xmlns:a16="http://schemas.microsoft.com/office/drawing/2014/main" id="{2F1F7B37-0716-5622-9AE8-05C8CA1DA327}"/>
              </a:ext>
            </a:extLst>
          </p:cNvPr>
          <p:cNvSpPr>
            <a:spLocks noChangeArrowheads="1"/>
          </p:cNvSpPr>
          <p:nvPr/>
        </p:nvSpPr>
        <p:spPr bwMode="auto">
          <a:xfrm>
            <a:off x="1600200" y="2362200"/>
            <a:ext cx="2249488" cy="990600"/>
          </a:xfrm>
          <a:prstGeom prst="rect">
            <a:avLst/>
          </a:prstGeom>
          <a:solidFill>
            <a:schemeClr val="bg1"/>
          </a:solidFill>
          <a:ln w="12700">
            <a:solidFill>
              <a:schemeClr val="bg2"/>
            </a:solidFill>
            <a:miter lim="800000"/>
            <a:headEnd/>
            <a:tailEnd/>
          </a:ln>
          <a:effectLst>
            <a:outerShdw dist="35921" dir="2700000" algn="ctr" rotWithShape="0">
              <a:schemeClr val="bg2"/>
            </a:outerShdw>
          </a:effectLst>
        </p:spPr>
        <p:txBody>
          <a:bodyPr lIns="126000" tIns="46800" rIns="126000" bIns="46800"/>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ソニー</a:t>
            </a:r>
          </a:p>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松下電器</a:t>
            </a:r>
          </a:p>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韓国：サムスン電子</a:t>
            </a:r>
          </a:p>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米国：デル		など</a:t>
            </a:r>
          </a:p>
        </p:txBody>
      </p:sp>
      <p:sp>
        <p:nvSpPr>
          <p:cNvPr id="1861644" name="Rectangle 12">
            <a:extLst>
              <a:ext uri="{FF2B5EF4-FFF2-40B4-BE49-F238E27FC236}">
                <a16:creationId xmlns:a16="http://schemas.microsoft.com/office/drawing/2014/main" id="{7829FCA9-7752-B8B2-4E8F-BEB59B92A220}"/>
              </a:ext>
            </a:extLst>
          </p:cNvPr>
          <p:cNvSpPr>
            <a:spLocks noChangeArrowheads="1"/>
          </p:cNvSpPr>
          <p:nvPr/>
        </p:nvSpPr>
        <p:spPr bwMode="auto">
          <a:xfrm>
            <a:off x="3922713" y="2362200"/>
            <a:ext cx="2249487" cy="990600"/>
          </a:xfrm>
          <a:prstGeom prst="rect">
            <a:avLst/>
          </a:prstGeom>
          <a:solidFill>
            <a:schemeClr val="bg1"/>
          </a:solidFill>
          <a:ln w="12700">
            <a:solidFill>
              <a:schemeClr val="bg2"/>
            </a:solidFill>
            <a:miter lim="800000"/>
            <a:headEnd/>
            <a:tailEnd/>
          </a:ln>
          <a:effectLst>
            <a:outerShdw dist="35921" dir="2700000" algn="ctr" rotWithShape="0">
              <a:schemeClr val="bg2"/>
            </a:outerShdw>
          </a:effectLst>
        </p:spPr>
        <p:txBody>
          <a:bodyPr lIns="126000" tIns="46800" rIns="126000" bIns="46800"/>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東芝</a:t>
            </a:r>
          </a:p>
          <a:p>
            <a:pPr>
              <a:lnSpc>
                <a:spcPct val="110000"/>
              </a:lnSpc>
              <a:spcBef>
                <a:spcPct val="10000"/>
              </a:spcBef>
              <a:buFont typeface="Wingdings" panose="05000000000000000000" pitchFamily="2" charset="2"/>
              <a:buNone/>
            </a:pPr>
            <a:r>
              <a:rPr lang="en-US" altLang="ja-JP" sz="1000">
                <a:latin typeface="ＭＳ Ｐゴシック" panose="020B0600070205080204" pitchFamily="50" charset="-128"/>
              </a:rPr>
              <a:t>NEC</a:t>
            </a:r>
          </a:p>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三洋電気		など</a:t>
            </a:r>
          </a:p>
        </p:txBody>
      </p:sp>
      <p:sp>
        <p:nvSpPr>
          <p:cNvPr id="1861645" name="AutoShape 13">
            <a:extLst>
              <a:ext uri="{FF2B5EF4-FFF2-40B4-BE49-F238E27FC236}">
                <a16:creationId xmlns:a16="http://schemas.microsoft.com/office/drawing/2014/main" id="{D36ED0BE-0DBD-773D-802E-5D86B5A2F988}"/>
              </a:ext>
            </a:extLst>
          </p:cNvPr>
          <p:cNvSpPr>
            <a:spLocks noChangeArrowheads="1"/>
          </p:cNvSpPr>
          <p:nvPr/>
        </p:nvSpPr>
        <p:spPr bwMode="auto">
          <a:xfrm>
            <a:off x="609600" y="2362200"/>
            <a:ext cx="914400" cy="989013"/>
          </a:xfrm>
          <a:prstGeom prst="roundRect">
            <a:avLst>
              <a:gd name="adj" fmla="val 16667"/>
            </a:avLst>
          </a:prstGeom>
          <a:solidFill>
            <a:schemeClr val="hlink"/>
          </a:solidFill>
          <a:ln w="9525">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r>
              <a:rPr lang="ja-JP" altLang="en-US" sz="1000">
                <a:solidFill>
                  <a:schemeClr val="tx2"/>
                </a:solidFill>
                <a:latin typeface="ＭＳ Ｐゴシック" panose="020B0600070205080204" pitchFamily="50" charset="-128"/>
              </a:rPr>
              <a:t>推進する</a:t>
            </a:r>
          </a:p>
          <a:p>
            <a:r>
              <a:rPr lang="ja-JP" altLang="en-US" sz="1000">
                <a:solidFill>
                  <a:schemeClr val="tx2"/>
                </a:solidFill>
                <a:latin typeface="ＭＳ Ｐゴシック" panose="020B0600070205080204" pitchFamily="50" charset="-128"/>
              </a:rPr>
              <a:t>主な</a:t>
            </a:r>
          </a:p>
          <a:p>
            <a:r>
              <a:rPr lang="ja-JP" altLang="en-US" sz="1000">
                <a:solidFill>
                  <a:schemeClr val="tx2"/>
                </a:solidFill>
                <a:latin typeface="ＭＳ Ｐゴシック" panose="020B0600070205080204" pitchFamily="50" charset="-128"/>
              </a:rPr>
              <a:t>電機・</a:t>
            </a:r>
            <a:r>
              <a:rPr lang="en-US" altLang="ja-JP" sz="1000">
                <a:solidFill>
                  <a:schemeClr val="tx2"/>
                </a:solidFill>
                <a:latin typeface="ＭＳ Ｐゴシック" panose="020B0600070205080204" pitchFamily="50" charset="-128"/>
              </a:rPr>
              <a:t>IT</a:t>
            </a:r>
            <a:r>
              <a:rPr lang="ja-JP" altLang="en-US" sz="1000">
                <a:solidFill>
                  <a:schemeClr val="tx2"/>
                </a:solidFill>
                <a:latin typeface="ＭＳ Ｐゴシック" panose="020B0600070205080204" pitchFamily="50" charset="-128"/>
              </a:rPr>
              <a:t>会社</a:t>
            </a:r>
          </a:p>
        </p:txBody>
      </p:sp>
      <p:sp>
        <p:nvSpPr>
          <p:cNvPr id="1861646" name="AutoShape 14">
            <a:extLst>
              <a:ext uri="{FF2B5EF4-FFF2-40B4-BE49-F238E27FC236}">
                <a16:creationId xmlns:a16="http://schemas.microsoft.com/office/drawing/2014/main" id="{E4705DFB-D4A5-7CE9-BB05-64A8674E8B61}"/>
              </a:ext>
            </a:extLst>
          </p:cNvPr>
          <p:cNvSpPr>
            <a:spLocks noChangeArrowheads="1"/>
          </p:cNvSpPr>
          <p:nvPr/>
        </p:nvSpPr>
        <p:spPr bwMode="auto">
          <a:xfrm>
            <a:off x="609600" y="1828800"/>
            <a:ext cx="914400" cy="457200"/>
          </a:xfrm>
          <a:prstGeom prst="roundRect">
            <a:avLst>
              <a:gd name="adj" fmla="val 16667"/>
            </a:avLst>
          </a:prstGeom>
          <a:solidFill>
            <a:schemeClr val="hlink"/>
          </a:solidFill>
          <a:ln w="9525">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r>
              <a:rPr lang="ja-JP" altLang="en-US" sz="1000">
                <a:solidFill>
                  <a:schemeClr val="tx2"/>
                </a:solidFill>
                <a:latin typeface="ＭＳ Ｐゴシック" panose="020B0600070205080204" pitchFamily="50" charset="-128"/>
              </a:rPr>
              <a:t>規格名</a:t>
            </a:r>
          </a:p>
        </p:txBody>
      </p:sp>
      <p:sp>
        <p:nvSpPr>
          <p:cNvPr id="1861647" name="Rectangle 15">
            <a:extLst>
              <a:ext uri="{FF2B5EF4-FFF2-40B4-BE49-F238E27FC236}">
                <a16:creationId xmlns:a16="http://schemas.microsoft.com/office/drawing/2014/main" id="{E5960C7A-92AA-13EA-646B-725793B8DF9D}"/>
              </a:ext>
            </a:extLst>
          </p:cNvPr>
          <p:cNvSpPr>
            <a:spLocks noChangeArrowheads="1"/>
          </p:cNvSpPr>
          <p:nvPr/>
        </p:nvSpPr>
        <p:spPr bwMode="auto">
          <a:xfrm>
            <a:off x="1600200" y="3429000"/>
            <a:ext cx="2249488" cy="1143000"/>
          </a:xfrm>
          <a:prstGeom prst="rect">
            <a:avLst/>
          </a:prstGeom>
          <a:solidFill>
            <a:schemeClr val="bg1"/>
          </a:solidFill>
          <a:ln w="12700">
            <a:solidFill>
              <a:schemeClr val="bg2"/>
            </a:solidFill>
            <a:miter lim="800000"/>
            <a:headEnd/>
            <a:tailEnd/>
          </a:ln>
          <a:effectLst>
            <a:outerShdw dist="35921" dir="2700000" algn="ctr" rotWithShape="0">
              <a:schemeClr val="bg2"/>
            </a:outerShdw>
          </a:effectLst>
        </p:spPr>
        <p:txBody>
          <a:bodyPr lIns="54000" tIns="46800" rIns="54000" bIns="46800"/>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ウォルト・ディズニー	（</a:t>
            </a:r>
            <a:r>
              <a:rPr lang="en-US" altLang="ja-JP" sz="1000">
                <a:latin typeface="ＭＳ Ｐゴシック" panose="020B0600070205080204" pitchFamily="50" charset="-128"/>
              </a:rPr>
              <a:t>17.2%</a:t>
            </a:r>
            <a:r>
              <a:rPr lang="ja-JP" altLang="en-US" sz="1000">
                <a:latin typeface="ＭＳ Ｐゴシック" panose="020B0600070205080204" pitchFamily="50" charset="-128"/>
              </a:rPr>
              <a:t>）</a:t>
            </a:r>
          </a:p>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ソニー・ピクチャーズ	（</a:t>
            </a:r>
            <a:r>
              <a:rPr lang="en-US" altLang="ja-JP" sz="1000">
                <a:latin typeface="ＭＳ Ｐゴシック" panose="020B0600070205080204" pitchFamily="50" charset="-128"/>
              </a:rPr>
              <a:t>12.7%</a:t>
            </a:r>
            <a:r>
              <a:rPr lang="ja-JP" altLang="en-US" sz="1000">
                <a:latin typeface="ＭＳ Ｐゴシック" panose="020B0600070205080204" pitchFamily="50" charset="-128"/>
              </a:rPr>
              <a:t>）</a:t>
            </a:r>
          </a:p>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ＭＧＭ		（  </a:t>
            </a:r>
            <a:r>
              <a:rPr lang="en-US" altLang="ja-JP" sz="1000">
                <a:latin typeface="ＭＳ Ｐゴシック" panose="020B0600070205080204" pitchFamily="50" charset="-128"/>
              </a:rPr>
              <a:t>6.1%</a:t>
            </a:r>
            <a:r>
              <a:rPr lang="ja-JP" altLang="en-US" sz="1000">
                <a:latin typeface="ＭＳ Ｐゴシック" panose="020B0600070205080204" pitchFamily="50" charset="-128"/>
              </a:rPr>
              <a:t>）</a:t>
            </a:r>
          </a:p>
          <a:p>
            <a:pPr>
              <a:lnSpc>
                <a:spcPct val="110000"/>
              </a:lnSpc>
              <a:spcBef>
                <a:spcPct val="10000"/>
              </a:spcBef>
              <a:buFont typeface="Wingdings" panose="05000000000000000000" pitchFamily="2" charset="2"/>
              <a:buNone/>
            </a:pPr>
            <a:r>
              <a:rPr lang="en-US" altLang="ja-JP" sz="1000">
                <a:latin typeface="ＭＳ Ｐゴシック" panose="020B0600070205080204" pitchFamily="50" charset="-128"/>
              </a:rPr>
              <a:t>20</a:t>
            </a:r>
            <a:r>
              <a:rPr lang="ja-JP" altLang="en-US" sz="1000">
                <a:latin typeface="ＭＳ Ｐゴシック" panose="020B0600070205080204" pitchFamily="50" charset="-128"/>
              </a:rPr>
              <a:t>世紀フォックス	（</a:t>
            </a:r>
            <a:r>
              <a:rPr lang="en-US" altLang="ja-JP" sz="1000">
                <a:latin typeface="ＭＳ Ｐゴシック" panose="020B0600070205080204" pitchFamily="50" charset="-128"/>
              </a:rPr>
              <a:t>11.3%</a:t>
            </a:r>
            <a:r>
              <a:rPr lang="ja-JP" altLang="en-US" sz="1000">
                <a:latin typeface="ＭＳ Ｐゴシック" panose="020B0600070205080204" pitchFamily="50" charset="-128"/>
              </a:rPr>
              <a:t>）</a:t>
            </a:r>
          </a:p>
          <a:p>
            <a:pPr>
              <a:lnSpc>
                <a:spcPct val="110000"/>
              </a:lnSpc>
              <a:spcBef>
                <a:spcPct val="10000"/>
              </a:spcBef>
              <a:buFont typeface="Wingdings" panose="05000000000000000000" pitchFamily="2" charset="2"/>
              <a:buNone/>
            </a:pPr>
            <a:r>
              <a:rPr lang="en-US" altLang="ja-JP" sz="1000" baseline="30000">
                <a:latin typeface="ＭＳ Ｐゴシック" panose="020B0600070205080204" pitchFamily="50" charset="-128"/>
              </a:rPr>
              <a:t>※</a:t>
            </a:r>
            <a:r>
              <a:rPr lang="ja-JP" altLang="en-US" sz="1000">
                <a:latin typeface="ＭＳ Ｐゴシック" panose="020B0600070205080204" pitchFamily="50" charset="-128"/>
              </a:rPr>
              <a:t>確定ではない</a:t>
            </a:r>
          </a:p>
        </p:txBody>
      </p:sp>
      <p:sp>
        <p:nvSpPr>
          <p:cNvPr id="1861648" name="Rectangle 16">
            <a:extLst>
              <a:ext uri="{FF2B5EF4-FFF2-40B4-BE49-F238E27FC236}">
                <a16:creationId xmlns:a16="http://schemas.microsoft.com/office/drawing/2014/main" id="{DD48728C-753D-911B-205B-0AB7F71EE89C}"/>
              </a:ext>
            </a:extLst>
          </p:cNvPr>
          <p:cNvSpPr>
            <a:spLocks noChangeArrowheads="1"/>
          </p:cNvSpPr>
          <p:nvPr/>
        </p:nvSpPr>
        <p:spPr bwMode="auto">
          <a:xfrm>
            <a:off x="3922713" y="3429000"/>
            <a:ext cx="2249487" cy="1144588"/>
          </a:xfrm>
          <a:prstGeom prst="rect">
            <a:avLst/>
          </a:prstGeom>
          <a:solidFill>
            <a:schemeClr val="bg1"/>
          </a:solidFill>
          <a:ln w="12700">
            <a:solidFill>
              <a:schemeClr val="bg2"/>
            </a:solidFill>
            <a:miter lim="800000"/>
            <a:headEnd/>
            <a:tailEnd/>
          </a:ln>
          <a:effectLst>
            <a:outerShdw dist="35921" dir="2700000" algn="ctr" rotWithShape="0">
              <a:schemeClr val="bg2"/>
            </a:outerShdw>
          </a:effectLst>
        </p:spPr>
        <p:txBody>
          <a:bodyPr lIns="126000" tIns="46800" rIns="126000" bIns="46800"/>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ワーナーブラザーズ	（</a:t>
            </a:r>
            <a:r>
              <a:rPr lang="en-US" altLang="ja-JP" sz="1000">
                <a:latin typeface="ＭＳ Ｐゴシック" panose="020B0600070205080204" pitchFamily="50" charset="-128"/>
              </a:rPr>
              <a:t>23.1%</a:t>
            </a:r>
            <a:r>
              <a:rPr lang="ja-JP" altLang="en-US" sz="1000">
                <a:latin typeface="ＭＳ Ｐゴシック" panose="020B0600070205080204" pitchFamily="50" charset="-128"/>
              </a:rPr>
              <a:t>）</a:t>
            </a:r>
          </a:p>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ユニバーサル・ピクチャーズ</a:t>
            </a:r>
          </a:p>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			（</a:t>
            </a:r>
            <a:r>
              <a:rPr lang="en-US" altLang="ja-JP" sz="1000">
                <a:latin typeface="ＭＳ Ｐゴシック" panose="020B0600070205080204" pitchFamily="50" charset="-128"/>
              </a:rPr>
              <a:t>13.3%</a:t>
            </a:r>
            <a:r>
              <a:rPr lang="ja-JP" altLang="en-US" sz="1000">
                <a:latin typeface="ＭＳ Ｐゴシック" panose="020B0600070205080204" pitchFamily="50" charset="-128"/>
              </a:rPr>
              <a:t>）</a:t>
            </a:r>
          </a:p>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パラマウントピクチャーズ　　　（</a:t>
            </a:r>
            <a:r>
              <a:rPr lang="en-US" altLang="ja-JP" sz="1000">
                <a:latin typeface="ＭＳ Ｐゴシック" panose="020B0600070205080204" pitchFamily="50" charset="-128"/>
              </a:rPr>
              <a:t>8.2%</a:t>
            </a:r>
            <a:r>
              <a:rPr lang="ja-JP" altLang="en-US" sz="1000">
                <a:latin typeface="ＭＳ Ｐゴシック" panose="020B0600070205080204" pitchFamily="50" charset="-128"/>
              </a:rPr>
              <a:t>）</a:t>
            </a:r>
          </a:p>
        </p:txBody>
      </p:sp>
      <p:sp>
        <p:nvSpPr>
          <p:cNvPr id="1861649" name="AutoShape 17">
            <a:extLst>
              <a:ext uri="{FF2B5EF4-FFF2-40B4-BE49-F238E27FC236}">
                <a16:creationId xmlns:a16="http://schemas.microsoft.com/office/drawing/2014/main" id="{EB98941C-567A-B66F-6468-61DE9167B354}"/>
              </a:ext>
            </a:extLst>
          </p:cNvPr>
          <p:cNvSpPr>
            <a:spLocks noChangeArrowheads="1"/>
          </p:cNvSpPr>
          <p:nvPr/>
        </p:nvSpPr>
        <p:spPr bwMode="auto">
          <a:xfrm>
            <a:off x="609600" y="3429000"/>
            <a:ext cx="914400" cy="1144588"/>
          </a:xfrm>
          <a:prstGeom prst="roundRect">
            <a:avLst>
              <a:gd name="adj" fmla="val 16667"/>
            </a:avLst>
          </a:prstGeom>
          <a:solidFill>
            <a:schemeClr val="hlink"/>
          </a:solidFill>
          <a:ln w="9525">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r>
              <a:rPr lang="ja-JP" altLang="en-US" sz="1000">
                <a:solidFill>
                  <a:schemeClr val="tx2"/>
                </a:solidFill>
                <a:latin typeface="ＭＳ Ｐゴシック" panose="020B0600070205080204" pitchFamily="50" charset="-128"/>
              </a:rPr>
              <a:t>賛同する</a:t>
            </a:r>
          </a:p>
          <a:p>
            <a:r>
              <a:rPr lang="ja-JP" altLang="en-US" sz="1000">
                <a:solidFill>
                  <a:schemeClr val="tx2"/>
                </a:solidFill>
                <a:latin typeface="ＭＳ Ｐゴシック" panose="020B0600070205080204" pitchFamily="50" charset="-128"/>
              </a:rPr>
              <a:t>主な</a:t>
            </a:r>
          </a:p>
          <a:p>
            <a:r>
              <a:rPr lang="ja-JP" altLang="en-US" sz="1000">
                <a:solidFill>
                  <a:schemeClr val="tx2"/>
                </a:solidFill>
                <a:latin typeface="ＭＳ Ｐゴシック" panose="020B0600070205080204" pitchFamily="50" charset="-128"/>
              </a:rPr>
              <a:t>映画会社</a:t>
            </a:r>
          </a:p>
          <a:p>
            <a:endParaRPr lang="en-US" altLang="ja-JP" sz="1000">
              <a:solidFill>
                <a:schemeClr val="tx2"/>
              </a:solidFill>
              <a:latin typeface="ＭＳ Ｐゴシック" panose="020B0600070205080204" pitchFamily="50" charset="-128"/>
            </a:endParaRPr>
          </a:p>
        </p:txBody>
      </p:sp>
      <p:sp>
        <p:nvSpPr>
          <p:cNvPr id="1861650" name="Line 18">
            <a:extLst>
              <a:ext uri="{FF2B5EF4-FFF2-40B4-BE49-F238E27FC236}">
                <a16:creationId xmlns:a16="http://schemas.microsoft.com/office/drawing/2014/main" id="{33DDD2E2-AB9B-82F5-C2DF-24C0FF79431D}"/>
              </a:ext>
            </a:extLst>
          </p:cNvPr>
          <p:cNvSpPr>
            <a:spLocks noChangeShapeType="1"/>
          </p:cNvSpPr>
          <p:nvPr/>
        </p:nvSpPr>
        <p:spPr bwMode="auto">
          <a:xfrm>
            <a:off x="3048000" y="4343400"/>
            <a:ext cx="7620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861651" name="Line 19">
            <a:extLst>
              <a:ext uri="{FF2B5EF4-FFF2-40B4-BE49-F238E27FC236}">
                <a16:creationId xmlns:a16="http://schemas.microsoft.com/office/drawing/2014/main" id="{89D65C45-DDEB-8E6C-1235-03132AF4571F}"/>
              </a:ext>
            </a:extLst>
          </p:cNvPr>
          <p:cNvSpPr>
            <a:spLocks noChangeShapeType="1"/>
          </p:cNvSpPr>
          <p:nvPr/>
        </p:nvSpPr>
        <p:spPr bwMode="auto">
          <a:xfrm>
            <a:off x="5410200" y="4343400"/>
            <a:ext cx="7620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861652" name="Rectangle 20">
            <a:extLst>
              <a:ext uri="{FF2B5EF4-FFF2-40B4-BE49-F238E27FC236}">
                <a16:creationId xmlns:a16="http://schemas.microsoft.com/office/drawing/2014/main" id="{8443BCB8-15F6-D2BF-B49F-85B698FC8AE7}"/>
              </a:ext>
            </a:extLst>
          </p:cNvPr>
          <p:cNvSpPr>
            <a:spLocks noChangeArrowheads="1"/>
          </p:cNvSpPr>
          <p:nvPr/>
        </p:nvSpPr>
        <p:spPr bwMode="auto">
          <a:xfrm>
            <a:off x="2971800" y="4343400"/>
            <a:ext cx="9906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（計　</a:t>
            </a:r>
            <a:r>
              <a:rPr lang="en-US" altLang="ja-JP" sz="1000">
                <a:latin typeface="ＭＳ Ｐゴシック" panose="020B0600070205080204" pitchFamily="50" charset="-128"/>
              </a:rPr>
              <a:t>47.3%)</a:t>
            </a:r>
          </a:p>
        </p:txBody>
      </p:sp>
      <p:sp>
        <p:nvSpPr>
          <p:cNvPr id="1861653" name="Rectangle 21">
            <a:extLst>
              <a:ext uri="{FF2B5EF4-FFF2-40B4-BE49-F238E27FC236}">
                <a16:creationId xmlns:a16="http://schemas.microsoft.com/office/drawing/2014/main" id="{F0FDF523-D837-6750-EBAB-3C2F59C37F96}"/>
              </a:ext>
            </a:extLst>
          </p:cNvPr>
          <p:cNvSpPr>
            <a:spLocks noChangeArrowheads="1"/>
          </p:cNvSpPr>
          <p:nvPr/>
        </p:nvSpPr>
        <p:spPr bwMode="auto">
          <a:xfrm>
            <a:off x="5334000" y="4343400"/>
            <a:ext cx="9906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（計　</a:t>
            </a:r>
            <a:r>
              <a:rPr lang="en-US" altLang="ja-JP" sz="1000">
                <a:latin typeface="ＭＳ Ｐゴシック" panose="020B0600070205080204" pitchFamily="50" charset="-128"/>
              </a:rPr>
              <a:t>44.6%</a:t>
            </a:r>
            <a:r>
              <a:rPr lang="ja-JP" altLang="en-US" sz="1000">
                <a:latin typeface="ＭＳ Ｐゴシック" panose="020B0600070205080204" pitchFamily="50" charset="-128"/>
              </a:rPr>
              <a:t>）</a:t>
            </a:r>
          </a:p>
        </p:txBody>
      </p:sp>
      <p:sp>
        <p:nvSpPr>
          <p:cNvPr id="1861654" name="Rectangle 22">
            <a:extLst>
              <a:ext uri="{FF2B5EF4-FFF2-40B4-BE49-F238E27FC236}">
                <a16:creationId xmlns:a16="http://schemas.microsoft.com/office/drawing/2014/main" id="{678B1EC1-D044-36D6-A4C0-8C143B2CD8B9}"/>
              </a:ext>
            </a:extLst>
          </p:cNvPr>
          <p:cNvSpPr>
            <a:spLocks noChangeArrowheads="1"/>
          </p:cNvSpPr>
          <p:nvPr/>
        </p:nvSpPr>
        <p:spPr bwMode="auto">
          <a:xfrm>
            <a:off x="685800" y="4267200"/>
            <a:ext cx="914400" cy="152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（）内はシェア</a:t>
            </a:r>
          </a:p>
        </p:txBody>
      </p:sp>
      <p:sp>
        <p:nvSpPr>
          <p:cNvPr id="1861655" name="Text Box 23">
            <a:extLst>
              <a:ext uri="{FF2B5EF4-FFF2-40B4-BE49-F238E27FC236}">
                <a16:creationId xmlns:a16="http://schemas.microsoft.com/office/drawing/2014/main" id="{516EDACD-D959-7FAD-92C8-DDD7FCB9ADC1}"/>
              </a:ext>
            </a:extLst>
          </p:cNvPr>
          <p:cNvSpPr txBox="1">
            <a:spLocks noChangeArrowheads="1"/>
          </p:cNvSpPr>
          <p:nvPr/>
        </p:nvSpPr>
        <p:spPr bwMode="auto">
          <a:xfrm>
            <a:off x="609600" y="5562600"/>
            <a:ext cx="4267200" cy="2143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46800" rIns="90000" bIns="46800">
            <a:spAutoFit/>
          </a:bodyPr>
          <a:lstStyle/>
          <a:p>
            <a:pPr algn="l">
              <a:spcBef>
                <a:spcPct val="50000"/>
              </a:spcBef>
              <a:buFont typeface="Wingdings" panose="05000000000000000000" pitchFamily="2" charset="2"/>
              <a:buNone/>
            </a:pPr>
            <a:r>
              <a:rPr lang="ja-JP" altLang="en-US" sz="800">
                <a:solidFill>
                  <a:srgbClr val="000000"/>
                </a:solidFill>
                <a:latin typeface="ＭＳ Ｐゴシック" panose="020B0600070205080204" pitchFamily="50" charset="-128"/>
              </a:rPr>
              <a:t>出典：　</a:t>
            </a:r>
            <a:r>
              <a:rPr lang="en-US" altLang="ja-JP" sz="800">
                <a:solidFill>
                  <a:srgbClr val="000000"/>
                </a:solidFill>
                <a:latin typeface="ＭＳ Ｐゴシック" panose="020B0600070205080204" pitchFamily="50" charset="-128"/>
              </a:rPr>
              <a:t>2004</a:t>
            </a:r>
            <a:r>
              <a:rPr lang="ja-JP" altLang="en-US" sz="800">
                <a:solidFill>
                  <a:srgbClr val="000000"/>
                </a:solidFill>
                <a:latin typeface="ＭＳ Ｐゴシック" panose="020B0600070205080204" pitchFamily="50" charset="-128"/>
              </a:rPr>
              <a:t>年</a:t>
            </a:r>
            <a:r>
              <a:rPr lang="en-US" altLang="ja-JP" sz="800">
                <a:solidFill>
                  <a:srgbClr val="000000"/>
                </a:solidFill>
                <a:latin typeface="ＭＳ Ｐゴシック" panose="020B0600070205080204" pitchFamily="50" charset="-128"/>
              </a:rPr>
              <a:t>12</a:t>
            </a:r>
            <a:r>
              <a:rPr lang="ja-JP" altLang="en-US" sz="800">
                <a:solidFill>
                  <a:srgbClr val="000000"/>
                </a:solidFill>
                <a:latin typeface="ＭＳ Ｐゴシック" panose="020B0600070205080204" pitchFamily="50" charset="-128"/>
              </a:rPr>
              <a:t>月</a:t>
            </a:r>
            <a:r>
              <a:rPr lang="en-US" altLang="ja-JP" sz="800">
                <a:solidFill>
                  <a:srgbClr val="000000"/>
                </a:solidFill>
                <a:latin typeface="ＭＳ Ｐゴシック" panose="020B0600070205080204" pitchFamily="50" charset="-128"/>
              </a:rPr>
              <a:t>24</a:t>
            </a:r>
            <a:r>
              <a:rPr lang="ja-JP" altLang="en-US" sz="800">
                <a:solidFill>
                  <a:srgbClr val="000000"/>
                </a:solidFill>
                <a:latin typeface="ＭＳ Ｐゴシック" panose="020B0600070205080204" pitchFamily="50" charset="-128"/>
              </a:rPr>
              <a:t>日付け「日本経済新聞」朝刊をもとに作成</a:t>
            </a:r>
          </a:p>
        </p:txBody>
      </p:sp>
      <p:sp>
        <p:nvSpPr>
          <p:cNvPr id="1861656" name="Rectangle 24">
            <a:extLst>
              <a:ext uri="{FF2B5EF4-FFF2-40B4-BE49-F238E27FC236}">
                <a16:creationId xmlns:a16="http://schemas.microsoft.com/office/drawing/2014/main" id="{E064037B-5420-C5E7-8471-F877DFEF54BC}"/>
              </a:ext>
            </a:extLst>
          </p:cNvPr>
          <p:cNvSpPr>
            <a:spLocks noChangeArrowheads="1"/>
          </p:cNvSpPr>
          <p:nvPr/>
        </p:nvSpPr>
        <p:spPr bwMode="auto">
          <a:xfrm>
            <a:off x="1600200" y="4648200"/>
            <a:ext cx="2249488" cy="381000"/>
          </a:xfrm>
          <a:prstGeom prst="rect">
            <a:avLst/>
          </a:prstGeom>
          <a:solidFill>
            <a:schemeClr val="bg1"/>
          </a:solidFill>
          <a:ln w="12700">
            <a:solidFill>
              <a:schemeClr val="bg2"/>
            </a:solidFill>
            <a:miter lim="800000"/>
            <a:headEnd/>
            <a:tailEnd/>
          </a:ln>
          <a:effectLst>
            <a:outerShdw dist="35921" dir="2700000" algn="ctr" rotWithShape="0">
              <a:schemeClr val="bg2"/>
            </a:outerShdw>
          </a:effectLst>
        </p:spPr>
        <p:txBody>
          <a:bodyPr lIns="54000" tIns="46800" rIns="54000" bIns="46800" anchor="ctr" anchorCtr="1"/>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lnSpc>
                <a:spcPct val="110000"/>
              </a:lnSpc>
              <a:spcBef>
                <a:spcPct val="10000"/>
              </a:spcBef>
              <a:buFont typeface="Wingdings" panose="05000000000000000000" pitchFamily="2" charset="2"/>
              <a:buNone/>
            </a:pPr>
            <a:r>
              <a:rPr lang="en-US" altLang="ja-JP" sz="1000">
                <a:latin typeface="ＭＳ Ｐゴシック" panose="020B0600070205080204" pitchFamily="50" charset="-128"/>
              </a:rPr>
              <a:t>23</a:t>
            </a:r>
            <a:r>
              <a:rPr lang="ja-JP" altLang="en-US" sz="1000">
                <a:latin typeface="ＭＳ Ｐゴシック" panose="020B0600070205080204" pitchFamily="50" charset="-128"/>
              </a:rPr>
              <a:t>～</a:t>
            </a:r>
            <a:r>
              <a:rPr lang="en-US" altLang="ja-JP" sz="1000">
                <a:latin typeface="ＭＳ Ｐゴシック" panose="020B0600070205080204" pitchFamily="50" charset="-128"/>
              </a:rPr>
              <a:t>27</a:t>
            </a:r>
            <a:r>
              <a:rPr lang="ja-JP" altLang="en-US" sz="1000">
                <a:latin typeface="ＭＳ Ｐゴシック" panose="020B0600070205080204" pitchFamily="50" charset="-128"/>
              </a:rPr>
              <a:t>ギガバイト</a:t>
            </a:r>
          </a:p>
        </p:txBody>
      </p:sp>
      <p:sp>
        <p:nvSpPr>
          <p:cNvPr id="1861657" name="Rectangle 25">
            <a:extLst>
              <a:ext uri="{FF2B5EF4-FFF2-40B4-BE49-F238E27FC236}">
                <a16:creationId xmlns:a16="http://schemas.microsoft.com/office/drawing/2014/main" id="{B60F38E0-CA06-3815-ADA7-733D4EFF3C00}"/>
              </a:ext>
            </a:extLst>
          </p:cNvPr>
          <p:cNvSpPr>
            <a:spLocks noChangeArrowheads="1"/>
          </p:cNvSpPr>
          <p:nvPr/>
        </p:nvSpPr>
        <p:spPr bwMode="auto">
          <a:xfrm>
            <a:off x="3922713" y="4648200"/>
            <a:ext cx="2249487" cy="381000"/>
          </a:xfrm>
          <a:prstGeom prst="rect">
            <a:avLst/>
          </a:prstGeom>
          <a:solidFill>
            <a:schemeClr val="bg1"/>
          </a:solidFill>
          <a:ln w="12700">
            <a:solidFill>
              <a:schemeClr val="bg2"/>
            </a:solidFill>
            <a:miter lim="800000"/>
            <a:headEnd/>
            <a:tailEnd/>
          </a:ln>
          <a:effectLst>
            <a:outerShdw dist="35921" dir="2700000" algn="ctr" rotWithShape="0">
              <a:schemeClr val="bg2"/>
            </a:outerShdw>
          </a:effectLst>
        </p:spPr>
        <p:txBody>
          <a:bodyPr lIns="54000" tIns="46800" rIns="54000" bIns="46800" anchor="ctr" anchorCtr="1"/>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lnSpc>
                <a:spcPct val="110000"/>
              </a:lnSpc>
              <a:spcBef>
                <a:spcPct val="10000"/>
              </a:spcBef>
              <a:buFont typeface="Wingdings" panose="05000000000000000000" pitchFamily="2" charset="2"/>
              <a:buNone/>
            </a:pPr>
            <a:r>
              <a:rPr lang="en-US" altLang="ja-JP" sz="1000">
                <a:latin typeface="ＭＳ Ｐゴシック" panose="020B0600070205080204" pitchFamily="50" charset="-128"/>
              </a:rPr>
              <a:t>15</a:t>
            </a:r>
            <a:r>
              <a:rPr lang="ja-JP" altLang="en-US" sz="1000">
                <a:latin typeface="ＭＳ Ｐゴシック" panose="020B0600070205080204" pitchFamily="50" charset="-128"/>
              </a:rPr>
              <a:t>～</a:t>
            </a:r>
            <a:r>
              <a:rPr lang="en-US" altLang="ja-JP" sz="1000">
                <a:latin typeface="ＭＳ Ｐゴシック" panose="020B0600070205080204" pitchFamily="50" charset="-128"/>
              </a:rPr>
              <a:t>20</a:t>
            </a:r>
            <a:r>
              <a:rPr lang="ja-JP" altLang="en-US" sz="1000">
                <a:latin typeface="ＭＳ Ｐゴシック" panose="020B0600070205080204" pitchFamily="50" charset="-128"/>
              </a:rPr>
              <a:t>ギガバイト</a:t>
            </a:r>
          </a:p>
        </p:txBody>
      </p:sp>
      <p:sp>
        <p:nvSpPr>
          <p:cNvPr id="1861658" name="AutoShape 26">
            <a:extLst>
              <a:ext uri="{FF2B5EF4-FFF2-40B4-BE49-F238E27FC236}">
                <a16:creationId xmlns:a16="http://schemas.microsoft.com/office/drawing/2014/main" id="{08C01FEF-2217-6657-2330-13D997D0723A}"/>
              </a:ext>
            </a:extLst>
          </p:cNvPr>
          <p:cNvSpPr>
            <a:spLocks noChangeArrowheads="1"/>
          </p:cNvSpPr>
          <p:nvPr/>
        </p:nvSpPr>
        <p:spPr bwMode="auto">
          <a:xfrm>
            <a:off x="609600" y="4648200"/>
            <a:ext cx="914400" cy="379413"/>
          </a:xfrm>
          <a:prstGeom prst="roundRect">
            <a:avLst>
              <a:gd name="adj" fmla="val 16667"/>
            </a:avLst>
          </a:prstGeom>
          <a:solidFill>
            <a:schemeClr val="hlink"/>
          </a:solidFill>
          <a:ln w="9525">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r>
              <a:rPr lang="ja-JP" altLang="en-US" sz="1000">
                <a:solidFill>
                  <a:schemeClr val="tx2"/>
                </a:solidFill>
                <a:latin typeface="ＭＳ Ｐゴシック" panose="020B0600070205080204" pitchFamily="50" charset="-128"/>
              </a:rPr>
              <a:t>ディスク</a:t>
            </a:r>
          </a:p>
          <a:p>
            <a:r>
              <a:rPr lang="ja-JP" altLang="en-US" sz="1000">
                <a:solidFill>
                  <a:schemeClr val="tx2"/>
                </a:solidFill>
                <a:latin typeface="ＭＳ Ｐゴシック" panose="020B0600070205080204" pitchFamily="50" charset="-128"/>
              </a:rPr>
              <a:t>記録容量</a:t>
            </a:r>
          </a:p>
        </p:txBody>
      </p:sp>
      <p:sp>
        <p:nvSpPr>
          <p:cNvPr id="1861659" name="Rectangle 27">
            <a:extLst>
              <a:ext uri="{FF2B5EF4-FFF2-40B4-BE49-F238E27FC236}">
                <a16:creationId xmlns:a16="http://schemas.microsoft.com/office/drawing/2014/main" id="{41511389-BCA9-7735-D5E4-D1CB7403586F}"/>
              </a:ext>
            </a:extLst>
          </p:cNvPr>
          <p:cNvSpPr>
            <a:spLocks noChangeArrowheads="1"/>
          </p:cNvSpPr>
          <p:nvPr/>
        </p:nvSpPr>
        <p:spPr bwMode="auto">
          <a:xfrm>
            <a:off x="1600200" y="5105400"/>
            <a:ext cx="2249488" cy="381000"/>
          </a:xfrm>
          <a:prstGeom prst="rect">
            <a:avLst/>
          </a:prstGeom>
          <a:solidFill>
            <a:schemeClr val="bg1"/>
          </a:solidFill>
          <a:ln w="12700">
            <a:solidFill>
              <a:schemeClr val="bg2"/>
            </a:solidFill>
            <a:miter lim="800000"/>
            <a:headEnd/>
            <a:tailEnd/>
          </a:ln>
          <a:effectLst>
            <a:outerShdw dist="35921" dir="2700000" algn="ctr" rotWithShape="0">
              <a:schemeClr val="bg2"/>
            </a:outerShdw>
          </a:effectLst>
        </p:spPr>
        <p:txBody>
          <a:bodyPr lIns="54000" tIns="46800" rIns="54000" bIns="46800" anchor="ctr" anchorCtr="1"/>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大容量</a:t>
            </a:r>
          </a:p>
        </p:txBody>
      </p:sp>
      <p:sp>
        <p:nvSpPr>
          <p:cNvPr id="1861660" name="Rectangle 28">
            <a:extLst>
              <a:ext uri="{FF2B5EF4-FFF2-40B4-BE49-F238E27FC236}">
                <a16:creationId xmlns:a16="http://schemas.microsoft.com/office/drawing/2014/main" id="{04ADC5D1-DA41-D94C-EDD1-9C087364FFCD}"/>
              </a:ext>
            </a:extLst>
          </p:cNvPr>
          <p:cNvSpPr>
            <a:spLocks noChangeArrowheads="1"/>
          </p:cNvSpPr>
          <p:nvPr/>
        </p:nvSpPr>
        <p:spPr bwMode="auto">
          <a:xfrm>
            <a:off x="3922713" y="5105400"/>
            <a:ext cx="2249487" cy="381000"/>
          </a:xfrm>
          <a:prstGeom prst="rect">
            <a:avLst/>
          </a:prstGeom>
          <a:solidFill>
            <a:schemeClr val="bg1"/>
          </a:solidFill>
          <a:ln w="12700">
            <a:solidFill>
              <a:schemeClr val="bg2"/>
            </a:solidFill>
            <a:miter lim="800000"/>
            <a:headEnd/>
            <a:tailEnd/>
          </a:ln>
          <a:effectLst>
            <a:outerShdw dist="35921" dir="2700000" algn="ctr" rotWithShape="0">
              <a:schemeClr val="bg2"/>
            </a:outerShdw>
          </a:effectLst>
        </p:spPr>
        <p:txBody>
          <a:bodyPr lIns="54000" tIns="46800" rIns="54000" bIns="46800" anchor="ctr" anchorCtr="1"/>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生産コストが安価</a:t>
            </a:r>
          </a:p>
          <a:p>
            <a:pPr algn="ctr">
              <a:lnSpc>
                <a:spcPct val="110000"/>
              </a:lnSpc>
              <a:spcBef>
                <a:spcPct val="10000"/>
              </a:spcBef>
              <a:buFont typeface="Wingdings" panose="05000000000000000000" pitchFamily="2" charset="2"/>
              <a:buNone/>
            </a:pPr>
            <a:r>
              <a:rPr lang="ja-JP" altLang="en-US" sz="1000">
                <a:latin typeface="ＭＳ Ｐゴシック" panose="020B0600070205080204" pitchFamily="50" charset="-128"/>
              </a:rPr>
              <a:t>（既存生産設備での生産が可能なため）</a:t>
            </a:r>
          </a:p>
        </p:txBody>
      </p:sp>
      <p:sp>
        <p:nvSpPr>
          <p:cNvPr id="1861661" name="AutoShape 29">
            <a:extLst>
              <a:ext uri="{FF2B5EF4-FFF2-40B4-BE49-F238E27FC236}">
                <a16:creationId xmlns:a16="http://schemas.microsoft.com/office/drawing/2014/main" id="{FC133425-B104-E45E-2273-DAEDF5BC42E6}"/>
              </a:ext>
            </a:extLst>
          </p:cNvPr>
          <p:cNvSpPr>
            <a:spLocks noChangeArrowheads="1"/>
          </p:cNvSpPr>
          <p:nvPr/>
        </p:nvSpPr>
        <p:spPr bwMode="auto">
          <a:xfrm>
            <a:off x="609600" y="5105400"/>
            <a:ext cx="914400" cy="379413"/>
          </a:xfrm>
          <a:prstGeom prst="roundRect">
            <a:avLst>
              <a:gd name="adj" fmla="val 16667"/>
            </a:avLst>
          </a:prstGeom>
          <a:solidFill>
            <a:schemeClr val="hlink"/>
          </a:solidFill>
          <a:ln w="9525">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r>
              <a:rPr lang="ja-JP" altLang="en-US" sz="1000">
                <a:solidFill>
                  <a:schemeClr val="tx2"/>
                </a:solidFill>
                <a:latin typeface="ＭＳ Ｐゴシック" panose="020B0600070205080204" pitchFamily="50" charset="-128"/>
              </a:rPr>
              <a:t>特徴</a:t>
            </a:r>
          </a:p>
        </p:txBody>
      </p:sp>
      <p:sp>
        <p:nvSpPr>
          <p:cNvPr id="1861663" name="Line 31">
            <a:extLst>
              <a:ext uri="{FF2B5EF4-FFF2-40B4-BE49-F238E27FC236}">
                <a16:creationId xmlns:a16="http://schemas.microsoft.com/office/drawing/2014/main" id="{BF75EC0B-612E-912E-8D25-F73CAB3643A5}"/>
              </a:ext>
            </a:extLst>
          </p:cNvPr>
          <p:cNvSpPr>
            <a:spLocks noChangeShapeType="1"/>
          </p:cNvSpPr>
          <p:nvPr/>
        </p:nvSpPr>
        <p:spPr bwMode="auto">
          <a:xfrm>
            <a:off x="914400" y="6172200"/>
            <a:ext cx="1588" cy="3505200"/>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61664" name="Rectangle 32">
            <a:extLst>
              <a:ext uri="{FF2B5EF4-FFF2-40B4-BE49-F238E27FC236}">
                <a16:creationId xmlns:a16="http://schemas.microsoft.com/office/drawing/2014/main" id="{176EC613-26B1-53A7-572E-FF10EB569281}"/>
              </a:ext>
            </a:extLst>
          </p:cNvPr>
          <p:cNvSpPr>
            <a:spLocks noChangeArrowheads="1"/>
          </p:cNvSpPr>
          <p:nvPr/>
        </p:nvSpPr>
        <p:spPr bwMode="auto">
          <a:xfrm>
            <a:off x="914400" y="6118225"/>
            <a:ext cx="5410200" cy="3406775"/>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114300"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buFont typeface="Wingdings" panose="05000000000000000000" pitchFamily="2" charset="2"/>
              <a:buNone/>
            </a:pPr>
            <a:r>
              <a:rPr lang="ja-JP" altLang="en-US" sz="1200">
                <a:latin typeface="ＭＳ Ｐゴシック" panose="020B0600070205080204" pitchFamily="50" charset="-128"/>
              </a:rPr>
              <a:t>＜まとめ＞</a:t>
            </a:r>
          </a:p>
          <a:p>
            <a:pPr>
              <a:lnSpc>
                <a:spcPct val="120000"/>
              </a:lnSpc>
              <a:buFont typeface="Wingdings" panose="05000000000000000000" pitchFamily="2" charset="2"/>
              <a:buChar char="ü"/>
            </a:pPr>
            <a:endParaRPr lang="ja-JP" altLang="en-US" sz="1200">
              <a:latin typeface="ＭＳ Ｐゴシック" panose="020B0600070205080204" pitchFamily="50" charset="-128"/>
            </a:endParaRPr>
          </a:p>
          <a:p>
            <a:pPr>
              <a:lnSpc>
                <a:spcPct val="120000"/>
              </a:lnSpc>
              <a:buFont typeface="Wingdings" panose="05000000000000000000" pitchFamily="2" charset="2"/>
              <a:buChar char="ü"/>
            </a:pPr>
            <a:r>
              <a:rPr lang="ja-JP" altLang="en-US" sz="1200">
                <a:latin typeface="ＭＳ Ｐゴシック" panose="020B0600070205080204" pitchFamily="50" charset="-128"/>
              </a:rPr>
              <a:t>設備投資計画について経済性評価の実施状況は必ずしも高くないうえ、用いられている方法も「回収期間法」が中心であり、将来キャッシュフローについて現在価値の考え方を反映した「正味現在価値法」や「内部利益率法」の採用度は低いのが現状です。</a:t>
            </a:r>
          </a:p>
          <a:p>
            <a:pPr>
              <a:lnSpc>
                <a:spcPct val="120000"/>
              </a:lnSpc>
              <a:buFont typeface="Wingdings" panose="05000000000000000000" pitchFamily="2" charset="2"/>
              <a:buChar char="ü"/>
            </a:pPr>
            <a:endParaRPr lang="ja-JP" altLang="en-US" sz="1200">
              <a:latin typeface="ＭＳ Ｐゴシック" panose="020B0600070205080204" pitchFamily="50" charset="-128"/>
            </a:endParaRPr>
          </a:p>
          <a:p>
            <a:pPr>
              <a:lnSpc>
                <a:spcPct val="120000"/>
              </a:lnSpc>
              <a:buFont typeface="Wingdings" panose="05000000000000000000" pitchFamily="2" charset="2"/>
              <a:buChar char="ü"/>
            </a:pPr>
            <a:r>
              <a:rPr lang="ja-JP" altLang="en-US" sz="1200">
                <a:latin typeface="ＭＳ Ｐゴシック" panose="020B0600070205080204" pitchFamily="50" charset="-128"/>
              </a:rPr>
              <a:t>上記の理由として将来キャッシュフローの予測についての困難さが理由と考えられますが、予測による採算性評価は必要であり、財務管理サービス人材の　支援によって推進することが望まれます。</a:t>
            </a:r>
          </a:p>
          <a:p>
            <a:pPr>
              <a:lnSpc>
                <a:spcPct val="120000"/>
              </a:lnSpc>
              <a:buFont typeface="Wingdings" panose="05000000000000000000" pitchFamily="2" charset="2"/>
              <a:buChar char="ü"/>
            </a:pPr>
            <a:endParaRPr lang="ja-JP" altLang="en-US" sz="1200">
              <a:latin typeface="ＭＳ Ｐゴシック" panose="020B0600070205080204" pitchFamily="50" charset="-128"/>
            </a:endParaRPr>
          </a:p>
          <a:p>
            <a:pPr>
              <a:lnSpc>
                <a:spcPct val="120000"/>
              </a:lnSpc>
              <a:buFont typeface="Wingdings" panose="05000000000000000000" pitchFamily="2" charset="2"/>
              <a:buChar char="ü"/>
            </a:pPr>
            <a:r>
              <a:rPr lang="ja-JP" altLang="en-US" sz="1200">
                <a:latin typeface="ＭＳ Ｐゴシック" panose="020B0600070205080204" pitchFamily="50" charset="-128"/>
              </a:rPr>
              <a:t>技術革新が激しく製品の多様化・製品寿命の短命化が起こっている現在、投資に関する判断では見込み収入金額に加え、</a:t>
            </a:r>
            <a:r>
              <a:rPr kumimoji="0" lang="ja-JP" altLang="en-US" sz="1200">
                <a:latin typeface="ＭＳ Ｐゴシック" panose="020B0600070205080204" pitchFamily="50" charset="-128"/>
              </a:rPr>
              <a:t>その投資の対象が長期的な活用に耐え得るものであるか、他の製品向けに転用可能性があるか、</a:t>
            </a:r>
            <a:r>
              <a:rPr lang="ja-JP" altLang="en-US" sz="1200">
                <a:latin typeface="ＭＳ Ｐゴシック" panose="020B0600070205080204" pitchFamily="50" charset="-128"/>
              </a:rPr>
              <a:t> といった設備投資の「用途」のような定性面も含めて考えることが有効です。</a:t>
            </a:r>
          </a:p>
        </p:txBody>
      </p:sp>
      <p:grpSp>
        <p:nvGrpSpPr>
          <p:cNvPr id="1861665" name="Group 33">
            <a:extLst>
              <a:ext uri="{FF2B5EF4-FFF2-40B4-BE49-F238E27FC236}">
                <a16:creationId xmlns:a16="http://schemas.microsoft.com/office/drawing/2014/main" id="{CFE648E8-1671-EBD4-D2D1-697B28502DE2}"/>
              </a:ext>
            </a:extLst>
          </p:cNvPr>
          <p:cNvGrpSpPr>
            <a:grpSpLocks/>
          </p:cNvGrpSpPr>
          <p:nvPr/>
        </p:nvGrpSpPr>
        <p:grpSpPr bwMode="auto">
          <a:xfrm>
            <a:off x="5156200" y="0"/>
            <a:ext cx="1549400" cy="228600"/>
            <a:chOff x="2928" y="-48"/>
            <a:chExt cx="1392" cy="192"/>
          </a:xfrm>
        </p:grpSpPr>
        <p:sp>
          <p:nvSpPr>
            <p:cNvPr id="1861666" name="Line 34">
              <a:extLst>
                <a:ext uri="{FF2B5EF4-FFF2-40B4-BE49-F238E27FC236}">
                  <a16:creationId xmlns:a16="http://schemas.microsoft.com/office/drawing/2014/main" id="{A6331B83-DAF8-EEBA-2AA4-9142A948E6F7}"/>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861667" name="Rectangle 35">
              <a:extLst>
                <a:ext uri="{FF2B5EF4-FFF2-40B4-BE49-F238E27FC236}">
                  <a16:creationId xmlns:a16="http://schemas.microsoft.com/office/drawing/2014/main" id="{E1ACDA80-81AB-20A2-14BA-02A9AD492D4F}"/>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ＭＳ Ｐゴシック" panose="020B0600070205080204" pitchFamily="50" charset="-128"/>
                </a:rPr>
                <a:t>Ⅱ</a:t>
              </a:r>
              <a:r>
                <a:rPr lang="ja-JP" altLang="en-US" sz="1000">
                  <a:latin typeface="ＭＳ Ｐゴシック" panose="020B0600070205080204" pitchFamily="50" charset="-128"/>
                </a:rPr>
                <a:t>　財務上の問題分析</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3797" name="Oval 5">
            <a:extLst>
              <a:ext uri="{FF2B5EF4-FFF2-40B4-BE49-F238E27FC236}">
                <a16:creationId xmlns:a16="http://schemas.microsoft.com/office/drawing/2014/main" id="{D6865CEE-DA68-7924-0E5A-61F6F3628F8B}"/>
              </a:ext>
            </a:extLst>
          </p:cNvPr>
          <p:cNvSpPr>
            <a:spLocks noChangeArrowheads="1"/>
          </p:cNvSpPr>
          <p:nvPr/>
        </p:nvSpPr>
        <p:spPr bwMode="auto">
          <a:xfrm>
            <a:off x="533400" y="914400"/>
            <a:ext cx="381000" cy="381000"/>
          </a:xfrm>
          <a:prstGeom prst="ellipse">
            <a:avLst/>
          </a:prstGeom>
          <a:gradFill rotWithShape="0">
            <a:gsLst>
              <a:gs pos="0">
                <a:srgbClr val="333333"/>
              </a:gs>
              <a:gs pos="100000">
                <a:schemeClr val="folHlink"/>
              </a:gs>
            </a:gsLst>
            <a:lin ang="2700000" scaled="1"/>
          </a:gradFill>
          <a:ln>
            <a:noFill/>
          </a:ln>
          <a:effectLst/>
          <a:extLst>
            <a:ext uri="{91240B29-F687-4F45-9708-019B960494DF}">
              <a14:hiddenLine xmlns:a14="http://schemas.microsoft.com/office/drawing/2010/main" w="3175">
                <a:solidFill>
                  <a:srgbClr val="99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b="1">
                <a:solidFill>
                  <a:schemeClr val="bg1"/>
                </a:solidFill>
                <a:latin typeface="Arial" panose="020B0604020202020204" pitchFamily="34" charset="0"/>
              </a:rPr>
              <a:t>1</a:t>
            </a:r>
          </a:p>
        </p:txBody>
      </p:sp>
      <p:sp>
        <p:nvSpPr>
          <p:cNvPr id="1953798" name="Rectangle 6">
            <a:extLst>
              <a:ext uri="{FF2B5EF4-FFF2-40B4-BE49-F238E27FC236}">
                <a16:creationId xmlns:a16="http://schemas.microsoft.com/office/drawing/2014/main" id="{DDA5E521-D564-88D7-BE2D-25A9745F04A5}"/>
              </a:ext>
            </a:extLst>
          </p:cNvPr>
          <p:cNvSpPr>
            <a:spLocks noChangeArrowheads="1"/>
          </p:cNvSpPr>
          <p:nvPr/>
        </p:nvSpPr>
        <p:spPr bwMode="auto">
          <a:xfrm>
            <a:off x="762000" y="9906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400" b="1"/>
              <a:t>マーケティングの考え方</a:t>
            </a:r>
          </a:p>
        </p:txBody>
      </p:sp>
      <p:sp>
        <p:nvSpPr>
          <p:cNvPr id="1953799" name="Line 7">
            <a:extLst>
              <a:ext uri="{FF2B5EF4-FFF2-40B4-BE49-F238E27FC236}">
                <a16:creationId xmlns:a16="http://schemas.microsoft.com/office/drawing/2014/main" id="{C0B48C58-8B3D-3402-7CF0-87FB7C26DFFD}"/>
              </a:ext>
            </a:extLst>
          </p:cNvPr>
          <p:cNvSpPr>
            <a:spLocks noChangeShapeType="1"/>
          </p:cNvSpPr>
          <p:nvPr/>
        </p:nvSpPr>
        <p:spPr bwMode="auto">
          <a:xfrm>
            <a:off x="914400" y="1371600"/>
            <a:ext cx="1588" cy="533400"/>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53800" name="Rectangle 8">
            <a:extLst>
              <a:ext uri="{FF2B5EF4-FFF2-40B4-BE49-F238E27FC236}">
                <a16:creationId xmlns:a16="http://schemas.microsoft.com/office/drawing/2014/main" id="{E27BA451-52EF-6381-550D-1C2D852ACF78}"/>
              </a:ext>
            </a:extLst>
          </p:cNvPr>
          <p:cNvSpPr>
            <a:spLocks noChangeArrowheads="1"/>
          </p:cNvSpPr>
          <p:nvPr/>
        </p:nvSpPr>
        <p:spPr bwMode="auto">
          <a:xfrm>
            <a:off x="533400" y="19812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マーケティング思考の必要性</a:t>
            </a:r>
          </a:p>
        </p:txBody>
      </p:sp>
      <p:sp>
        <p:nvSpPr>
          <p:cNvPr id="1953801" name="Line 9">
            <a:extLst>
              <a:ext uri="{FF2B5EF4-FFF2-40B4-BE49-F238E27FC236}">
                <a16:creationId xmlns:a16="http://schemas.microsoft.com/office/drawing/2014/main" id="{92CE983F-BDB1-C026-0F9F-D0C7D37C923A}"/>
              </a:ext>
            </a:extLst>
          </p:cNvPr>
          <p:cNvSpPr>
            <a:spLocks noChangeShapeType="1"/>
          </p:cNvSpPr>
          <p:nvPr/>
        </p:nvSpPr>
        <p:spPr bwMode="auto">
          <a:xfrm>
            <a:off x="533400" y="22860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53802" name="Rectangle 10">
            <a:extLst>
              <a:ext uri="{FF2B5EF4-FFF2-40B4-BE49-F238E27FC236}">
                <a16:creationId xmlns:a16="http://schemas.microsoft.com/office/drawing/2014/main" id="{709DB1AA-A682-E394-AFE1-FE4E6720F282}"/>
              </a:ext>
            </a:extLst>
          </p:cNvPr>
          <p:cNvSpPr>
            <a:spLocks noChangeArrowheads="1"/>
          </p:cNvSpPr>
          <p:nvPr/>
        </p:nvSpPr>
        <p:spPr bwMode="auto">
          <a:xfrm>
            <a:off x="914400" y="2286000"/>
            <a:ext cx="5410200" cy="52578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292100" indent="-101600"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kumimoji="0" lang="ja-JP" altLang="en-US" sz="1000">
                <a:latin typeface="ＭＳ Ｐ明朝" panose="02020600040205080304" pitchFamily="18" charset="-128"/>
                <a:ea typeface="ＭＳ Ｐ明朝" panose="02020600040205080304" pitchFamily="18" charset="-128"/>
              </a:rPr>
              <a:t>企業の損益計算書では売上高が最初の行に位置しており、そこから各種費用を引いて利益に到達するというのが基本的な構造になっています。しかしながら、実際の企業活動では売上をあげる迄に様々な努力が行われているのです。この意味では、損益計算書を読む会計専門家の側は売上から出発してどれだけ費用がかかっているかという見方をするのに対して、企業の現場では各種の原価や販売費をかけたうえで売上が到達点となるという言い方もできるので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（注）もちろん、これは「そうも言える」という話であり、企業実務でも売上に見合う範囲で費用を抑える</a:t>
            </a:r>
          </a:p>
          <a:p>
            <a:pPr>
              <a:lnSpc>
                <a:spcPct val="120000"/>
              </a:lnSpc>
            </a:pPr>
            <a:r>
              <a:rPr kumimoji="0" lang="ja-JP" altLang="en-US" sz="1000">
                <a:latin typeface="ＭＳ Ｐ明朝" panose="02020600040205080304" pitchFamily="18" charset="-128"/>
                <a:ea typeface="ＭＳ Ｐ明朝" panose="02020600040205080304" pitchFamily="18" charset="-128"/>
              </a:rPr>
              <a:t>　　努力は当然為されていますし、また販売後もアフターサービス活動が行われています。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また損益構造分析などの結果として目標売上高が算出されても、その売上高を実現するためにどのような価格戦略を取るかということが問題になります。つまり、高価格で顧客を絞るか、低価格で多くの顧客を狙うかということです。単に顧客が来ないからと行き当たりばったりで価格を下げても、大概はうまく行きません。ターゲットとする顧客層に関して顧客満足度と採算性を緻密に計算したうえでの価格設定が必要であり、こうしたところでマーケティングの考え方が有用で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そのような仕事は企業の側の問題であり、別に財務管理サービス人材が企業の取引相手を決めるわけではないというのは確かにその通りです。しかしながら、やはり財務管理サービス人材の側でもある程度のマーケティング関連の知識をもっておくことが、企業の提示する経営計画の背後にある　前提について的確な質問や評価ができるようになる等、結局は財務に関してもより高度なアドバイスができることとなります。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更に、マーケティングの視点が抜けたアドバイスは、コスト削減策に偏する可能性もあります。コスト削減は企業努力として当然行うべきことですが、現実の企業経営ではコスト削減と売上拡大の両方で施策を検討することが求められます。またコスト削減についても、削減が招く顧客満足度への影響について検討しないと判断を誤ることがありえます。</a:t>
            </a:r>
          </a:p>
          <a:p>
            <a:pPr>
              <a:lnSpc>
                <a:spcPct val="120000"/>
              </a:lnSpc>
            </a:pPr>
            <a:endParaRPr kumimoji="0" lang="ja-JP" altLang="en-US" sz="1000">
              <a:latin typeface="ＭＳ Ｐ明朝" panose="02020600040205080304" pitchFamily="18" charset="-128"/>
              <a:ea typeface="ＭＳ Ｐ明朝" panose="02020600040205080304" pitchFamily="18" charset="-128"/>
            </a:endParaRPr>
          </a:p>
          <a:p>
            <a:pPr>
              <a:lnSpc>
                <a:spcPct val="120000"/>
              </a:lnSpc>
            </a:pPr>
            <a:r>
              <a:rPr kumimoji="0" lang="ja-JP" altLang="en-US" sz="1000">
                <a:latin typeface="ＭＳ Ｐ明朝" panose="02020600040205080304" pitchFamily="18" charset="-128"/>
                <a:ea typeface="ＭＳ Ｐ明朝" panose="02020600040205080304" pitchFamily="18" charset="-128"/>
              </a:rPr>
              <a:t>こうした意味で、財務管理サービス人材にとってもマーケティングの基本知識を持つことは、企業に対してより良いアドバイスにつながります（図表</a:t>
            </a:r>
            <a:r>
              <a:rPr kumimoji="0" lang="en-US" altLang="ja-JP" sz="1000">
                <a:latin typeface="ＭＳ Ｐ明朝" panose="02020600040205080304" pitchFamily="18" charset="-128"/>
                <a:ea typeface="ＭＳ Ｐ明朝" panose="02020600040205080304" pitchFamily="18" charset="-128"/>
              </a:rPr>
              <a:t>3-1-1</a:t>
            </a:r>
            <a:r>
              <a:rPr kumimoji="0" lang="ja-JP" altLang="en-US" sz="1000">
                <a:latin typeface="ＭＳ Ｐ明朝" panose="02020600040205080304" pitchFamily="18" charset="-128"/>
                <a:ea typeface="ＭＳ Ｐ明朝" panose="02020600040205080304" pitchFamily="18" charset="-128"/>
              </a:rPr>
              <a:t>参照）。</a:t>
            </a:r>
          </a:p>
        </p:txBody>
      </p:sp>
      <p:sp>
        <p:nvSpPr>
          <p:cNvPr id="1953803" name="Rectangle 11">
            <a:extLst>
              <a:ext uri="{FF2B5EF4-FFF2-40B4-BE49-F238E27FC236}">
                <a16:creationId xmlns:a16="http://schemas.microsoft.com/office/drawing/2014/main" id="{A218CD12-0DE7-B1B9-309A-9CCC7C3B8245}"/>
              </a:ext>
            </a:extLst>
          </p:cNvPr>
          <p:cNvSpPr>
            <a:spLocks noChangeArrowheads="1"/>
          </p:cNvSpPr>
          <p:nvPr/>
        </p:nvSpPr>
        <p:spPr bwMode="auto">
          <a:xfrm>
            <a:off x="914400" y="1295400"/>
            <a:ext cx="5410200" cy="68580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defTabSz="292100">
              <a:defRPr kumimoji="1" sz="2400">
                <a:solidFill>
                  <a:schemeClr val="tx1"/>
                </a:solidFill>
                <a:latin typeface="Times New Roman" panose="02020603050405020304" pitchFamily="18" charset="0"/>
                <a:ea typeface="ＭＳ Ｐゴシック" panose="020B0600070205080204" pitchFamily="50" charset="-128"/>
              </a:defRPr>
            </a:lvl1pPr>
            <a:lvl2pPr algn="l" defTabSz="292100">
              <a:defRPr kumimoji="1" sz="2400">
                <a:solidFill>
                  <a:schemeClr val="tx1"/>
                </a:solidFill>
                <a:latin typeface="Times New Roman" panose="02020603050405020304" pitchFamily="18" charset="0"/>
                <a:ea typeface="ＭＳ Ｐゴシック" panose="020B0600070205080204" pitchFamily="50" charset="-128"/>
              </a:defRPr>
            </a:lvl2pPr>
            <a:lvl3pPr algn="l" defTabSz="292100">
              <a:defRPr kumimoji="1" sz="2400">
                <a:solidFill>
                  <a:schemeClr val="tx1"/>
                </a:solidFill>
                <a:latin typeface="Times New Roman" panose="02020603050405020304" pitchFamily="18" charset="0"/>
                <a:ea typeface="ＭＳ Ｐゴシック" panose="020B0600070205080204" pitchFamily="50" charset="-128"/>
              </a:defRPr>
            </a:lvl3pPr>
            <a:lvl4pPr algn="l" defTabSz="292100">
              <a:defRPr kumimoji="1" sz="2400">
                <a:solidFill>
                  <a:schemeClr val="tx1"/>
                </a:solidFill>
                <a:latin typeface="Times New Roman" panose="02020603050405020304" pitchFamily="18" charset="0"/>
                <a:ea typeface="ＭＳ Ｐゴシック" panose="020B0600070205080204" pitchFamily="50" charset="-128"/>
              </a:defRPr>
            </a:lvl4pPr>
            <a:lvl5pPr algn="l" defTabSz="292100">
              <a:defRPr kumimoji="1" sz="2400">
                <a:solidFill>
                  <a:schemeClr val="tx1"/>
                </a:solidFill>
                <a:latin typeface="Times New Roman" panose="02020603050405020304" pitchFamily="18" charset="0"/>
                <a:ea typeface="ＭＳ Ｐゴシック" panose="020B0600070205080204" pitchFamily="50" charset="-128"/>
              </a:defRPr>
            </a:lvl5pPr>
            <a:lvl6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defTabSz="2921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200">
                <a:latin typeface="ＭＳ Ｐゴシック" panose="020B0600070205080204" pitchFamily="50" charset="-128"/>
              </a:rPr>
              <a:t>「マーケティング」の重要性を説明し、財務管理サービス人材が踏まえておくべき、マーケティングの全体像とマーケティングプロセスの概要について説明します。</a:t>
            </a:r>
          </a:p>
        </p:txBody>
      </p:sp>
      <p:sp>
        <p:nvSpPr>
          <p:cNvPr id="1953808" name="Rectangle 16">
            <a:extLst>
              <a:ext uri="{FF2B5EF4-FFF2-40B4-BE49-F238E27FC236}">
                <a16:creationId xmlns:a16="http://schemas.microsoft.com/office/drawing/2014/main" id="{2974FAEB-D393-3C0B-F18F-630C34F47D28}"/>
              </a:ext>
            </a:extLst>
          </p:cNvPr>
          <p:cNvSpPr>
            <a:spLocks noChangeArrowheads="1"/>
          </p:cNvSpPr>
          <p:nvPr/>
        </p:nvSpPr>
        <p:spPr bwMode="auto">
          <a:xfrm>
            <a:off x="533400" y="76200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3-1-1</a:t>
            </a:r>
          </a:p>
        </p:txBody>
      </p:sp>
      <p:sp>
        <p:nvSpPr>
          <p:cNvPr id="1953809" name="Rectangle 17">
            <a:extLst>
              <a:ext uri="{FF2B5EF4-FFF2-40B4-BE49-F238E27FC236}">
                <a16:creationId xmlns:a16="http://schemas.microsoft.com/office/drawing/2014/main" id="{DF41725F-2D79-10B9-259A-202F56D99D18}"/>
              </a:ext>
            </a:extLst>
          </p:cNvPr>
          <p:cNvSpPr>
            <a:spLocks noChangeArrowheads="1"/>
          </p:cNvSpPr>
          <p:nvPr/>
        </p:nvSpPr>
        <p:spPr bwMode="auto">
          <a:xfrm>
            <a:off x="1482725" y="76200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損益構造とマーケティング</a:t>
            </a:r>
          </a:p>
        </p:txBody>
      </p:sp>
      <p:sp>
        <p:nvSpPr>
          <p:cNvPr id="1953810" name="Rectangle 18">
            <a:extLst>
              <a:ext uri="{FF2B5EF4-FFF2-40B4-BE49-F238E27FC236}">
                <a16:creationId xmlns:a16="http://schemas.microsoft.com/office/drawing/2014/main" id="{3F1F6E5B-0ECD-26BE-C50E-C69DBB53ABD3}"/>
              </a:ext>
            </a:extLst>
          </p:cNvPr>
          <p:cNvSpPr>
            <a:spLocks noChangeAspect="1" noChangeArrowheads="1"/>
          </p:cNvSpPr>
          <p:nvPr/>
        </p:nvSpPr>
        <p:spPr bwMode="auto">
          <a:xfrm>
            <a:off x="1917700" y="7974013"/>
            <a:ext cx="434975"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r>
              <a:rPr lang="ja-JP" altLang="en-US" sz="1000">
                <a:latin typeface="Arial" panose="020B0604020202020204" pitchFamily="34" charset="0"/>
              </a:rPr>
              <a:t>売上</a:t>
            </a:r>
          </a:p>
        </p:txBody>
      </p:sp>
      <p:sp>
        <p:nvSpPr>
          <p:cNvPr id="1953811" name="Rectangle 19">
            <a:extLst>
              <a:ext uri="{FF2B5EF4-FFF2-40B4-BE49-F238E27FC236}">
                <a16:creationId xmlns:a16="http://schemas.microsoft.com/office/drawing/2014/main" id="{E5EA811E-DA16-7A83-1C81-EAC212F6FAAD}"/>
              </a:ext>
            </a:extLst>
          </p:cNvPr>
          <p:cNvSpPr>
            <a:spLocks noChangeAspect="1" noChangeArrowheads="1"/>
          </p:cNvSpPr>
          <p:nvPr/>
        </p:nvSpPr>
        <p:spPr bwMode="auto">
          <a:xfrm>
            <a:off x="3406775" y="7974013"/>
            <a:ext cx="479425"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r>
              <a:rPr lang="ja-JP" altLang="en-US" sz="1000">
                <a:latin typeface="Arial" panose="020B0604020202020204" pitchFamily="34" charset="0"/>
              </a:rPr>
              <a:t>コスト</a:t>
            </a:r>
          </a:p>
        </p:txBody>
      </p:sp>
      <p:sp>
        <p:nvSpPr>
          <p:cNvPr id="1953812" name="Rectangle 20">
            <a:extLst>
              <a:ext uri="{FF2B5EF4-FFF2-40B4-BE49-F238E27FC236}">
                <a16:creationId xmlns:a16="http://schemas.microsoft.com/office/drawing/2014/main" id="{2F747CF2-36AD-3526-4CEF-B85DE512207B}"/>
              </a:ext>
            </a:extLst>
          </p:cNvPr>
          <p:cNvSpPr>
            <a:spLocks noChangeAspect="1" noChangeArrowheads="1"/>
          </p:cNvSpPr>
          <p:nvPr/>
        </p:nvSpPr>
        <p:spPr bwMode="auto">
          <a:xfrm>
            <a:off x="2971800" y="7862888"/>
            <a:ext cx="346075" cy="49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latin typeface="Arial" panose="020B0604020202020204" pitchFamily="34" charset="0"/>
              </a:rPr>
              <a:t>－</a:t>
            </a:r>
          </a:p>
        </p:txBody>
      </p:sp>
      <p:sp>
        <p:nvSpPr>
          <p:cNvPr id="1953813" name="Rectangle 21">
            <a:extLst>
              <a:ext uri="{FF2B5EF4-FFF2-40B4-BE49-F238E27FC236}">
                <a16:creationId xmlns:a16="http://schemas.microsoft.com/office/drawing/2014/main" id="{98A79C87-6135-FBA1-BEC7-9DE1A503C223}"/>
              </a:ext>
            </a:extLst>
          </p:cNvPr>
          <p:cNvSpPr>
            <a:spLocks noChangeAspect="1" noChangeArrowheads="1"/>
          </p:cNvSpPr>
          <p:nvPr/>
        </p:nvSpPr>
        <p:spPr bwMode="auto">
          <a:xfrm>
            <a:off x="4305300" y="7862888"/>
            <a:ext cx="347663" cy="49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latin typeface="Arial" panose="020B0604020202020204" pitchFamily="34" charset="0"/>
              </a:rPr>
              <a:t>＝</a:t>
            </a:r>
          </a:p>
        </p:txBody>
      </p:sp>
      <p:sp>
        <p:nvSpPr>
          <p:cNvPr id="1953814" name="Rectangle 22">
            <a:extLst>
              <a:ext uri="{FF2B5EF4-FFF2-40B4-BE49-F238E27FC236}">
                <a16:creationId xmlns:a16="http://schemas.microsoft.com/office/drawing/2014/main" id="{D12534A2-DCCF-B958-B648-53D30ADD066F}"/>
              </a:ext>
            </a:extLst>
          </p:cNvPr>
          <p:cNvSpPr>
            <a:spLocks noChangeAspect="1" noChangeArrowheads="1"/>
          </p:cNvSpPr>
          <p:nvPr/>
        </p:nvSpPr>
        <p:spPr bwMode="auto">
          <a:xfrm>
            <a:off x="4891088" y="7974013"/>
            <a:ext cx="434975"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r>
              <a:rPr lang="ja-JP" altLang="en-US" sz="1000">
                <a:latin typeface="Arial" panose="020B0604020202020204" pitchFamily="34" charset="0"/>
              </a:rPr>
              <a:t>利益</a:t>
            </a:r>
          </a:p>
        </p:txBody>
      </p:sp>
      <p:sp>
        <p:nvSpPr>
          <p:cNvPr id="1953815" name="Rectangle 23">
            <a:extLst>
              <a:ext uri="{FF2B5EF4-FFF2-40B4-BE49-F238E27FC236}">
                <a16:creationId xmlns:a16="http://schemas.microsoft.com/office/drawing/2014/main" id="{DFCCA12C-0707-73D3-3A5D-175D00B203E8}"/>
              </a:ext>
            </a:extLst>
          </p:cNvPr>
          <p:cNvSpPr>
            <a:spLocks noChangeAspect="1" noChangeArrowheads="1"/>
          </p:cNvSpPr>
          <p:nvPr/>
        </p:nvSpPr>
        <p:spPr bwMode="auto">
          <a:xfrm>
            <a:off x="1524000" y="8537575"/>
            <a:ext cx="137160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r>
              <a:rPr lang="ja-JP" altLang="en-US" sz="1000">
                <a:latin typeface="Arial" panose="020B0604020202020204" pitchFamily="34" charset="0"/>
              </a:rPr>
              <a:t>価格（</a:t>
            </a:r>
            <a:r>
              <a:rPr lang="en-US" altLang="ja-JP" sz="1000">
                <a:latin typeface="Arial" panose="020B0604020202020204" pitchFamily="34" charset="0"/>
              </a:rPr>
              <a:t>P</a:t>
            </a:r>
            <a:r>
              <a:rPr lang="ja-JP" altLang="en-US" sz="1000">
                <a:latin typeface="Arial" panose="020B0604020202020204" pitchFamily="34" charset="0"/>
              </a:rPr>
              <a:t>） </a:t>
            </a:r>
            <a:r>
              <a:rPr lang="en-US" altLang="ja-JP" sz="1000">
                <a:latin typeface="Arial" panose="020B0604020202020204" pitchFamily="34" charset="0"/>
              </a:rPr>
              <a:t>×</a:t>
            </a:r>
            <a:r>
              <a:rPr lang="ja-JP" altLang="en-US" sz="1000">
                <a:latin typeface="Arial" panose="020B0604020202020204" pitchFamily="34" charset="0"/>
              </a:rPr>
              <a:t>　数量（</a:t>
            </a:r>
            <a:r>
              <a:rPr lang="en-US" altLang="ja-JP" sz="1000">
                <a:latin typeface="Arial" panose="020B0604020202020204" pitchFamily="34" charset="0"/>
              </a:rPr>
              <a:t>Q</a:t>
            </a:r>
            <a:r>
              <a:rPr lang="ja-JP" altLang="en-US" sz="1000">
                <a:latin typeface="Arial" panose="020B0604020202020204" pitchFamily="34" charset="0"/>
              </a:rPr>
              <a:t>）</a:t>
            </a:r>
          </a:p>
        </p:txBody>
      </p:sp>
      <p:sp>
        <p:nvSpPr>
          <p:cNvPr id="1953816" name="AutoShape 24">
            <a:extLst>
              <a:ext uri="{FF2B5EF4-FFF2-40B4-BE49-F238E27FC236}">
                <a16:creationId xmlns:a16="http://schemas.microsoft.com/office/drawing/2014/main" id="{FC14B003-D0F0-3A5D-2D5D-46EBCE766C88}"/>
              </a:ext>
            </a:extLst>
          </p:cNvPr>
          <p:cNvSpPr>
            <a:spLocks noChangeAspect="1" noChangeArrowheads="1"/>
          </p:cNvSpPr>
          <p:nvPr/>
        </p:nvSpPr>
        <p:spPr bwMode="auto">
          <a:xfrm flipV="1">
            <a:off x="1676400" y="8461375"/>
            <a:ext cx="892175" cy="98425"/>
          </a:xfrm>
          <a:prstGeom prst="triangle">
            <a:avLst>
              <a:gd name="adj" fmla="val 50000"/>
            </a:avLst>
          </a:prstGeom>
          <a:solidFill>
            <a:srgbClr val="000066"/>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3817" name="Rectangle 25">
            <a:extLst>
              <a:ext uri="{FF2B5EF4-FFF2-40B4-BE49-F238E27FC236}">
                <a16:creationId xmlns:a16="http://schemas.microsoft.com/office/drawing/2014/main" id="{6659B7B3-8759-026A-DFB4-8E1FAD84635D}"/>
              </a:ext>
            </a:extLst>
          </p:cNvPr>
          <p:cNvSpPr>
            <a:spLocks noChangeAspect="1" noChangeArrowheads="1"/>
          </p:cNvSpPr>
          <p:nvPr/>
        </p:nvSpPr>
        <p:spPr bwMode="auto">
          <a:xfrm>
            <a:off x="1954213" y="8766175"/>
            <a:ext cx="434975"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r>
              <a:rPr lang="ja-JP" altLang="en-US" sz="1000">
                <a:latin typeface="Arial" panose="020B0604020202020204" pitchFamily="34" charset="0"/>
              </a:rPr>
              <a:t>又は</a:t>
            </a:r>
          </a:p>
        </p:txBody>
      </p:sp>
      <p:sp>
        <p:nvSpPr>
          <p:cNvPr id="1953822" name="AutoShape 30">
            <a:extLst>
              <a:ext uri="{FF2B5EF4-FFF2-40B4-BE49-F238E27FC236}">
                <a16:creationId xmlns:a16="http://schemas.microsoft.com/office/drawing/2014/main" id="{C4C388C1-814D-DEE2-E4D4-FD8486A92A01}"/>
              </a:ext>
            </a:extLst>
          </p:cNvPr>
          <p:cNvSpPr>
            <a:spLocks noChangeAspect="1" noChangeArrowheads="1"/>
          </p:cNvSpPr>
          <p:nvPr/>
        </p:nvSpPr>
        <p:spPr bwMode="auto">
          <a:xfrm>
            <a:off x="1352550" y="8004175"/>
            <a:ext cx="2838450" cy="1143000"/>
          </a:xfrm>
          <a:prstGeom prst="roundRect">
            <a:avLst>
              <a:gd name="adj" fmla="val 16667"/>
            </a:avLst>
          </a:prstGeom>
          <a:noFill/>
          <a:ln w="38100">
            <a:solidFill>
              <a:schemeClr val="bg2"/>
            </a:solidFill>
            <a:prstDash val="sysDot"/>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3823" name="AutoShape 31">
            <a:extLst>
              <a:ext uri="{FF2B5EF4-FFF2-40B4-BE49-F238E27FC236}">
                <a16:creationId xmlns:a16="http://schemas.microsoft.com/office/drawing/2014/main" id="{DB4EF6DF-FC69-7498-50D1-26388037002A}"/>
              </a:ext>
            </a:extLst>
          </p:cNvPr>
          <p:cNvSpPr>
            <a:spLocks noChangeAspect="1" noChangeArrowheads="1"/>
          </p:cNvSpPr>
          <p:nvPr/>
        </p:nvSpPr>
        <p:spPr bwMode="auto">
          <a:xfrm>
            <a:off x="1665288" y="9220200"/>
            <a:ext cx="2144712" cy="276225"/>
          </a:xfrm>
          <a:prstGeom prst="roundRect">
            <a:avLst>
              <a:gd name="adj" fmla="val 16667"/>
            </a:avLst>
          </a:prstGeom>
          <a:solidFill>
            <a:schemeClr val="bg1"/>
          </a:solidFill>
          <a:ln w="127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ja-JP" altLang="en-US" sz="1000">
                <a:latin typeface="ＭＳ Ｐゴシック" panose="020B0600070205080204" pitchFamily="50" charset="-128"/>
              </a:rPr>
              <a:t>マーケティングの考え方が有用</a:t>
            </a:r>
          </a:p>
        </p:txBody>
      </p:sp>
      <p:sp>
        <p:nvSpPr>
          <p:cNvPr id="1953824" name="Line 32">
            <a:extLst>
              <a:ext uri="{FF2B5EF4-FFF2-40B4-BE49-F238E27FC236}">
                <a16:creationId xmlns:a16="http://schemas.microsoft.com/office/drawing/2014/main" id="{64C2CB75-82BD-AA91-F4C9-A48744E4AF51}"/>
              </a:ext>
            </a:extLst>
          </p:cNvPr>
          <p:cNvSpPr>
            <a:spLocks noChangeAspect="1" noChangeShapeType="1"/>
          </p:cNvSpPr>
          <p:nvPr/>
        </p:nvSpPr>
        <p:spPr bwMode="auto">
          <a:xfrm flipV="1">
            <a:off x="2133600" y="8207375"/>
            <a:ext cx="0" cy="177800"/>
          </a:xfrm>
          <a:prstGeom prst="line">
            <a:avLst/>
          </a:prstGeom>
          <a:noFill/>
          <a:ln w="38100">
            <a:solidFill>
              <a:srgbClr val="000066"/>
            </a:solidFill>
            <a:round/>
            <a:headE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3825" name="Line 33">
            <a:extLst>
              <a:ext uri="{FF2B5EF4-FFF2-40B4-BE49-F238E27FC236}">
                <a16:creationId xmlns:a16="http://schemas.microsoft.com/office/drawing/2014/main" id="{3DEFDE8B-D872-3864-5950-78ADFA3E6AE7}"/>
              </a:ext>
            </a:extLst>
          </p:cNvPr>
          <p:cNvSpPr>
            <a:spLocks noChangeAspect="1" noChangeShapeType="1"/>
          </p:cNvSpPr>
          <p:nvPr/>
        </p:nvSpPr>
        <p:spPr bwMode="auto">
          <a:xfrm flipV="1">
            <a:off x="1752600" y="8766175"/>
            <a:ext cx="0" cy="177800"/>
          </a:xfrm>
          <a:prstGeom prst="line">
            <a:avLst/>
          </a:prstGeom>
          <a:noFill/>
          <a:ln w="38100">
            <a:solidFill>
              <a:srgbClr val="000066"/>
            </a:solidFill>
            <a:round/>
            <a:headE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3826" name="Line 34">
            <a:extLst>
              <a:ext uri="{FF2B5EF4-FFF2-40B4-BE49-F238E27FC236}">
                <a16:creationId xmlns:a16="http://schemas.microsoft.com/office/drawing/2014/main" id="{11714703-EDDE-D3F1-92FC-B0AA08223FB2}"/>
              </a:ext>
            </a:extLst>
          </p:cNvPr>
          <p:cNvSpPr>
            <a:spLocks noChangeAspect="1" noChangeShapeType="1"/>
          </p:cNvSpPr>
          <p:nvPr/>
        </p:nvSpPr>
        <p:spPr bwMode="auto">
          <a:xfrm flipV="1">
            <a:off x="2590800" y="8766175"/>
            <a:ext cx="0" cy="177800"/>
          </a:xfrm>
          <a:prstGeom prst="line">
            <a:avLst/>
          </a:prstGeom>
          <a:noFill/>
          <a:ln w="38100">
            <a:solidFill>
              <a:srgbClr val="000066"/>
            </a:solidFill>
            <a:round/>
            <a:headE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3827" name="Line 35">
            <a:extLst>
              <a:ext uri="{FF2B5EF4-FFF2-40B4-BE49-F238E27FC236}">
                <a16:creationId xmlns:a16="http://schemas.microsoft.com/office/drawing/2014/main" id="{65821797-3B7B-2AD7-3709-1561DC982967}"/>
              </a:ext>
            </a:extLst>
          </p:cNvPr>
          <p:cNvSpPr>
            <a:spLocks noChangeAspect="1" noChangeShapeType="1"/>
          </p:cNvSpPr>
          <p:nvPr/>
        </p:nvSpPr>
        <p:spPr bwMode="auto">
          <a:xfrm>
            <a:off x="3638550" y="8207375"/>
            <a:ext cx="1588" cy="177800"/>
          </a:xfrm>
          <a:prstGeom prst="line">
            <a:avLst/>
          </a:prstGeom>
          <a:noFill/>
          <a:ln w="38100">
            <a:solidFill>
              <a:srgbClr val="000066"/>
            </a:solidFill>
            <a:round/>
            <a:headE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3828" name="Line 36">
            <a:extLst>
              <a:ext uri="{FF2B5EF4-FFF2-40B4-BE49-F238E27FC236}">
                <a16:creationId xmlns:a16="http://schemas.microsoft.com/office/drawing/2014/main" id="{1C1CECEA-DFD2-2B28-3F2E-1FF31E77E042}"/>
              </a:ext>
            </a:extLst>
          </p:cNvPr>
          <p:cNvSpPr>
            <a:spLocks noChangeAspect="1" noChangeShapeType="1"/>
          </p:cNvSpPr>
          <p:nvPr/>
        </p:nvSpPr>
        <p:spPr bwMode="auto">
          <a:xfrm flipV="1">
            <a:off x="5105400" y="8207375"/>
            <a:ext cx="0" cy="177800"/>
          </a:xfrm>
          <a:prstGeom prst="line">
            <a:avLst/>
          </a:prstGeom>
          <a:noFill/>
          <a:ln w="38100">
            <a:solidFill>
              <a:srgbClr val="000066"/>
            </a:solidFill>
            <a:round/>
            <a:headE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3830" name="Text Box 38">
            <a:extLst>
              <a:ext uri="{FF2B5EF4-FFF2-40B4-BE49-F238E27FC236}">
                <a16:creationId xmlns:a16="http://schemas.microsoft.com/office/drawing/2014/main" id="{87C4145B-C829-BE0F-8429-86F93797CA07}"/>
              </a:ext>
            </a:extLst>
          </p:cNvPr>
          <p:cNvSpPr txBox="1">
            <a:spLocks noChangeArrowheads="1"/>
          </p:cNvSpPr>
          <p:nvPr/>
        </p:nvSpPr>
        <p:spPr bwMode="auto">
          <a:xfrm>
            <a:off x="533400" y="304800"/>
            <a:ext cx="57912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ja-JP" sz="1400" i="1">
                <a:latin typeface="Arial" panose="020B0604020202020204" pitchFamily="34" charset="0"/>
                <a:ea typeface="HGPｺﾞｼｯｸE" panose="020B0900000000000000" pitchFamily="50" charset="-128"/>
              </a:rPr>
              <a:t>Ⅲ</a:t>
            </a:r>
            <a:r>
              <a:rPr lang="ja-JP" altLang="en-US" sz="1400" i="1">
                <a:latin typeface="Arial" panose="020B0604020202020204" pitchFamily="34" charset="0"/>
                <a:ea typeface="HGPｺﾞｼｯｸE" panose="020B0900000000000000" pitchFamily="50" charset="-128"/>
              </a:rPr>
              <a:t>　経営助言の実践に関する論点</a:t>
            </a:r>
          </a:p>
        </p:txBody>
      </p:sp>
      <p:sp>
        <p:nvSpPr>
          <p:cNvPr id="1953831" name="Line 39">
            <a:extLst>
              <a:ext uri="{FF2B5EF4-FFF2-40B4-BE49-F238E27FC236}">
                <a16:creationId xmlns:a16="http://schemas.microsoft.com/office/drawing/2014/main" id="{A265B828-7367-4A38-33FF-3C36666EF584}"/>
              </a:ext>
            </a:extLst>
          </p:cNvPr>
          <p:cNvSpPr>
            <a:spLocks noChangeShapeType="1"/>
          </p:cNvSpPr>
          <p:nvPr/>
        </p:nvSpPr>
        <p:spPr bwMode="auto">
          <a:xfrm flipV="1">
            <a:off x="533400" y="228600"/>
            <a:ext cx="5791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53832" name="Line 40">
            <a:extLst>
              <a:ext uri="{FF2B5EF4-FFF2-40B4-BE49-F238E27FC236}">
                <a16:creationId xmlns:a16="http://schemas.microsoft.com/office/drawing/2014/main" id="{3C8BC7A2-0662-98C9-6302-BB008F6E0D7D}"/>
              </a:ext>
            </a:extLst>
          </p:cNvPr>
          <p:cNvSpPr>
            <a:spLocks noChangeShapeType="1"/>
          </p:cNvSpPr>
          <p:nvPr/>
        </p:nvSpPr>
        <p:spPr bwMode="auto">
          <a:xfrm>
            <a:off x="533400" y="6858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53833" name="Rectangle 41">
            <a:extLst>
              <a:ext uri="{FF2B5EF4-FFF2-40B4-BE49-F238E27FC236}">
                <a16:creationId xmlns:a16="http://schemas.microsoft.com/office/drawing/2014/main" id="{AECF8C27-CC89-6EA8-F46B-8B4E1DC60166}"/>
              </a:ext>
            </a:extLst>
          </p:cNvPr>
          <p:cNvSpPr>
            <a:spLocks noChangeAspect="1" noChangeArrowheads="1"/>
          </p:cNvSpPr>
          <p:nvPr/>
        </p:nvSpPr>
        <p:spPr bwMode="auto">
          <a:xfrm>
            <a:off x="3298825" y="8518525"/>
            <a:ext cx="8159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r>
              <a:rPr lang="ja-JP" altLang="en-US" sz="1000">
                <a:latin typeface="Arial" panose="020B0604020202020204" pitchFamily="34" charset="0"/>
              </a:rPr>
              <a:t>顧客満足度</a:t>
            </a:r>
          </a:p>
          <a:p>
            <a:r>
              <a:rPr lang="ja-JP" altLang="en-US" sz="1000">
                <a:latin typeface="Arial" panose="020B0604020202020204" pitchFamily="34" charset="0"/>
              </a:rPr>
              <a:t>への影響</a:t>
            </a:r>
          </a:p>
        </p:txBody>
      </p:sp>
      <p:sp>
        <p:nvSpPr>
          <p:cNvPr id="1953834" name="AutoShape 42">
            <a:extLst>
              <a:ext uri="{FF2B5EF4-FFF2-40B4-BE49-F238E27FC236}">
                <a16:creationId xmlns:a16="http://schemas.microsoft.com/office/drawing/2014/main" id="{CB0F3D9D-AFE5-2578-4383-25A79F036A4D}"/>
              </a:ext>
            </a:extLst>
          </p:cNvPr>
          <p:cNvSpPr>
            <a:spLocks noChangeAspect="1" noChangeArrowheads="1"/>
          </p:cNvSpPr>
          <p:nvPr/>
        </p:nvSpPr>
        <p:spPr bwMode="auto">
          <a:xfrm flipV="1">
            <a:off x="3222625" y="8458200"/>
            <a:ext cx="892175" cy="98425"/>
          </a:xfrm>
          <a:prstGeom prst="triangle">
            <a:avLst>
              <a:gd name="adj" fmla="val 50000"/>
            </a:avLst>
          </a:prstGeom>
          <a:solidFill>
            <a:srgbClr val="000066"/>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4818" name="Rectangle 2">
            <a:extLst>
              <a:ext uri="{FF2B5EF4-FFF2-40B4-BE49-F238E27FC236}">
                <a16:creationId xmlns:a16="http://schemas.microsoft.com/office/drawing/2014/main" id="{A74E15F4-11ED-C7F8-DA5A-0C049C331885}"/>
              </a:ext>
            </a:extLst>
          </p:cNvPr>
          <p:cNvSpPr>
            <a:spLocks noChangeArrowheads="1"/>
          </p:cNvSpPr>
          <p:nvPr/>
        </p:nvSpPr>
        <p:spPr bwMode="auto">
          <a:xfrm>
            <a:off x="914400" y="1600200"/>
            <a:ext cx="5410200" cy="3429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マーケティングとは、企業が効率的に売上を増やし利益を獲得していく仕組みを意味します。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従来はマーケティングというと、販売促進や広告宣伝といった狭義の意味でとらえられることも少なくありませんでした。高度経済成長の時代は売り手主導の市場であり、提供する商品・サービスをどのような販路でどう宣伝して販売するかを考えるといった、商品を基点として販売施策を検討することが一般的でした。しかし、顧客が豊かになり選択肢が増え、買い手主導の市場が形成されている現在では、単なる販売促進では不十分なので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自社の商品・サービスを考えるに当たり、顧客を幾つかにグループ分けして分布を描き、ターゲットとする顧客グループの価値観に見合った商品やサービスを開発します。そして、その顧客グループに適したコミュニケーション・チャネルを使ってメッセージを伝え、適切な価格で購入してもらい、適正な利益を獲得する、このような一連の流れが今日のマーケティングが扱う主要課題で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マーケティング戦略は「収益極大化」という企業の最終目的のため、ターゲット顧客層に対して「何を（</a:t>
            </a:r>
            <a:r>
              <a:rPr lang="en-US" altLang="ja-JP" sz="1000">
                <a:latin typeface="ＭＳ Ｐ明朝" panose="02020600040205080304" pitchFamily="18" charset="-128"/>
                <a:ea typeface="ＭＳ Ｐ明朝" panose="02020600040205080304" pitchFamily="18" charset="-128"/>
              </a:rPr>
              <a:t>Product</a:t>
            </a:r>
            <a:r>
              <a:rPr lang="ja-JP" altLang="en-US" sz="1000">
                <a:latin typeface="ＭＳ Ｐ明朝" panose="02020600040205080304" pitchFamily="18" charset="-128"/>
                <a:ea typeface="ＭＳ Ｐ明朝" panose="02020600040205080304" pitchFamily="18" charset="-128"/>
              </a:rPr>
              <a:t>）」、「いくらで（</a:t>
            </a:r>
            <a:r>
              <a:rPr lang="en-US" altLang="ja-JP" sz="1000">
                <a:latin typeface="ＭＳ Ｐ明朝" panose="02020600040205080304" pitchFamily="18" charset="-128"/>
                <a:ea typeface="ＭＳ Ｐ明朝" panose="02020600040205080304" pitchFamily="18" charset="-128"/>
              </a:rPr>
              <a:t>Price</a:t>
            </a:r>
            <a:r>
              <a:rPr lang="ja-JP" altLang="en-US" sz="1000">
                <a:latin typeface="ＭＳ Ｐ明朝" panose="02020600040205080304" pitchFamily="18" charset="-128"/>
                <a:ea typeface="ＭＳ Ｐ明朝" panose="02020600040205080304" pitchFamily="18" charset="-128"/>
              </a:rPr>
              <a:t>） 」、「どこで（</a:t>
            </a:r>
            <a:r>
              <a:rPr lang="en-US" altLang="ja-JP" sz="1000">
                <a:latin typeface="ＭＳ Ｐ明朝" panose="02020600040205080304" pitchFamily="18" charset="-128"/>
                <a:ea typeface="ＭＳ Ｐ明朝" panose="02020600040205080304" pitchFamily="18" charset="-128"/>
              </a:rPr>
              <a:t>Place</a:t>
            </a:r>
            <a:r>
              <a:rPr lang="ja-JP" altLang="en-US" sz="1000">
                <a:latin typeface="ＭＳ Ｐ明朝" panose="02020600040205080304" pitchFamily="18" charset="-128"/>
                <a:ea typeface="ＭＳ Ｐ明朝" panose="02020600040205080304" pitchFamily="18" charset="-128"/>
              </a:rPr>
              <a:t>）」、「どうやって（</a:t>
            </a:r>
            <a:r>
              <a:rPr lang="en-US" altLang="ja-JP" sz="1000">
                <a:latin typeface="ＭＳ Ｐ明朝" panose="02020600040205080304" pitchFamily="18" charset="-128"/>
                <a:ea typeface="ＭＳ Ｐ明朝" panose="02020600040205080304" pitchFamily="18" charset="-128"/>
              </a:rPr>
              <a:t>Promotion</a:t>
            </a:r>
            <a:r>
              <a:rPr lang="ja-JP" altLang="en-US" sz="1000">
                <a:latin typeface="ＭＳ Ｐ明朝" panose="02020600040205080304" pitchFamily="18" charset="-128"/>
                <a:ea typeface="ＭＳ Ｐ明朝" panose="02020600040205080304" pitchFamily="18" charset="-128"/>
              </a:rPr>
              <a:t>）」売るかという後述する「</a:t>
            </a:r>
            <a:r>
              <a:rPr lang="en-US" altLang="ja-JP" sz="1000">
                <a:latin typeface="ＭＳ Ｐ明朝" panose="02020600040205080304" pitchFamily="18" charset="-128"/>
                <a:ea typeface="ＭＳ Ｐ明朝" panose="02020600040205080304" pitchFamily="18" charset="-128"/>
              </a:rPr>
              <a:t>4P</a:t>
            </a:r>
            <a:r>
              <a:rPr lang="ja-JP" altLang="en-US" sz="1000">
                <a:latin typeface="ＭＳ Ｐ明朝" panose="02020600040205080304" pitchFamily="18" charset="-128"/>
                <a:ea typeface="ＭＳ Ｐ明朝" panose="02020600040205080304" pitchFamily="18" charset="-128"/>
              </a:rPr>
              <a:t>（マーケティング・ミックス）」を決定する役割を果たします。そのマーケティング戦略実現のために、生産、物流、サポートなどの企業活動があるともいえます（図表</a:t>
            </a:r>
            <a:r>
              <a:rPr lang="en-US" altLang="ja-JP" sz="1000">
                <a:latin typeface="ＭＳ Ｐ明朝" panose="02020600040205080304" pitchFamily="18" charset="-128"/>
                <a:ea typeface="ＭＳ Ｐ明朝" panose="02020600040205080304" pitchFamily="18" charset="-128"/>
              </a:rPr>
              <a:t>3-1-2</a:t>
            </a:r>
            <a:r>
              <a:rPr lang="ja-JP" altLang="en-US" sz="1000">
                <a:latin typeface="ＭＳ Ｐ明朝" panose="02020600040205080304" pitchFamily="18" charset="-128"/>
                <a:ea typeface="ＭＳ Ｐ明朝" panose="02020600040205080304" pitchFamily="18" charset="-128"/>
              </a:rPr>
              <a:t>参照）。</a:t>
            </a:r>
          </a:p>
        </p:txBody>
      </p:sp>
      <p:sp>
        <p:nvSpPr>
          <p:cNvPr id="1954819" name="Rectangle 3">
            <a:extLst>
              <a:ext uri="{FF2B5EF4-FFF2-40B4-BE49-F238E27FC236}">
                <a16:creationId xmlns:a16="http://schemas.microsoft.com/office/drawing/2014/main" id="{41EAFF88-4002-44D1-F26E-A940887F766E}"/>
              </a:ext>
            </a:extLst>
          </p:cNvPr>
          <p:cNvSpPr>
            <a:spLocks noChangeArrowheads="1"/>
          </p:cNvSpPr>
          <p:nvPr/>
        </p:nvSpPr>
        <p:spPr bwMode="auto">
          <a:xfrm>
            <a:off x="533400" y="12954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マーケティングの全体像</a:t>
            </a:r>
          </a:p>
        </p:txBody>
      </p:sp>
      <p:sp>
        <p:nvSpPr>
          <p:cNvPr id="1954821" name="Rectangle 5">
            <a:extLst>
              <a:ext uri="{FF2B5EF4-FFF2-40B4-BE49-F238E27FC236}">
                <a16:creationId xmlns:a16="http://schemas.microsoft.com/office/drawing/2014/main" id="{4C7E7F57-058C-3ADC-58B9-FD78DC7C40B2}"/>
              </a:ext>
            </a:extLst>
          </p:cNvPr>
          <p:cNvSpPr>
            <a:spLocks noChangeArrowheads="1"/>
          </p:cNvSpPr>
          <p:nvPr/>
        </p:nvSpPr>
        <p:spPr bwMode="auto">
          <a:xfrm>
            <a:off x="533400" y="57150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3-1-2</a:t>
            </a:r>
          </a:p>
        </p:txBody>
      </p:sp>
      <p:sp>
        <p:nvSpPr>
          <p:cNvPr id="1954822" name="Rectangle 6">
            <a:extLst>
              <a:ext uri="{FF2B5EF4-FFF2-40B4-BE49-F238E27FC236}">
                <a16:creationId xmlns:a16="http://schemas.microsoft.com/office/drawing/2014/main" id="{59BCFFD4-2D0D-0A00-407E-2A2A38039BDA}"/>
              </a:ext>
            </a:extLst>
          </p:cNvPr>
          <p:cNvSpPr>
            <a:spLocks noChangeArrowheads="1"/>
          </p:cNvSpPr>
          <p:nvPr/>
        </p:nvSpPr>
        <p:spPr bwMode="auto">
          <a:xfrm>
            <a:off x="1482725" y="57150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マーケティングの全体像</a:t>
            </a:r>
          </a:p>
        </p:txBody>
      </p:sp>
      <p:sp>
        <p:nvSpPr>
          <p:cNvPr id="1954823" name="AutoShape 7">
            <a:extLst>
              <a:ext uri="{FF2B5EF4-FFF2-40B4-BE49-F238E27FC236}">
                <a16:creationId xmlns:a16="http://schemas.microsoft.com/office/drawing/2014/main" id="{E81C4733-4A2B-734E-394F-3EB5925EFEA3}"/>
              </a:ext>
            </a:extLst>
          </p:cNvPr>
          <p:cNvSpPr>
            <a:spLocks noChangeAspect="1" noChangeArrowheads="1"/>
          </p:cNvSpPr>
          <p:nvPr/>
        </p:nvSpPr>
        <p:spPr bwMode="auto">
          <a:xfrm flipH="1">
            <a:off x="4529138" y="6140450"/>
            <a:ext cx="1400175" cy="342900"/>
          </a:xfrm>
          <a:prstGeom prst="homePlate">
            <a:avLst>
              <a:gd name="adj" fmla="val 49510"/>
            </a:avLst>
          </a:prstGeom>
          <a:gradFill rotWithShape="0">
            <a:gsLst>
              <a:gs pos="0">
                <a:schemeClr val="accent2"/>
              </a:gs>
              <a:gs pos="100000">
                <a:schemeClr val="accent2">
                  <a:gamma/>
                  <a:tint val="0"/>
                  <a:invGamma/>
                </a:schemeClr>
              </a:gs>
            </a:gsLst>
            <a:lin ang="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開発・設計</a:t>
            </a:r>
          </a:p>
        </p:txBody>
      </p:sp>
      <p:sp>
        <p:nvSpPr>
          <p:cNvPr id="1954824" name="AutoShape 8">
            <a:extLst>
              <a:ext uri="{FF2B5EF4-FFF2-40B4-BE49-F238E27FC236}">
                <a16:creationId xmlns:a16="http://schemas.microsoft.com/office/drawing/2014/main" id="{BCFDF503-63EB-98FF-0F03-6ABACED43D3B}"/>
              </a:ext>
            </a:extLst>
          </p:cNvPr>
          <p:cNvSpPr>
            <a:spLocks noChangeAspect="1" noChangeArrowheads="1"/>
          </p:cNvSpPr>
          <p:nvPr/>
        </p:nvSpPr>
        <p:spPr bwMode="auto">
          <a:xfrm flipH="1">
            <a:off x="4529138" y="6551613"/>
            <a:ext cx="1400175" cy="342900"/>
          </a:xfrm>
          <a:prstGeom prst="homePlate">
            <a:avLst>
              <a:gd name="adj" fmla="val 49510"/>
            </a:avLst>
          </a:prstGeom>
          <a:gradFill rotWithShape="0">
            <a:gsLst>
              <a:gs pos="0">
                <a:schemeClr val="accent2"/>
              </a:gs>
              <a:gs pos="100000">
                <a:schemeClr val="accent2">
                  <a:gamma/>
                  <a:tint val="0"/>
                  <a:invGamma/>
                </a:schemeClr>
              </a:gs>
            </a:gsLst>
            <a:lin ang="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生産</a:t>
            </a:r>
          </a:p>
        </p:txBody>
      </p:sp>
      <p:sp>
        <p:nvSpPr>
          <p:cNvPr id="1954825" name="AutoShape 9">
            <a:extLst>
              <a:ext uri="{FF2B5EF4-FFF2-40B4-BE49-F238E27FC236}">
                <a16:creationId xmlns:a16="http://schemas.microsoft.com/office/drawing/2014/main" id="{032EB824-D1F6-5F92-5C78-A7EC1FA955E4}"/>
              </a:ext>
            </a:extLst>
          </p:cNvPr>
          <p:cNvSpPr>
            <a:spLocks noChangeAspect="1" noChangeArrowheads="1"/>
          </p:cNvSpPr>
          <p:nvPr/>
        </p:nvSpPr>
        <p:spPr bwMode="auto">
          <a:xfrm flipH="1">
            <a:off x="4529138" y="6962775"/>
            <a:ext cx="1400175" cy="342900"/>
          </a:xfrm>
          <a:prstGeom prst="homePlate">
            <a:avLst>
              <a:gd name="adj" fmla="val 49510"/>
            </a:avLst>
          </a:prstGeom>
          <a:gradFill rotWithShape="0">
            <a:gsLst>
              <a:gs pos="0">
                <a:schemeClr val="accent2"/>
              </a:gs>
              <a:gs pos="100000">
                <a:schemeClr val="accent2">
                  <a:gamma/>
                  <a:tint val="0"/>
                  <a:invGamma/>
                </a:schemeClr>
              </a:gs>
            </a:gsLst>
            <a:lin ang="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物流</a:t>
            </a:r>
          </a:p>
        </p:txBody>
      </p:sp>
      <p:sp>
        <p:nvSpPr>
          <p:cNvPr id="1954826" name="AutoShape 10">
            <a:extLst>
              <a:ext uri="{FF2B5EF4-FFF2-40B4-BE49-F238E27FC236}">
                <a16:creationId xmlns:a16="http://schemas.microsoft.com/office/drawing/2014/main" id="{8C057542-0AC0-3B29-010C-0B79CABE5D4E}"/>
              </a:ext>
            </a:extLst>
          </p:cNvPr>
          <p:cNvSpPr>
            <a:spLocks noChangeAspect="1" noChangeArrowheads="1"/>
          </p:cNvSpPr>
          <p:nvPr/>
        </p:nvSpPr>
        <p:spPr bwMode="auto">
          <a:xfrm flipH="1">
            <a:off x="4529138" y="7373938"/>
            <a:ext cx="1400175" cy="342900"/>
          </a:xfrm>
          <a:prstGeom prst="homePlate">
            <a:avLst>
              <a:gd name="adj" fmla="val 49510"/>
            </a:avLst>
          </a:prstGeom>
          <a:gradFill rotWithShape="0">
            <a:gsLst>
              <a:gs pos="0">
                <a:schemeClr val="accent2"/>
              </a:gs>
              <a:gs pos="100000">
                <a:schemeClr val="accent2">
                  <a:gamma/>
                  <a:tint val="0"/>
                  <a:invGamma/>
                </a:schemeClr>
              </a:gs>
            </a:gsLst>
            <a:lin ang="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販売</a:t>
            </a:r>
          </a:p>
        </p:txBody>
      </p:sp>
      <p:sp>
        <p:nvSpPr>
          <p:cNvPr id="1954827" name="AutoShape 11">
            <a:extLst>
              <a:ext uri="{FF2B5EF4-FFF2-40B4-BE49-F238E27FC236}">
                <a16:creationId xmlns:a16="http://schemas.microsoft.com/office/drawing/2014/main" id="{4E4AF318-11F1-53BC-FE21-A5BE5A680F04}"/>
              </a:ext>
            </a:extLst>
          </p:cNvPr>
          <p:cNvSpPr>
            <a:spLocks noChangeAspect="1" noChangeArrowheads="1"/>
          </p:cNvSpPr>
          <p:nvPr/>
        </p:nvSpPr>
        <p:spPr bwMode="auto">
          <a:xfrm flipH="1">
            <a:off x="4529138" y="7786688"/>
            <a:ext cx="1400175" cy="342900"/>
          </a:xfrm>
          <a:prstGeom prst="homePlate">
            <a:avLst>
              <a:gd name="adj" fmla="val 49510"/>
            </a:avLst>
          </a:prstGeom>
          <a:gradFill rotWithShape="0">
            <a:gsLst>
              <a:gs pos="0">
                <a:schemeClr val="accent2"/>
              </a:gs>
              <a:gs pos="100000">
                <a:schemeClr val="accent2">
                  <a:gamma/>
                  <a:tint val="0"/>
                  <a:invGamma/>
                </a:schemeClr>
              </a:gs>
            </a:gsLst>
            <a:lin ang="0" scaled="1"/>
          </a:gra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サポート</a:t>
            </a:r>
          </a:p>
        </p:txBody>
      </p:sp>
      <p:sp>
        <p:nvSpPr>
          <p:cNvPr id="1954828" name="AutoShape 12">
            <a:extLst>
              <a:ext uri="{FF2B5EF4-FFF2-40B4-BE49-F238E27FC236}">
                <a16:creationId xmlns:a16="http://schemas.microsoft.com/office/drawing/2014/main" id="{F310E723-C395-22B1-8BB0-8F61DC50EF96}"/>
              </a:ext>
            </a:extLst>
          </p:cNvPr>
          <p:cNvSpPr>
            <a:spLocks noChangeAspect="1" noChangeArrowheads="1"/>
          </p:cNvSpPr>
          <p:nvPr/>
        </p:nvSpPr>
        <p:spPr bwMode="auto">
          <a:xfrm flipH="1">
            <a:off x="4619625" y="8197850"/>
            <a:ext cx="1400175" cy="342900"/>
          </a:xfrm>
          <a:prstGeom prst="parallelogram">
            <a:avLst>
              <a:gd name="adj" fmla="val 49492"/>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人事、財務等</a:t>
            </a:r>
          </a:p>
        </p:txBody>
      </p:sp>
      <p:sp>
        <p:nvSpPr>
          <p:cNvPr id="1954829" name="Rectangle 13">
            <a:extLst>
              <a:ext uri="{FF2B5EF4-FFF2-40B4-BE49-F238E27FC236}">
                <a16:creationId xmlns:a16="http://schemas.microsoft.com/office/drawing/2014/main" id="{122362B7-9F26-FC7A-ABF5-D55E6C351EC8}"/>
              </a:ext>
            </a:extLst>
          </p:cNvPr>
          <p:cNvSpPr>
            <a:spLocks noChangeAspect="1" noChangeArrowheads="1"/>
          </p:cNvSpPr>
          <p:nvPr/>
        </p:nvSpPr>
        <p:spPr bwMode="auto">
          <a:xfrm flipH="1">
            <a:off x="4600575" y="5892800"/>
            <a:ext cx="1257300" cy="285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企業活動</a:t>
            </a:r>
          </a:p>
        </p:txBody>
      </p:sp>
      <p:sp>
        <p:nvSpPr>
          <p:cNvPr id="1954830" name="Rectangle 14">
            <a:extLst>
              <a:ext uri="{FF2B5EF4-FFF2-40B4-BE49-F238E27FC236}">
                <a16:creationId xmlns:a16="http://schemas.microsoft.com/office/drawing/2014/main" id="{DF55E6CE-AAAA-67E8-7FA7-090733CCDD0F}"/>
              </a:ext>
            </a:extLst>
          </p:cNvPr>
          <p:cNvSpPr>
            <a:spLocks noChangeAspect="1" noChangeArrowheads="1"/>
          </p:cNvSpPr>
          <p:nvPr/>
        </p:nvSpPr>
        <p:spPr bwMode="auto">
          <a:xfrm flipH="1">
            <a:off x="2768600" y="5892800"/>
            <a:ext cx="1257300" cy="285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マーケティング戦略</a:t>
            </a:r>
          </a:p>
        </p:txBody>
      </p:sp>
      <p:sp>
        <p:nvSpPr>
          <p:cNvPr id="1954831" name="Oval 15">
            <a:extLst>
              <a:ext uri="{FF2B5EF4-FFF2-40B4-BE49-F238E27FC236}">
                <a16:creationId xmlns:a16="http://schemas.microsoft.com/office/drawing/2014/main" id="{0B02B09C-14C9-5AF8-BFBE-9A1042EA7BFF}"/>
              </a:ext>
            </a:extLst>
          </p:cNvPr>
          <p:cNvSpPr>
            <a:spLocks noChangeAspect="1" noChangeArrowheads="1"/>
          </p:cNvSpPr>
          <p:nvPr/>
        </p:nvSpPr>
        <p:spPr bwMode="auto">
          <a:xfrm>
            <a:off x="990600" y="6140450"/>
            <a:ext cx="800100" cy="2400300"/>
          </a:xfrm>
          <a:prstGeom prst="ellipse">
            <a:avLst/>
          </a:prstGeom>
          <a:gradFill rotWithShape="0">
            <a:gsLst>
              <a:gs pos="0">
                <a:schemeClr val="accent2"/>
              </a:gs>
              <a:gs pos="50000">
                <a:schemeClr val="accent2">
                  <a:gamma/>
                  <a:tint val="3137"/>
                  <a:invGamma/>
                </a:schemeClr>
              </a:gs>
              <a:gs pos="100000">
                <a:schemeClr val="accent2"/>
              </a:gs>
            </a:gsLst>
            <a:lin ang="0" scaled="1"/>
          </a:gra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ターゲット</a:t>
            </a:r>
          </a:p>
          <a:p>
            <a:pPr algn="ctr"/>
            <a:r>
              <a:rPr lang="ja-JP" altLang="en-US" sz="1000">
                <a:latin typeface="ＭＳ Ｐゴシック" panose="020B0600070205080204" pitchFamily="50" charset="-128"/>
              </a:rPr>
              <a:t>顧客</a:t>
            </a:r>
          </a:p>
        </p:txBody>
      </p:sp>
      <p:sp>
        <p:nvSpPr>
          <p:cNvPr id="1954832" name="AutoShape 16">
            <a:extLst>
              <a:ext uri="{FF2B5EF4-FFF2-40B4-BE49-F238E27FC236}">
                <a16:creationId xmlns:a16="http://schemas.microsoft.com/office/drawing/2014/main" id="{EA51F3F0-AA1A-6A5D-2FF3-D99F9CD1946B}"/>
              </a:ext>
            </a:extLst>
          </p:cNvPr>
          <p:cNvSpPr>
            <a:spLocks noChangeAspect="1" noChangeArrowheads="1"/>
          </p:cNvSpPr>
          <p:nvPr/>
        </p:nvSpPr>
        <p:spPr bwMode="auto">
          <a:xfrm>
            <a:off x="1784350" y="7112000"/>
            <a:ext cx="514350" cy="571500"/>
          </a:xfrm>
          <a:prstGeom prst="leftRightArrow">
            <a:avLst>
              <a:gd name="adj1" fmla="val 50000"/>
              <a:gd name="adj2" fmla="val 30116"/>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4833" name="Rectangle 17">
            <a:extLst>
              <a:ext uri="{FF2B5EF4-FFF2-40B4-BE49-F238E27FC236}">
                <a16:creationId xmlns:a16="http://schemas.microsoft.com/office/drawing/2014/main" id="{79CE088D-3000-CA59-E05D-6298204F4188}"/>
              </a:ext>
            </a:extLst>
          </p:cNvPr>
          <p:cNvSpPr>
            <a:spLocks noChangeAspect="1" noChangeArrowheads="1"/>
          </p:cNvSpPr>
          <p:nvPr/>
        </p:nvSpPr>
        <p:spPr bwMode="auto">
          <a:xfrm flipH="1">
            <a:off x="2511425" y="6197600"/>
            <a:ext cx="1771650" cy="285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u="sng">
                <a:latin typeface="ＭＳ Ｐゴシック" panose="020B0600070205080204" pitchFamily="50" charset="-128"/>
              </a:rPr>
              <a:t>顧客の要望を満たす</a:t>
            </a:r>
            <a:r>
              <a:rPr lang="en-US" altLang="ja-JP" sz="1000" u="sng">
                <a:latin typeface="ＭＳ Ｐゴシック" panose="020B0600070205080204" pitchFamily="50" charset="-128"/>
              </a:rPr>
              <a:t>4</a:t>
            </a:r>
            <a:r>
              <a:rPr lang="ja-JP" altLang="en-US" sz="1000" u="sng">
                <a:latin typeface="ＭＳ Ｐゴシック" panose="020B0600070205080204" pitchFamily="50" charset="-128"/>
              </a:rPr>
              <a:t>Ｐ</a:t>
            </a:r>
          </a:p>
          <a:p>
            <a:pPr algn="ctr"/>
            <a:r>
              <a:rPr lang="ja-JP" altLang="en-US" sz="1000" u="sng">
                <a:latin typeface="ＭＳ Ｐゴシック" panose="020B0600070205080204" pitchFamily="50" charset="-128"/>
              </a:rPr>
              <a:t>（マーケティング・ミックス）</a:t>
            </a:r>
          </a:p>
        </p:txBody>
      </p:sp>
      <p:sp>
        <p:nvSpPr>
          <p:cNvPr id="1954834" name="AutoShape 18">
            <a:extLst>
              <a:ext uri="{FF2B5EF4-FFF2-40B4-BE49-F238E27FC236}">
                <a16:creationId xmlns:a16="http://schemas.microsoft.com/office/drawing/2014/main" id="{E31FCA6C-1F56-A4FD-D160-F58AA8F271B3}"/>
              </a:ext>
            </a:extLst>
          </p:cNvPr>
          <p:cNvSpPr>
            <a:spLocks noChangeAspect="1" noChangeArrowheads="1"/>
          </p:cNvSpPr>
          <p:nvPr/>
        </p:nvSpPr>
        <p:spPr bwMode="auto">
          <a:xfrm>
            <a:off x="4552950" y="8667750"/>
            <a:ext cx="1771650" cy="400050"/>
          </a:xfrm>
          <a:prstGeom prst="wedgeRectCallout">
            <a:avLst>
              <a:gd name="adj1" fmla="val -23657"/>
              <a:gd name="adj2" fmla="val -87301"/>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pPr algn="l"/>
            <a:r>
              <a:rPr lang="ja-JP" altLang="en-US" sz="900">
                <a:latin typeface="ＭＳ Ｐゴシック" panose="020B0600070205080204" pitchFamily="50" charset="-128"/>
              </a:rPr>
              <a:t>マーケティング戦略を実現するための企業活動</a:t>
            </a:r>
          </a:p>
        </p:txBody>
      </p:sp>
      <p:sp>
        <p:nvSpPr>
          <p:cNvPr id="1954835" name="Freeform 19">
            <a:extLst>
              <a:ext uri="{FF2B5EF4-FFF2-40B4-BE49-F238E27FC236}">
                <a16:creationId xmlns:a16="http://schemas.microsoft.com/office/drawing/2014/main" id="{A4327F43-8F10-D8C0-91D2-0E2EEF93CB88}"/>
              </a:ext>
            </a:extLst>
          </p:cNvPr>
          <p:cNvSpPr>
            <a:spLocks noChangeAspect="1"/>
          </p:cNvSpPr>
          <p:nvPr/>
        </p:nvSpPr>
        <p:spPr bwMode="auto">
          <a:xfrm>
            <a:off x="723900" y="8458200"/>
            <a:ext cx="2686050" cy="609600"/>
          </a:xfrm>
          <a:custGeom>
            <a:avLst/>
            <a:gdLst>
              <a:gd name="T0" fmla="*/ 0 w 1692"/>
              <a:gd name="T1" fmla="*/ 132 h 384"/>
              <a:gd name="T2" fmla="*/ 432 w 1692"/>
              <a:gd name="T3" fmla="*/ 132 h 384"/>
              <a:gd name="T4" fmla="*/ 392 w 1692"/>
              <a:gd name="T5" fmla="*/ 0 h 384"/>
              <a:gd name="T6" fmla="*/ 485 w 1692"/>
              <a:gd name="T7" fmla="*/ 132 h 384"/>
              <a:gd name="T8" fmla="*/ 1224 w 1692"/>
              <a:gd name="T9" fmla="*/ 132 h 384"/>
              <a:gd name="T10" fmla="*/ 1296 w 1692"/>
              <a:gd name="T11" fmla="*/ 32 h 384"/>
              <a:gd name="T12" fmla="*/ 1294 w 1692"/>
              <a:gd name="T13" fmla="*/ 60 h 384"/>
              <a:gd name="T14" fmla="*/ 1294 w 1692"/>
              <a:gd name="T15" fmla="*/ 132 h 384"/>
              <a:gd name="T16" fmla="*/ 1692 w 1692"/>
              <a:gd name="T17" fmla="*/ 132 h 384"/>
              <a:gd name="T18" fmla="*/ 1692 w 1692"/>
              <a:gd name="T19" fmla="*/ 384 h 384"/>
              <a:gd name="T20" fmla="*/ 0 w 1692"/>
              <a:gd name="T21" fmla="*/ 384 h 384"/>
              <a:gd name="T22" fmla="*/ 0 w 1692"/>
              <a:gd name="T23" fmla="*/ 13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2" h="384">
                <a:moveTo>
                  <a:pt x="0" y="132"/>
                </a:moveTo>
                <a:lnTo>
                  <a:pt x="432" y="132"/>
                </a:lnTo>
                <a:lnTo>
                  <a:pt x="392" y="0"/>
                </a:lnTo>
                <a:lnTo>
                  <a:pt x="485" y="132"/>
                </a:lnTo>
                <a:lnTo>
                  <a:pt x="1224" y="132"/>
                </a:lnTo>
                <a:lnTo>
                  <a:pt x="1296" y="32"/>
                </a:lnTo>
                <a:lnTo>
                  <a:pt x="1294" y="60"/>
                </a:lnTo>
                <a:lnTo>
                  <a:pt x="1294" y="132"/>
                </a:lnTo>
                <a:lnTo>
                  <a:pt x="1692" y="132"/>
                </a:lnTo>
                <a:lnTo>
                  <a:pt x="1692" y="384"/>
                </a:lnTo>
                <a:lnTo>
                  <a:pt x="0" y="384"/>
                </a:lnTo>
                <a:lnTo>
                  <a:pt x="0" y="132"/>
                </a:lnTo>
                <a:close/>
              </a:path>
            </a:pathLst>
          </a:custGeom>
          <a:solidFill>
            <a:schemeClr val="bg1"/>
          </a:solid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4836" name="AutoShape 20">
            <a:extLst>
              <a:ext uri="{FF2B5EF4-FFF2-40B4-BE49-F238E27FC236}">
                <a16:creationId xmlns:a16="http://schemas.microsoft.com/office/drawing/2014/main" id="{72C971F3-1D23-0623-573C-6CC686D33BDB}"/>
              </a:ext>
            </a:extLst>
          </p:cNvPr>
          <p:cNvSpPr>
            <a:spLocks noChangeAspect="1" noChangeArrowheads="1"/>
          </p:cNvSpPr>
          <p:nvPr/>
        </p:nvSpPr>
        <p:spPr bwMode="auto">
          <a:xfrm>
            <a:off x="723900" y="8667750"/>
            <a:ext cx="2806700" cy="400050"/>
          </a:xfrm>
          <a:prstGeom prst="wedgeRectCallout">
            <a:avLst>
              <a:gd name="adj1" fmla="val -37782"/>
              <a:gd name="adj2" fmla="val -132542"/>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l"/>
            <a:r>
              <a:rPr lang="ja-JP" altLang="en-US" sz="900">
                <a:latin typeface="ＭＳ Ｐゴシック" panose="020B0600070205080204" pitchFamily="50" charset="-128"/>
              </a:rPr>
              <a:t>利益を出す顧客にターゲットを絞り、そのターゲットの顧客満足を満たすことのできる</a:t>
            </a:r>
            <a:r>
              <a:rPr lang="en-US" altLang="ja-JP" sz="900">
                <a:latin typeface="ＭＳ Ｐゴシック" panose="020B0600070205080204" pitchFamily="50" charset="-128"/>
              </a:rPr>
              <a:t>4P</a:t>
            </a:r>
            <a:r>
              <a:rPr lang="ja-JP" altLang="en-US" sz="900">
                <a:latin typeface="ＭＳ Ｐゴシック" panose="020B0600070205080204" pitchFamily="50" charset="-128"/>
              </a:rPr>
              <a:t>を設定する</a:t>
            </a:r>
          </a:p>
        </p:txBody>
      </p:sp>
      <p:sp>
        <p:nvSpPr>
          <p:cNvPr id="1954837" name="AutoShape 21">
            <a:extLst>
              <a:ext uri="{FF2B5EF4-FFF2-40B4-BE49-F238E27FC236}">
                <a16:creationId xmlns:a16="http://schemas.microsoft.com/office/drawing/2014/main" id="{1EEFB69D-73E6-3E51-3FAD-85BFF562BCAB}"/>
              </a:ext>
            </a:extLst>
          </p:cNvPr>
          <p:cNvSpPr>
            <a:spLocks noChangeAspect="1" noChangeArrowheads="1"/>
          </p:cNvSpPr>
          <p:nvPr/>
        </p:nvSpPr>
        <p:spPr bwMode="auto">
          <a:xfrm>
            <a:off x="2298700" y="6140450"/>
            <a:ext cx="2197100" cy="2400300"/>
          </a:xfrm>
          <a:prstGeom prst="flowChartAlternateProcess">
            <a:avLst/>
          </a:prstGeom>
          <a:noFill/>
          <a:ln w="38100">
            <a:solidFill>
              <a:schemeClr val="accent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4838" name="Rectangle 22">
            <a:extLst>
              <a:ext uri="{FF2B5EF4-FFF2-40B4-BE49-F238E27FC236}">
                <a16:creationId xmlns:a16="http://schemas.microsoft.com/office/drawing/2014/main" id="{D59EAF80-6EC5-FB31-8B3C-59D802118FBE}"/>
              </a:ext>
            </a:extLst>
          </p:cNvPr>
          <p:cNvSpPr>
            <a:spLocks noChangeAspect="1" noChangeArrowheads="1"/>
          </p:cNvSpPr>
          <p:nvPr/>
        </p:nvSpPr>
        <p:spPr bwMode="auto">
          <a:xfrm flipH="1">
            <a:off x="2327275" y="6540500"/>
            <a:ext cx="2139950" cy="18859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54000" bIns="10800"/>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ü"/>
            </a:pPr>
            <a:r>
              <a:rPr lang="en-US" altLang="ja-JP" sz="1000" u="sng">
                <a:latin typeface="ＭＳ Ｐゴシック" panose="020B0600070205080204" pitchFamily="50" charset="-128"/>
              </a:rPr>
              <a:t>Product</a:t>
            </a:r>
            <a:r>
              <a:rPr lang="ja-JP" altLang="en-US" sz="1000" u="sng">
                <a:latin typeface="ＭＳ Ｐゴシック" panose="020B0600070205080204" pitchFamily="50" charset="-128"/>
              </a:rPr>
              <a:t>（製品）</a:t>
            </a:r>
          </a:p>
          <a:p>
            <a:pPr>
              <a:buFont typeface="Wingdings" panose="05000000000000000000" pitchFamily="2" charset="2"/>
              <a:buNone/>
            </a:pPr>
            <a:r>
              <a:rPr lang="ja-JP" altLang="en-US" sz="800">
                <a:latin typeface="ＭＳ Ｐゴシック" panose="020B0600070205080204" pitchFamily="50" charset="-128"/>
              </a:rPr>
              <a:t>製品種類、品質、デザイン、製品特徴、ブランド名、パッケージング、保証、アフターサービス</a:t>
            </a:r>
          </a:p>
          <a:p>
            <a:pPr>
              <a:lnSpc>
                <a:spcPct val="130000"/>
              </a:lnSpc>
              <a:spcBef>
                <a:spcPct val="20000"/>
              </a:spcBef>
              <a:buFont typeface="Wingdings" panose="05000000000000000000" pitchFamily="2" charset="2"/>
              <a:buChar char="ü"/>
            </a:pPr>
            <a:r>
              <a:rPr lang="en-US" altLang="ja-JP" sz="1000" u="sng">
                <a:latin typeface="ＭＳ Ｐゴシック" panose="020B0600070205080204" pitchFamily="50" charset="-128"/>
              </a:rPr>
              <a:t>Price</a:t>
            </a:r>
            <a:r>
              <a:rPr lang="ja-JP" altLang="en-US" sz="1000" u="sng">
                <a:latin typeface="ＭＳ Ｐゴシック" panose="020B0600070205080204" pitchFamily="50" charset="-128"/>
              </a:rPr>
              <a:t>（価格）</a:t>
            </a:r>
          </a:p>
          <a:p>
            <a:pPr>
              <a:buFont typeface="Wingdings" panose="05000000000000000000" pitchFamily="2" charset="2"/>
              <a:buNone/>
            </a:pPr>
            <a:r>
              <a:rPr lang="ja-JP" altLang="en-US" sz="800">
                <a:latin typeface="ＭＳ Ｐゴシック" panose="020B0600070205080204" pitchFamily="50" charset="-128"/>
              </a:rPr>
              <a:t>定価、値引・割引、優遇条件、支払期限、信用取引条件</a:t>
            </a:r>
          </a:p>
          <a:p>
            <a:pPr>
              <a:lnSpc>
                <a:spcPct val="0"/>
              </a:lnSpc>
              <a:buFont typeface="Wingdings" panose="05000000000000000000" pitchFamily="2" charset="2"/>
              <a:buNone/>
            </a:pPr>
            <a:endParaRPr lang="ja-JP" altLang="en-US" sz="800">
              <a:latin typeface="ＭＳ Ｐゴシック" panose="020B0600070205080204" pitchFamily="50" charset="-128"/>
            </a:endParaRPr>
          </a:p>
          <a:p>
            <a:pPr>
              <a:lnSpc>
                <a:spcPct val="130000"/>
              </a:lnSpc>
              <a:spcBef>
                <a:spcPct val="20000"/>
              </a:spcBef>
              <a:buFont typeface="Wingdings" panose="05000000000000000000" pitchFamily="2" charset="2"/>
              <a:buChar char="ü"/>
            </a:pPr>
            <a:r>
              <a:rPr lang="en-US" altLang="ja-JP" sz="1000" u="sng">
                <a:latin typeface="ＭＳ Ｐゴシック" panose="020B0600070205080204" pitchFamily="50" charset="-128"/>
              </a:rPr>
              <a:t>Place</a:t>
            </a:r>
            <a:r>
              <a:rPr lang="ja-JP" altLang="en-US" sz="1000" u="sng">
                <a:latin typeface="ＭＳ Ｐゴシック" panose="020B0600070205080204" pitchFamily="50" charset="-128"/>
              </a:rPr>
              <a:t>（流通チャネル</a:t>
            </a:r>
            <a:r>
              <a:rPr lang="ja-JP" altLang="en-US" sz="1400" u="sng">
                <a:latin typeface="ＭＳ Ｐゴシック" panose="020B0600070205080204" pitchFamily="50" charset="-128"/>
              </a:rPr>
              <a:t>）</a:t>
            </a:r>
          </a:p>
          <a:p>
            <a:pPr>
              <a:buFont typeface="Wingdings" panose="05000000000000000000" pitchFamily="2" charset="2"/>
              <a:buNone/>
            </a:pPr>
            <a:r>
              <a:rPr lang="ja-JP" altLang="en-US" sz="800">
                <a:latin typeface="ＭＳ Ｐゴシック" panose="020B0600070205080204" pitchFamily="50" charset="-128"/>
              </a:rPr>
              <a:t>チャネル、輸送、流通範囲、品揃え、立地、在庫</a:t>
            </a:r>
          </a:p>
          <a:p>
            <a:pPr>
              <a:lnSpc>
                <a:spcPct val="130000"/>
              </a:lnSpc>
              <a:spcBef>
                <a:spcPct val="20000"/>
              </a:spcBef>
              <a:buFont typeface="Wingdings" panose="05000000000000000000" pitchFamily="2" charset="2"/>
              <a:buChar char="ü"/>
            </a:pPr>
            <a:r>
              <a:rPr lang="en-US" altLang="ja-JP" sz="1000" u="sng">
                <a:latin typeface="ＭＳ Ｐゴシック" panose="020B0600070205080204" pitchFamily="50" charset="-128"/>
              </a:rPr>
              <a:t>Promotion</a:t>
            </a:r>
            <a:r>
              <a:rPr lang="ja-JP" altLang="en-US" sz="1000" u="sng">
                <a:latin typeface="ＭＳ Ｐゴシック" panose="020B0600070205080204" pitchFamily="50" charset="-128"/>
              </a:rPr>
              <a:t>（プロモーション）</a:t>
            </a:r>
          </a:p>
          <a:p>
            <a:pPr>
              <a:buFont typeface="Wingdings" panose="05000000000000000000" pitchFamily="2" charset="2"/>
              <a:buNone/>
            </a:pPr>
            <a:r>
              <a:rPr lang="ja-JP" altLang="en-US" sz="800">
                <a:latin typeface="ＭＳ Ｐゴシック" panose="020B0600070205080204" pitchFamily="50" charset="-128"/>
              </a:rPr>
              <a:t>販売促進（</a:t>
            </a:r>
            <a:r>
              <a:rPr lang="en-US" altLang="ja-JP" sz="800">
                <a:latin typeface="ＭＳ Ｐゴシック" panose="020B0600070205080204" pitchFamily="50" charset="-128"/>
              </a:rPr>
              <a:t>SP</a:t>
            </a:r>
            <a:r>
              <a:rPr lang="ja-JP" altLang="en-US" sz="800">
                <a:latin typeface="ＭＳ Ｐゴシック" panose="020B0600070205080204" pitchFamily="50" charset="-128"/>
              </a:rPr>
              <a:t>）、広告（</a:t>
            </a:r>
            <a:r>
              <a:rPr lang="en-US" altLang="ja-JP" sz="800">
                <a:latin typeface="ＭＳ Ｐゴシック" panose="020B0600070205080204" pitchFamily="50" charset="-128"/>
              </a:rPr>
              <a:t>AD</a:t>
            </a:r>
            <a:r>
              <a:rPr lang="ja-JP" altLang="en-US" sz="800">
                <a:latin typeface="ＭＳ Ｐゴシック" panose="020B0600070205080204" pitchFamily="50" charset="-128"/>
              </a:rPr>
              <a:t>）、広報（</a:t>
            </a:r>
            <a:r>
              <a:rPr lang="en-US" altLang="ja-JP" sz="800">
                <a:latin typeface="ＭＳ Ｐゴシック" panose="020B0600070205080204" pitchFamily="50" charset="-128"/>
              </a:rPr>
              <a:t>PR</a:t>
            </a:r>
            <a:r>
              <a:rPr lang="ja-JP" altLang="en-US" sz="800">
                <a:latin typeface="ＭＳ Ｐゴシック" panose="020B0600070205080204" pitchFamily="50" charset="-128"/>
              </a:rPr>
              <a:t>）、セールス・フォース、ダイレクト・マーケティング、インターネット・マーケティング</a:t>
            </a:r>
          </a:p>
        </p:txBody>
      </p:sp>
      <p:sp>
        <p:nvSpPr>
          <p:cNvPr id="1954839" name="Line 23">
            <a:extLst>
              <a:ext uri="{FF2B5EF4-FFF2-40B4-BE49-F238E27FC236}">
                <a16:creationId xmlns:a16="http://schemas.microsoft.com/office/drawing/2014/main" id="{21564F6C-B149-9646-4E8D-3E2B69DDC6A5}"/>
              </a:ext>
            </a:extLst>
          </p:cNvPr>
          <p:cNvSpPr>
            <a:spLocks noChangeShapeType="1"/>
          </p:cNvSpPr>
          <p:nvPr/>
        </p:nvSpPr>
        <p:spPr bwMode="auto">
          <a:xfrm>
            <a:off x="533400" y="16002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grpSp>
        <p:nvGrpSpPr>
          <p:cNvPr id="1954843" name="Group 27">
            <a:extLst>
              <a:ext uri="{FF2B5EF4-FFF2-40B4-BE49-F238E27FC236}">
                <a16:creationId xmlns:a16="http://schemas.microsoft.com/office/drawing/2014/main" id="{D483832F-F950-4A42-F01E-73E216CD9C5C}"/>
              </a:ext>
            </a:extLst>
          </p:cNvPr>
          <p:cNvGrpSpPr>
            <a:grpSpLocks/>
          </p:cNvGrpSpPr>
          <p:nvPr/>
        </p:nvGrpSpPr>
        <p:grpSpPr bwMode="auto">
          <a:xfrm>
            <a:off x="4267200" y="0"/>
            <a:ext cx="2286000" cy="228600"/>
            <a:chOff x="2928" y="-48"/>
            <a:chExt cx="1392" cy="192"/>
          </a:xfrm>
        </p:grpSpPr>
        <p:sp>
          <p:nvSpPr>
            <p:cNvPr id="1954844" name="Line 28">
              <a:extLst>
                <a:ext uri="{FF2B5EF4-FFF2-40B4-BE49-F238E27FC236}">
                  <a16:creationId xmlns:a16="http://schemas.microsoft.com/office/drawing/2014/main" id="{B5E8C231-5FEB-35E2-047D-B910D91738A9}"/>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54845" name="Rectangle 29">
              <a:extLst>
                <a:ext uri="{FF2B5EF4-FFF2-40B4-BE49-F238E27FC236}">
                  <a16:creationId xmlns:a16="http://schemas.microsoft.com/office/drawing/2014/main" id="{ACD7F457-E5A4-E7E0-BE98-473D6CECDB5B}"/>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ＭＳ Ｐゴシック" panose="020B0600070205080204" pitchFamily="50" charset="-128"/>
                </a:rPr>
                <a:t>Ⅲ</a:t>
              </a:r>
              <a:r>
                <a:rPr lang="ja-JP" altLang="en-US" sz="1000">
                  <a:latin typeface="ＭＳ Ｐゴシック" panose="020B0600070205080204" pitchFamily="50" charset="-128"/>
                </a:rPr>
                <a:t>　経営助言の実践に関する論点</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7890" name="Rectangle 2">
            <a:extLst>
              <a:ext uri="{FF2B5EF4-FFF2-40B4-BE49-F238E27FC236}">
                <a16:creationId xmlns:a16="http://schemas.microsoft.com/office/drawing/2014/main" id="{26AD0C7A-6B50-8B80-FF93-8754EDB3B0D2}"/>
              </a:ext>
            </a:extLst>
          </p:cNvPr>
          <p:cNvSpPr>
            <a:spLocks noChangeArrowheads="1"/>
          </p:cNvSpPr>
          <p:nvPr/>
        </p:nvSpPr>
        <p:spPr bwMode="auto">
          <a:xfrm>
            <a:off x="914400" y="1600200"/>
            <a:ext cx="5410200" cy="3505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defRPr kumimoji="1" sz="2400">
                <a:solidFill>
                  <a:schemeClr val="tx1"/>
                </a:solidFill>
                <a:latin typeface="Times New Roman" panose="02020603050405020304" pitchFamily="18" charset="0"/>
                <a:ea typeface="ＭＳ Ｐゴシック" panose="020B0600070205080204" pitchFamily="50" charset="-128"/>
              </a:defRPr>
            </a:lvl1pPr>
            <a:lvl2pPr marL="571500" indent="-88900" algn="l">
              <a:defRPr kumimoji="1" sz="2400">
                <a:solidFill>
                  <a:schemeClr val="tx1"/>
                </a:solidFill>
                <a:latin typeface="Times New Roman" panose="02020603050405020304" pitchFamily="18" charset="0"/>
                <a:ea typeface="ＭＳ Ｐゴシック" panose="020B0600070205080204" pitchFamily="50" charset="-128"/>
              </a:defRPr>
            </a:lvl2pPr>
            <a:lvl3pPr marL="863600" indent="-101600"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マーケティング戦略を策定する作業としては、「市場機会の発見」、「ターゲット市場・顧客の選定」、「マーケティング・ミックスの設定」という３段階があります（図表</a:t>
            </a:r>
            <a:r>
              <a:rPr lang="en-US" altLang="ja-JP" sz="1000">
                <a:latin typeface="ＭＳ Ｐ明朝" panose="02020600040205080304" pitchFamily="18" charset="-128"/>
                <a:ea typeface="ＭＳ Ｐ明朝" panose="02020600040205080304" pitchFamily="18" charset="-128"/>
              </a:rPr>
              <a:t>3-1-3</a:t>
            </a:r>
            <a:r>
              <a:rPr lang="ja-JP" altLang="en-US" sz="1000">
                <a:latin typeface="ＭＳ Ｐ明朝" panose="02020600040205080304" pitchFamily="18" charset="-128"/>
                <a:ea typeface="ＭＳ Ｐ明朝" panose="02020600040205080304" pitchFamily="18" charset="-128"/>
              </a:rPr>
              <a:t>参照）。</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「市場機会の発見」では、顧客ニーズや競合他社動向、供給業者や市場全体の概況といった様々なマーケティング環境要因に加えて、自社の経営資源の分析を通じて </a:t>
            </a:r>
            <a:r>
              <a:rPr lang="en-US" altLang="ja-JP" sz="1000">
                <a:latin typeface="ＭＳ Ｐ明朝" panose="02020600040205080304" pitchFamily="18" charset="-128"/>
                <a:ea typeface="ＭＳ Ｐ明朝" panose="02020600040205080304" pitchFamily="18" charset="-128"/>
              </a:rPr>
              <a:t>SWOT</a:t>
            </a:r>
            <a:r>
              <a:rPr lang="ja-JP" altLang="en-US" sz="1000">
                <a:latin typeface="ＭＳ Ｐ明朝" panose="02020600040205080304" pitchFamily="18" charset="-128"/>
                <a:ea typeface="ＭＳ Ｐ明朝" panose="02020600040205080304" pitchFamily="18" charset="-128"/>
              </a:rPr>
              <a:t>分析を行い、市場の機会と脅威／自社の強みと弱みを洗い出します。（「市場機会の発見」については、「経営計画策定支援」コースの「計画策定のための分析」「経営戦略の策定」において解説しておりますので、ご参照ください。）</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ターゲット市場・顧客の選定」においては、いくつかの基準により市場をセグメンテーション（細分化）します。そして自社が最も優位に事業を展開できるようなセグメントを選択し、そのセグメントにおいて自社の商品・サービスが競合他社と比較して顧客の認識の中で望ましい位置を占められるよう方向性を定め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「マーケティング・ミックスの設定」では、自社の商品・サービスの便益がターゲットとしたセグメントの顧客に効果的に伝わるように、先述の</a:t>
            </a:r>
            <a:r>
              <a:rPr lang="en-US" altLang="ja-JP" sz="1000">
                <a:latin typeface="ＭＳ Ｐ明朝" panose="02020600040205080304" pitchFamily="18" charset="-128"/>
                <a:ea typeface="ＭＳ Ｐ明朝" panose="02020600040205080304" pitchFamily="18" charset="-128"/>
              </a:rPr>
              <a:t>4P</a:t>
            </a:r>
            <a:r>
              <a:rPr lang="ja-JP" altLang="en-US" sz="1000">
                <a:latin typeface="ＭＳ Ｐ明朝" panose="02020600040205080304" pitchFamily="18" charset="-128"/>
                <a:ea typeface="ＭＳ Ｐ明朝" panose="02020600040205080304" pitchFamily="18" charset="-128"/>
              </a:rPr>
              <a:t>「何を（</a:t>
            </a:r>
            <a:r>
              <a:rPr lang="en-US" altLang="ja-JP" sz="1000">
                <a:latin typeface="ＭＳ Ｐ明朝" panose="02020600040205080304" pitchFamily="18" charset="-128"/>
                <a:ea typeface="ＭＳ Ｐ明朝" panose="02020600040205080304" pitchFamily="18" charset="-128"/>
              </a:rPr>
              <a:t>Product</a:t>
            </a:r>
            <a:r>
              <a:rPr lang="ja-JP" altLang="en-US" sz="1000">
                <a:latin typeface="ＭＳ Ｐ明朝" panose="02020600040205080304" pitchFamily="18" charset="-128"/>
                <a:ea typeface="ＭＳ Ｐ明朝" panose="02020600040205080304" pitchFamily="18" charset="-128"/>
              </a:rPr>
              <a:t>）」、「いくらで（</a:t>
            </a:r>
            <a:r>
              <a:rPr lang="en-US" altLang="ja-JP" sz="1000">
                <a:latin typeface="ＭＳ Ｐ明朝" panose="02020600040205080304" pitchFamily="18" charset="-128"/>
                <a:ea typeface="ＭＳ Ｐ明朝" panose="02020600040205080304" pitchFamily="18" charset="-128"/>
              </a:rPr>
              <a:t>Price</a:t>
            </a:r>
            <a:r>
              <a:rPr lang="ja-JP" altLang="en-US" sz="1000">
                <a:latin typeface="ＭＳ Ｐ明朝" panose="02020600040205080304" pitchFamily="18" charset="-128"/>
                <a:ea typeface="ＭＳ Ｐ明朝" panose="02020600040205080304" pitchFamily="18" charset="-128"/>
              </a:rPr>
              <a:t>） 」、「どこで（</a:t>
            </a:r>
            <a:r>
              <a:rPr lang="en-US" altLang="ja-JP" sz="1000">
                <a:latin typeface="ＭＳ Ｐ明朝" panose="02020600040205080304" pitchFamily="18" charset="-128"/>
                <a:ea typeface="ＭＳ Ｐ明朝" panose="02020600040205080304" pitchFamily="18" charset="-128"/>
              </a:rPr>
              <a:t>Place</a:t>
            </a:r>
            <a:r>
              <a:rPr lang="ja-JP" altLang="en-US" sz="1000">
                <a:latin typeface="ＭＳ Ｐ明朝" panose="02020600040205080304" pitchFamily="18" charset="-128"/>
                <a:ea typeface="ＭＳ Ｐ明朝" panose="02020600040205080304" pitchFamily="18" charset="-128"/>
              </a:rPr>
              <a:t>）」、「どうやって（</a:t>
            </a:r>
            <a:r>
              <a:rPr lang="en-US" altLang="ja-JP" sz="1000">
                <a:latin typeface="ＭＳ Ｐ明朝" panose="02020600040205080304" pitchFamily="18" charset="-128"/>
                <a:ea typeface="ＭＳ Ｐ明朝" panose="02020600040205080304" pitchFamily="18" charset="-128"/>
              </a:rPr>
              <a:t>Promotion</a:t>
            </a:r>
            <a:r>
              <a:rPr lang="ja-JP" altLang="en-US" sz="1000">
                <a:latin typeface="ＭＳ Ｐ明朝" panose="02020600040205080304" pitchFamily="18" charset="-128"/>
                <a:ea typeface="ＭＳ Ｐ明朝" panose="02020600040205080304" pitchFamily="18" charset="-128"/>
              </a:rPr>
              <a:t>）」売るかについての自社としての方針を定めます。</a:t>
            </a:r>
          </a:p>
        </p:txBody>
      </p:sp>
      <p:sp>
        <p:nvSpPr>
          <p:cNvPr id="1957893" name="Rectangle 5">
            <a:extLst>
              <a:ext uri="{FF2B5EF4-FFF2-40B4-BE49-F238E27FC236}">
                <a16:creationId xmlns:a16="http://schemas.microsoft.com/office/drawing/2014/main" id="{6EF31019-C5BD-88B3-EBB2-D062C2022B51}"/>
              </a:ext>
            </a:extLst>
          </p:cNvPr>
          <p:cNvSpPr>
            <a:spLocks noChangeArrowheads="1"/>
          </p:cNvSpPr>
          <p:nvPr/>
        </p:nvSpPr>
        <p:spPr bwMode="auto">
          <a:xfrm>
            <a:off x="533400" y="65532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3-1-3</a:t>
            </a:r>
          </a:p>
        </p:txBody>
      </p:sp>
      <p:sp>
        <p:nvSpPr>
          <p:cNvPr id="1957894" name="Rectangle 6">
            <a:extLst>
              <a:ext uri="{FF2B5EF4-FFF2-40B4-BE49-F238E27FC236}">
                <a16:creationId xmlns:a16="http://schemas.microsoft.com/office/drawing/2014/main" id="{906F224A-22AD-A9AF-2D12-D912C3D0D5F9}"/>
              </a:ext>
            </a:extLst>
          </p:cNvPr>
          <p:cNvSpPr>
            <a:spLocks noChangeArrowheads="1"/>
          </p:cNvSpPr>
          <p:nvPr/>
        </p:nvSpPr>
        <p:spPr bwMode="auto">
          <a:xfrm>
            <a:off x="1482725" y="65532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マーケティングのプロセス</a:t>
            </a:r>
          </a:p>
        </p:txBody>
      </p:sp>
      <p:pic>
        <p:nvPicPr>
          <p:cNvPr id="1957904" name="Picture 16">
            <a:extLst>
              <a:ext uri="{FF2B5EF4-FFF2-40B4-BE49-F238E27FC236}">
                <a16:creationId xmlns:a16="http://schemas.microsoft.com/office/drawing/2014/main" id="{10B5F079-552B-F707-8D90-676E355FEE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6934200"/>
            <a:ext cx="5791200" cy="19986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8914" name="Rectangle 2">
            <a:extLst>
              <a:ext uri="{FF2B5EF4-FFF2-40B4-BE49-F238E27FC236}">
                <a16:creationId xmlns:a16="http://schemas.microsoft.com/office/drawing/2014/main" id="{167DB735-62FB-CCEB-3A96-51738C68053B}"/>
              </a:ext>
            </a:extLst>
          </p:cNvPr>
          <p:cNvSpPr>
            <a:spLocks noChangeArrowheads="1"/>
          </p:cNvSpPr>
          <p:nvPr/>
        </p:nvSpPr>
        <p:spPr bwMode="auto">
          <a:xfrm>
            <a:off x="914400" y="1600200"/>
            <a:ext cx="5410200" cy="3048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セグメンテーションとは、既存顧客や潜在顧客群をその属性や行動様式などから分類して、特定の市場規模を擁する単位まで分割することです。市場が成熟し顧客ニーズが多様化してきた現在では、セグメンテーションを行うことで顧客に対してきめ細かい対応をすることが有意義で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セグメンテーションの基準と方法に普遍的なものはありません。製品特性、企業が保有する経営資源、競合他社の戦略、その他の環境要因によりセグメンテーションのあり方も変化するからです。ただし一般論として、以下の</a:t>
            </a:r>
            <a:r>
              <a:rPr lang="en-US" altLang="ja-JP" sz="1000">
                <a:latin typeface="ＭＳ Ｐ明朝" panose="02020600040205080304" pitchFamily="18" charset="-128"/>
                <a:ea typeface="ＭＳ Ｐ明朝" panose="02020600040205080304" pitchFamily="18" charset="-128"/>
              </a:rPr>
              <a:t>4</a:t>
            </a:r>
            <a:r>
              <a:rPr lang="ja-JP" altLang="en-US" sz="1000">
                <a:latin typeface="ＭＳ Ｐ明朝" panose="02020600040205080304" pitchFamily="18" charset="-128"/>
                <a:ea typeface="ＭＳ Ｐ明朝" panose="02020600040205080304" pitchFamily="18" charset="-128"/>
              </a:rPr>
              <a:t>つの変数（パラメーター）を適宜組み合わせてセグメンテーションを行うことは多くあります。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　①ジオグラフィック変数（地理的変数）：　最も基本的で使用頻度が高い変数。</a:t>
            </a:r>
          </a:p>
          <a:p>
            <a:pPr>
              <a:lnSpc>
                <a:spcPct val="120000"/>
              </a:lnSpc>
            </a:pPr>
            <a:r>
              <a:rPr lang="ja-JP" altLang="en-US" sz="1000">
                <a:latin typeface="ＭＳ Ｐ明朝" panose="02020600040205080304" pitchFamily="18" charset="-128"/>
                <a:ea typeface="ＭＳ Ｐ明朝" panose="02020600040205080304" pitchFamily="18" charset="-128"/>
              </a:rPr>
              <a:t>　②デモグラフィック変数（人口統計的変数）：　消費財のマーケティングで特に重要視される変数。</a:t>
            </a:r>
          </a:p>
          <a:p>
            <a:pPr>
              <a:lnSpc>
                <a:spcPct val="120000"/>
              </a:lnSpc>
            </a:pPr>
            <a:r>
              <a:rPr lang="ja-JP" altLang="en-US" sz="1000">
                <a:latin typeface="ＭＳ Ｐ明朝" panose="02020600040205080304" pitchFamily="18" charset="-128"/>
                <a:ea typeface="ＭＳ Ｐ明朝" panose="02020600040205080304" pitchFamily="18" charset="-128"/>
              </a:rPr>
              <a:t>　③サイコグラフィック変数（心理的変数）：　消費者の生活様式やパーソナリティ等を基本とした変数。</a:t>
            </a:r>
          </a:p>
          <a:p>
            <a:pPr>
              <a:lnSpc>
                <a:spcPct val="120000"/>
              </a:lnSpc>
            </a:pPr>
            <a:r>
              <a:rPr lang="ja-JP" altLang="en-US" sz="1000">
                <a:latin typeface="ＭＳ Ｐ明朝" panose="02020600040205080304" pitchFamily="18" charset="-128"/>
                <a:ea typeface="ＭＳ Ｐ明朝" panose="02020600040205080304" pitchFamily="18" charset="-128"/>
              </a:rPr>
              <a:t>　④行動変数：　買い手の製品に対する知識・態度等に関する変数。</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各変数の要素については、図表</a:t>
            </a:r>
            <a:r>
              <a:rPr lang="en-US" altLang="ja-JP" sz="1000">
                <a:latin typeface="ＭＳ Ｐ明朝" panose="02020600040205080304" pitchFamily="18" charset="-128"/>
                <a:ea typeface="ＭＳ Ｐ明朝" panose="02020600040205080304" pitchFamily="18" charset="-128"/>
              </a:rPr>
              <a:t>3-1-4</a:t>
            </a:r>
            <a:r>
              <a:rPr lang="ja-JP" altLang="en-US" sz="1000">
                <a:latin typeface="ＭＳ Ｐ明朝" panose="02020600040205080304" pitchFamily="18" charset="-128"/>
                <a:ea typeface="ＭＳ Ｐ明朝" panose="02020600040205080304" pitchFamily="18" charset="-128"/>
              </a:rPr>
              <a:t>を参照してください。</a:t>
            </a:r>
          </a:p>
        </p:txBody>
      </p:sp>
      <p:sp>
        <p:nvSpPr>
          <p:cNvPr id="1958915" name="Rectangle 3">
            <a:extLst>
              <a:ext uri="{FF2B5EF4-FFF2-40B4-BE49-F238E27FC236}">
                <a16:creationId xmlns:a16="http://schemas.microsoft.com/office/drawing/2014/main" id="{1D8CAF3B-4A0F-14A8-1888-0D442B83DE3B}"/>
              </a:ext>
            </a:extLst>
          </p:cNvPr>
          <p:cNvSpPr>
            <a:spLocks noChangeArrowheads="1"/>
          </p:cNvSpPr>
          <p:nvPr/>
        </p:nvSpPr>
        <p:spPr bwMode="auto">
          <a:xfrm>
            <a:off x="533400" y="12192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ターゲット市場・顧客の決定　①市場（顧客）のセグメンテーション</a:t>
            </a:r>
          </a:p>
        </p:txBody>
      </p:sp>
      <p:sp>
        <p:nvSpPr>
          <p:cNvPr id="1958916" name="Line 4">
            <a:extLst>
              <a:ext uri="{FF2B5EF4-FFF2-40B4-BE49-F238E27FC236}">
                <a16:creationId xmlns:a16="http://schemas.microsoft.com/office/drawing/2014/main" id="{295AB712-3376-E52F-B661-21C4086A6B63}"/>
              </a:ext>
            </a:extLst>
          </p:cNvPr>
          <p:cNvSpPr>
            <a:spLocks noChangeShapeType="1"/>
          </p:cNvSpPr>
          <p:nvPr/>
        </p:nvSpPr>
        <p:spPr bwMode="auto">
          <a:xfrm>
            <a:off x="533400" y="15240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58917" name="Rectangle 5">
            <a:extLst>
              <a:ext uri="{FF2B5EF4-FFF2-40B4-BE49-F238E27FC236}">
                <a16:creationId xmlns:a16="http://schemas.microsoft.com/office/drawing/2014/main" id="{2E1D160F-BC33-EC44-9950-BAC4A1E47923}"/>
              </a:ext>
            </a:extLst>
          </p:cNvPr>
          <p:cNvSpPr>
            <a:spLocks noChangeArrowheads="1"/>
          </p:cNvSpPr>
          <p:nvPr/>
        </p:nvSpPr>
        <p:spPr bwMode="auto">
          <a:xfrm>
            <a:off x="533400" y="48768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3-1-4</a:t>
            </a:r>
          </a:p>
        </p:txBody>
      </p:sp>
      <p:sp>
        <p:nvSpPr>
          <p:cNvPr id="1958918" name="Rectangle 6">
            <a:extLst>
              <a:ext uri="{FF2B5EF4-FFF2-40B4-BE49-F238E27FC236}">
                <a16:creationId xmlns:a16="http://schemas.microsoft.com/office/drawing/2014/main" id="{F9829A56-73B5-B2E4-6F2F-7486A5B8112D}"/>
              </a:ext>
            </a:extLst>
          </p:cNvPr>
          <p:cNvSpPr>
            <a:spLocks noChangeArrowheads="1"/>
          </p:cNvSpPr>
          <p:nvPr/>
        </p:nvSpPr>
        <p:spPr bwMode="auto">
          <a:xfrm>
            <a:off x="1482725" y="48768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セグメンテーションの実施</a:t>
            </a:r>
          </a:p>
        </p:txBody>
      </p:sp>
      <p:grpSp>
        <p:nvGrpSpPr>
          <p:cNvPr id="1958919" name="Group 7">
            <a:extLst>
              <a:ext uri="{FF2B5EF4-FFF2-40B4-BE49-F238E27FC236}">
                <a16:creationId xmlns:a16="http://schemas.microsoft.com/office/drawing/2014/main" id="{69ED259C-80AA-D691-DE3A-409114273E17}"/>
              </a:ext>
            </a:extLst>
          </p:cNvPr>
          <p:cNvGrpSpPr>
            <a:grpSpLocks/>
          </p:cNvGrpSpPr>
          <p:nvPr/>
        </p:nvGrpSpPr>
        <p:grpSpPr bwMode="auto">
          <a:xfrm>
            <a:off x="873125" y="5280025"/>
            <a:ext cx="1677988" cy="862013"/>
            <a:chOff x="576" y="2040"/>
            <a:chExt cx="1008" cy="696"/>
          </a:xfrm>
        </p:grpSpPr>
        <p:sp>
          <p:nvSpPr>
            <p:cNvPr id="1958920" name="Oval 8">
              <a:extLst>
                <a:ext uri="{FF2B5EF4-FFF2-40B4-BE49-F238E27FC236}">
                  <a16:creationId xmlns:a16="http://schemas.microsoft.com/office/drawing/2014/main" id="{820ADE7B-7E1F-E256-BB63-90E62F0DC58B}"/>
                </a:ext>
              </a:extLst>
            </p:cNvPr>
            <p:cNvSpPr>
              <a:spLocks noChangeArrowheads="1"/>
            </p:cNvSpPr>
            <p:nvPr/>
          </p:nvSpPr>
          <p:spPr bwMode="auto">
            <a:xfrm>
              <a:off x="576" y="2040"/>
              <a:ext cx="1008" cy="696"/>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nvGrpSpPr>
            <p:cNvPr id="1958921" name="Group 9">
              <a:extLst>
                <a:ext uri="{FF2B5EF4-FFF2-40B4-BE49-F238E27FC236}">
                  <a16:creationId xmlns:a16="http://schemas.microsoft.com/office/drawing/2014/main" id="{A5AC7C6E-6E04-2F4C-E9D7-D265D7668CCF}"/>
                </a:ext>
              </a:extLst>
            </p:cNvPr>
            <p:cNvGrpSpPr>
              <a:grpSpLocks noChangeAspect="1"/>
            </p:cNvGrpSpPr>
            <p:nvPr/>
          </p:nvGrpSpPr>
          <p:grpSpPr bwMode="auto">
            <a:xfrm>
              <a:off x="816" y="2112"/>
              <a:ext cx="77" cy="147"/>
              <a:chOff x="816" y="2160"/>
              <a:chExt cx="96" cy="184"/>
            </a:xfrm>
          </p:grpSpPr>
          <p:sp>
            <p:nvSpPr>
              <p:cNvPr id="1958922" name="Oval 10">
                <a:extLst>
                  <a:ext uri="{FF2B5EF4-FFF2-40B4-BE49-F238E27FC236}">
                    <a16:creationId xmlns:a16="http://schemas.microsoft.com/office/drawing/2014/main" id="{F03C1E74-7973-4712-8816-25CB8D65F2F1}"/>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23" name="AutoShape 11">
                <a:extLst>
                  <a:ext uri="{FF2B5EF4-FFF2-40B4-BE49-F238E27FC236}">
                    <a16:creationId xmlns:a16="http://schemas.microsoft.com/office/drawing/2014/main" id="{E527826D-B857-F024-16FC-53C55FA3153E}"/>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24" name="Group 12">
              <a:extLst>
                <a:ext uri="{FF2B5EF4-FFF2-40B4-BE49-F238E27FC236}">
                  <a16:creationId xmlns:a16="http://schemas.microsoft.com/office/drawing/2014/main" id="{7DFD866D-1A96-BA5D-AB9C-A2E9227BA9BF}"/>
                </a:ext>
              </a:extLst>
            </p:cNvPr>
            <p:cNvGrpSpPr>
              <a:grpSpLocks noChangeAspect="1"/>
            </p:cNvGrpSpPr>
            <p:nvPr/>
          </p:nvGrpSpPr>
          <p:grpSpPr bwMode="auto">
            <a:xfrm>
              <a:off x="672" y="2304"/>
              <a:ext cx="77" cy="147"/>
              <a:chOff x="816" y="2160"/>
              <a:chExt cx="96" cy="184"/>
            </a:xfrm>
          </p:grpSpPr>
          <p:sp>
            <p:nvSpPr>
              <p:cNvPr id="1958925" name="Oval 13">
                <a:extLst>
                  <a:ext uri="{FF2B5EF4-FFF2-40B4-BE49-F238E27FC236}">
                    <a16:creationId xmlns:a16="http://schemas.microsoft.com/office/drawing/2014/main" id="{4F7793EF-F846-9F82-B778-3BDAC96850FD}"/>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26" name="AutoShape 14">
                <a:extLst>
                  <a:ext uri="{FF2B5EF4-FFF2-40B4-BE49-F238E27FC236}">
                    <a16:creationId xmlns:a16="http://schemas.microsoft.com/office/drawing/2014/main" id="{6771E7E4-1D7F-FA23-36A2-1D1FD4F66ABD}"/>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27" name="Group 15">
              <a:extLst>
                <a:ext uri="{FF2B5EF4-FFF2-40B4-BE49-F238E27FC236}">
                  <a16:creationId xmlns:a16="http://schemas.microsoft.com/office/drawing/2014/main" id="{7A620DC3-4AFE-7D83-779A-C36ACA922480}"/>
                </a:ext>
              </a:extLst>
            </p:cNvPr>
            <p:cNvGrpSpPr>
              <a:grpSpLocks noChangeAspect="1"/>
            </p:cNvGrpSpPr>
            <p:nvPr/>
          </p:nvGrpSpPr>
          <p:grpSpPr bwMode="auto">
            <a:xfrm>
              <a:off x="800" y="2461"/>
              <a:ext cx="77" cy="147"/>
              <a:chOff x="816" y="2160"/>
              <a:chExt cx="96" cy="184"/>
            </a:xfrm>
          </p:grpSpPr>
          <p:sp>
            <p:nvSpPr>
              <p:cNvPr id="1958928" name="Oval 16">
                <a:extLst>
                  <a:ext uri="{FF2B5EF4-FFF2-40B4-BE49-F238E27FC236}">
                    <a16:creationId xmlns:a16="http://schemas.microsoft.com/office/drawing/2014/main" id="{1B7D7DD6-3FA5-A43F-01B2-B6910CA0F715}"/>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29" name="AutoShape 17">
                <a:extLst>
                  <a:ext uri="{FF2B5EF4-FFF2-40B4-BE49-F238E27FC236}">
                    <a16:creationId xmlns:a16="http://schemas.microsoft.com/office/drawing/2014/main" id="{A12553E7-EEDA-D416-819B-1708ABDF5B83}"/>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30" name="Group 18">
              <a:extLst>
                <a:ext uri="{FF2B5EF4-FFF2-40B4-BE49-F238E27FC236}">
                  <a16:creationId xmlns:a16="http://schemas.microsoft.com/office/drawing/2014/main" id="{FF07C175-1A8E-0E12-59FC-EC151536A954}"/>
                </a:ext>
              </a:extLst>
            </p:cNvPr>
            <p:cNvGrpSpPr>
              <a:grpSpLocks noChangeAspect="1"/>
            </p:cNvGrpSpPr>
            <p:nvPr/>
          </p:nvGrpSpPr>
          <p:grpSpPr bwMode="auto">
            <a:xfrm>
              <a:off x="979" y="2541"/>
              <a:ext cx="77" cy="147"/>
              <a:chOff x="816" y="2160"/>
              <a:chExt cx="96" cy="184"/>
            </a:xfrm>
          </p:grpSpPr>
          <p:sp>
            <p:nvSpPr>
              <p:cNvPr id="1958931" name="Oval 19">
                <a:extLst>
                  <a:ext uri="{FF2B5EF4-FFF2-40B4-BE49-F238E27FC236}">
                    <a16:creationId xmlns:a16="http://schemas.microsoft.com/office/drawing/2014/main" id="{83DCC21C-6352-9CE5-0E99-B88F7E2DE565}"/>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32" name="AutoShape 20">
                <a:extLst>
                  <a:ext uri="{FF2B5EF4-FFF2-40B4-BE49-F238E27FC236}">
                    <a16:creationId xmlns:a16="http://schemas.microsoft.com/office/drawing/2014/main" id="{D86FDDCA-71B2-D310-F05C-3CF83483D838}"/>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33" name="Group 21">
              <a:extLst>
                <a:ext uri="{FF2B5EF4-FFF2-40B4-BE49-F238E27FC236}">
                  <a16:creationId xmlns:a16="http://schemas.microsoft.com/office/drawing/2014/main" id="{1A145747-8889-6721-3698-39C42AE4AEFC}"/>
                </a:ext>
              </a:extLst>
            </p:cNvPr>
            <p:cNvGrpSpPr>
              <a:grpSpLocks noChangeAspect="1"/>
            </p:cNvGrpSpPr>
            <p:nvPr/>
          </p:nvGrpSpPr>
          <p:grpSpPr bwMode="auto">
            <a:xfrm>
              <a:off x="1056" y="2352"/>
              <a:ext cx="77" cy="147"/>
              <a:chOff x="816" y="2160"/>
              <a:chExt cx="96" cy="184"/>
            </a:xfrm>
          </p:grpSpPr>
          <p:sp>
            <p:nvSpPr>
              <p:cNvPr id="1958934" name="Oval 22">
                <a:extLst>
                  <a:ext uri="{FF2B5EF4-FFF2-40B4-BE49-F238E27FC236}">
                    <a16:creationId xmlns:a16="http://schemas.microsoft.com/office/drawing/2014/main" id="{4EBB8BAD-6D2E-5138-8607-900315C53287}"/>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35" name="AutoShape 23">
                <a:extLst>
                  <a:ext uri="{FF2B5EF4-FFF2-40B4-BE49-F238E27FC236}">
                    <a16:creationId xmlns:a16="http://schemas.microsoft.com/office/drawing/2014/main" id="{DF5EA9C4-12B1-79B6-046B-BF026AF09945}"/>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36" name="Group 24">
              <a:extLst>
                <a:ext uri="{FF2B5EF4-FFF2-40B4-BE49-F238E27FC236}">
                  <a16:creationId xmlns:a16="http://schemas.microsoft.com/office/drawing/2014/main" id="{19239D82-7E44-A50D-9B52-B821D9A00085}"/>
                </a:ext>
              </a:extLst>
            </p:cNvPr>
            <p:cNvGrpSpPr>
              <a:grpSpLocks noChangeAspect="1"/>
            </p:cNvGrpSpPr>
            <p:nvPr/>
          </p:nvGrpSpPr>
          <p:grpSpPr bwMode="auto">
            <a:xfrm>
              <a:off x="1056" y="2112"/>
              <a:ext cx="77" cy="147"/>
              <a:chOff x="816" y="2160"/>
              <a:chExt cx="96" cy="184"/>
            </a:xfrm>
          </p:grpSpPr>
          <p:sp>
            <p:nvSpPr>
              <p:cNvPr id="1958937" name="Oval 25">
                <a:extLst>
                  <a:ext uri="{FF2B5EF4-FFF2-40B4-BE49-F238E27FC236}">
                    <a16:creationId xmlns:a16="http://schemas.microsoft.com/office/drawing/2014/main" id="{B6452B97-4258-823E-30BD-52C99F280FE9}"/>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38" name="AutoShape 26">
                <a:extLst>
                  <a:ext uri="{FF2B5EF4-FFF2-40B4-BE49-F238E27FC236}">
                    <a16:creationId xmlns:a16="http://schemas.microsoft.com/office/drawing/2014/main" id="{EC87F1A7-D7ED-9161-24BB-6C76AC1D9F5E}"/>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39" name="Group 27">
              <a:extLst>
                <a:ext uri="{FF2B5EF4-FFF2-40B4-BE49-F238E27FC236}">
                  <a16:creationId xmlns:a16="http://schemas.microsoft.com/office/drawing/2014/main" id="{AEAF7B46-E177-D3DF-C810-6B782AF4D3FA}"/>
                </a:ext>
              </a:extLst>
            </p:cNvPr>
            <p:cNvGrpSpPr>
              <a:grpSpLocks noChangeAspect="1"/>
            </p:cNvGrpSpPr>
            <p:nvPr/>
          </p:nvGrpSpPr>
          <p:grpSpPr bwMode="auto">
            <a:xfrm>
              <a:off x="1459" y="2253"/>
              <a:ext cx="77" cy="147"/>
              <a:chOff x="816" y="2160"/>
              <a:chExt cx="96" cy="184"/>
            </a:xfrm>
          </p:grpSpPr>
          <p:sp>
            <p:nvSpPr>
              <p:cNvPr id="1958940" name="Oval 28">
                <a:extLst>
                  <a:ext uri="{FF2B5EF4-FFF2-40B4-BE49-F238E27FC236}">
                    <a16:creationId xmlns:a16="http://schemas.microsoft.com/office/drawing/2014/main" id="{AF10C501-375A-BB24-842F-E877B574B2AC}"/>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41" name="AutoShape 29">
                <a:extLst>
                  <a:ext uri="{FF2B5EF4-FFF2-40B4-BE49-F238E27FC236}">
                    <a16:creationId xmlns:a16="http://schemas.microsoft.com/office/drawing/2014/main" id="{9608F015-7DED-3B49-25E7-87C0A5BB1092}"/>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42" name="Group 30">
              <a:extLst>
                <a:ext uri="{FF2B5EF4-FFF2-40B4-BE49-F238E27FC236}">
                  <a16:creationId xmlns:a16="http://schemas.microsoft.com/office/drawing/2014/main" id="{E613599D-8C21-6911-D2D4-1AEBD8D5D264}"/>
                </a:ext>
              </a:extLst>
            </p:cNvPr>
            <p:cNvGrpSpPr>
              <a:grpSpLocks noChangeAspect="1"/>
            </p:cNvGrpSpPr>
            <p:nvPr/>
          </p:nvGrpSpPr>
          <p:grpSpPr bwMode="auto">
            <a:xfrm>
              <a:off x="1200" y="2352"/>
              <a:ext cx="77" cy="147"/>
              <a:chOff x="816" y="2160"/>
              <a:chExt cx="96" cy="184"/>
            </a:xfrm>
          </p:grpSpPr>
          <p:sp>
            <p:nvSpPr>
              <p:cNvPr id="1958943" name="Oval 31">
                <a:extLst>
                  <a:ext uri="{FF2B5EF4-FFF2-40B4-BE49-F238E27FC236}">
                    <a16:creationId xmlns:a16="http://schemas.microsoft.com/office/drawing/2014/main" id="{E1A24653-7563-7A10-60E5-319D4D17D837}"/>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44" name="AutoShape 32">
                <a:extLst>
                  <a:ext uri="{FF2B5EF4-FFF2-40B4-BE49-F238E27FC236}">
                    <a16:creationId xmlns:a16="http://schemas.microsoft.com/office/drawing/2014/main" id="{3479FC26-3AB3-322E-1138-D182FF70A886}"/>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45" name="Group 33">
              <a:extLst>
                <a:ext uri="{FF2B5EF4-FFF2-40B4-BE49-F238E27FC236}">
                  <a16:creationId xmlns:a16="http://schemas.microsoft.com/office/drawing/2014/main" id="{6F9BE00A-3629-E67B-BF49-1C559A865DE4}"/>
                </a:ext>
              </a:extLst>
            </p:cNvPr>
            <p:cNvGrpSpPr>
              <a:grpSpLocks noChangeAspect="1"/>
            </p:cNvGrpSpPr>
            <p:nvPr/>
          </p:nvGrpSpPr>
          <p:grpSpPr bwMode="auto">
            <a:xfrm>
              <a:off x="1331" y="2464"/>
              <a:ext cx="77" cy="147"/>
              <a:chOff x="816" y="2160"/>
              <a:chExt cx="96" cy="184"/>
            </a:xfrm>
          </p:grpSpPr>
          <p:sp>
            <p:nvSpPr>
              <p:cNvPr id="1958946" name="Oval 34">
                <a:extLst>
                  <a:ext uri="{FF2B5EF4-FFF2-40B4-BE49-F238E27FC236}">
                    <a16:creationId xmlns:a16="http://schemas.microsoft.com/office/drawing/2014/main" id="{6BF76F91-1B38-9719-648D-E6E89827F4F8}"/>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47" name="AutoShape 35">
                <a:extLst>
                  <a:ext uri="{FF2B5EF4-FFF2-40B4-BE49-F238E27FC236}">
                    <a16:creationId xmlns:a16="http://schemas.microsoft.com/office/drawing/2014/main" id="{5143D598-7239-B2F3-9D1E-245F09CF67F9}"/>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48" name="Group 36">
              <a:extLst>
                <a:ext uri="{FF2B5EF4-FFF2-40B4-BE49-F238E27FC236}">
                  <a16:creationId xmlns:a16="http://schemas.microsoft.com/office/drawing/2014/main" id="{10942522-7CF7-FE81-3638-E88B360CF4A2}"/>
                </a:ext>
              </a:extLst>
            </p:cNvPr>
            <p:cNvGrpSpPr>
              <a:grpSpLocks noChangeAspect="1"/>
            </p:cNvGrpSpPr>
            <p:nvPr/>
          </p:nvGrpSpPr>
          <p:grpSpPr bwMode="auto">
            <a:xfrm>
              <a:off x="1219" y="2541"/>
              <a:ext cx="77" cy="147"/>
              <a:chOff x="816" y="2160"/>
              <a:chExt cx="96" cy="184"/>
            </a:xfrm>
          </p:grpSpPr>
          <p:sp>
            <p:nvSpPr>
              <p:cNvPr id="1958949" name="Oval 37">
                <a:extLst>
                  <a:ext uri="{FF2B5EF4-FFF2-40B4-BE49-F238E27FC236}">
                    <a16:creationId xmlns:a16="http://schemas.microsoft.com/office/drawing/2014/main" id="{F0C3C95F-984C-73FB-7518-FBC6CFCAD871}"/>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50" name="AutoShape 38">
                <a:extLst>
                  <a:ext uri="{FF2B5EF4-FFF2-40B4-BE49-F238E27FC236}">
                    <a16:creationId xmlns:a16="http://schemas.microsoft.com/office/drawing/2014/main" id="{035EE159-AAE5-006E-AE3D-93C6473BDAD4}"/>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51" name="Group 39">
              <a:extLst>
                <a:ext uri="{FF2B5EF4-FFF2-40B4-BE49-F238E27FC236}">
                  <a16:creationId xmlns:a16="http://schemas.microsoft.com/office/drawing/2014/main" id="{E9925B1A-75C6-5671-9A7A-C46A076403CC}"/>
                </a:ext>
              </a:extLst>
            </p:cNvPr>
            <p:cNvGrpSpPr>
              <a:grpSpLocks noChangeAspect="1"/>
            </p:cNvGrpSpPr>
            <p:nvPr/>
          </p:nvGrpSpPr>
          <p:grpSpPr bwMode="auto">
            <a:xfrm>
              <a:off x="1315" y="2160"/>
              <a:ext cx="77" cy="147"/>
              <a:chOff x="816" y="2160"/>
              <a:chExt cx="96" cy="184"/>
            </a:xfrm>
          </p:grpSpPr>
          <p:sp>
            <p:nvSpPr>
              <p:cNvPr id="1958952" name="Oval 40">
                <a:extLst>
                  <a:ext uri="{FF2B5EF4-FFF2-40B4-BE49-F238E27FC236}">
                    <a16:creationId xmlns:a16="http://schemas.microsoft.com/office/drawing/2014/main" id="{352D8E05-57FD-2CB5-06F3-9655CB906F60}"/>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53" name="AutoShape 41">
                <a:extLst>
                  <a:ext uri="{FF2B5EF4-FFF2-40B4-BE49-F238E27FC236}">
                    <a16:creationId xmlns:a16="http://schemas.microsoft.com/office/drawing/2014/main" id="{CC578C8A-F8DB-39A3-805D-BDBC1E535F44}"/>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54" name="Group 42">
              <a:extLst>
                <a:ext uri="{FF2B5EF4-FFF2-40B4-BE49-F238E27FC236}">
                  <a16:creationId xmlns:a16="http://schemas.microsoft.com/office/drawing/2014/main" id="{68625BAF-A21B-057D-299D-6499A87CD00D}"/>
                </a:ext>
              </a:extLst>
            </p:cNvPr>
            <p:cNvGrpSpPr>
              <a:grpSpLocks noChangeAspect="1"/>
            </p:cNvGrpSpPr>
            <p:nvPr/>
          </p:nvGrpSpPr>
          <p:grpSpPr bwMode="auto">
            <a:xfrm>
              <a:off x="952" y="2168"/>
              <a:ext cx="77" cy="147"/>
              <a:chOff x="816" y="2160"/>
              <a:chExt cx="96" cy="184"/>
            </a:xfrm>
          </p:grpSpPr>
          <p:sp>
            <p:nvSpPr>
              <p:cNvPr id="1958955" name="Oval 43">
                <a:extLst>
                  <a:ext uri="{FF2B5EF4-FFF2-40B4-BE49-F238E27FC236}">
                    <a16:creationId xmlns:a16="http://schemas.microsoft.com/office/drawing/2014/main" id="{5A76F857-6F94-045C-FFAD-DCCE6C96882A}"/>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56" name="AutoShape 44">
                <a:extLst>
                  <a:ext uri="{FF2B5EF4-FFF2-40B4-BE49-F238E27FC236}">
                    <a16:creationId xmlns:a16="http://schemas.microsoft.com/office/drawing/2014/main" id="{54859B04-B544-F541-2C51-F55692679BBA}"/>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grpSp>
        <p:nvGrpSpPr>
          <p:cNvPr id="1958957" name="Group 45">
            <a:extLst>
              <a:ext uri="{FF2B5EF4-FFF2-40B4-BE49-F238E27FC236}">
                <a16:creationId xmlns:a16="http://schemas.microsoft.com/office/drawing/2014/main" id="{67F9F049-6E2A-F9D3-5C6A-6B932F003369}"/>
              </a:ext>
            </a:extLst>
          </p:cNvPr>
          <p:cNvGrpSpPr>
            <a:grpSpLocks/>
          </p:cNvGrpSpPr>
          <p:nvPr/>
        </p:nvGrpSpPr>
        <p:grpSpPr bwMode="auto">
          <a:xfrm>
            <a:off x="873125" y="7261225"/>
            <a:ext cx="1677988" cy="887413"/>
            <a:chOff x="576" y="3264"/>
            <a:chExt cx="1008" cy="696"/>
          </a:xfrm>
        </p:grpSpPr>
        <p:sp>
          <p:nvSpPr>
            <p:cNvPr id="1958958" name="Oval 46">
              <a:extLst>
                <a:ext uri="{FF2B5EF4-FFF2-40B4-BE49-F238E27FC236}">
                  <a16:creationId xmlns:a16="http://schemas.microsoft.com/office/drawing/2014/main" id="{F327EE77-B419-9434-C87B-3ECDC4C7CC80}"/>
                </a:ext>
              </a:extLst>
            </p:cNvPr>
            <p:cNvSpPr>
              <a:spLocks noChangeArrowheads="1"/>
            </p:cNvSpPr>
            <p:nvPr/>
          </p:nvSpPr>
          <p:spPr bwMode="auto">
            <a:xfrm>
              <a:off x="576" y="3264"/>
              <a:ext cx="1008" cy="696"/>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nvGrpSpPr>
            <p:cNvPr id="1958959" name="Group 47">
              <a:extLst>
                <a:ext uri="{FF2B5EF4-FFF2-40B4-BE49-F238E27FC236}">
                  <a16:creationId xmlns:a16="http://schemas.microsoft.com/office/drawing/2014/main" id="{7F54FA0B-DF64-7ADD-F0F0-3D7A473E822A}"/>
                </a:ext>
              </a:extLst>
            </p:cNvPr>
            <p:cNvGrpSpPr>
              <a:grpSpLocks noChangeAspect="1"/>
            </p:cNvGrpSpPr>
            <p:nvPr/>
          </p:nvGrpSpPr>
          <p:grpSpPr bwMode="auto">
            <a:xfrm>
              <a:off x="816" y="3336"/>
              <a:ext cx="77" cy="147"/>
              <a:chOff x="816" y="2160"/>
              <a:chExt cx="96" cy="184"/>
            </a:xfrm>
          </p:grpSpPr>
          <p:sp>
            <p:nvSpPr>
              <p:cNvPr id="1958960" name="Oval 48">
                <a:extLst>
                  <a:ext uri="{FF2B5EF4-FFF2-40B4-BE49-F238E27FC236}">
                    <a16:creationId xmlns:a16="http://schemas.microsoft.com/office/drawing/2014/main" id="{090DFC7F-E2F2-1A41-91E9-9DB51603BC39}"/>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61" name="AutoShape 49">
                <a:extLst>
                  <a:ext uri="{FF2B5EF4-FFF2-40B4-BE49-F238E27FC236}">
                    <a16:creationId xmlns:a16="http://schemas.microsoft.com/office/drawing/2014/main" id="{5663AD56-EB60-DA57-B2DC-79DD04944518}"/>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62" name="Group 50">
              <a:extLst>
                <a:ext uri="{FF2B5EF4-FFF2-40B4-BE49-F238E27FC236}">
                  <a16:creationId xmlns:a16="http://schemas.microsoft.com/office/drawing/2014/main" id="{78C7BCB8-76BB-C246-C8F9-1BCF44C33320}"/>
                </a:ext>
              </a:extLst>
            </p:cNvPr>
            <p:cNvGrpSpPr>
              <a:grpSpLocks noChangeAspect="1"/>
            </p:cNvGrpSpPr>
            <p:nvPr/>
          </p:nvGrpSpPr>
          <p:grpSpPr bwMode="auto">
            <a:xfrm>
              <a:off x="672" y="3528"/>
              <a:ext cx="77" cy="147"/>
              <a:chOff x="816" y="2160"/>
              <a:chExt cx="96" cy="184"/>
            </a:xfrm>
          </p:grpSpPr>
          <p:sp>
            <p:nvSpPr>
              <p:cNvPr id="1958963" name="Oval 51">
                <a:extLst>
                  <a:ext uri="{FF2B5EF4-FFF2-40B4-BE49-F238E27FC236}">
                    <a16:creationId xmlns:a16="http://schemas.microsoft.com/office/drawing/2014/main" id="{C9DE2801-DE4D-80FF-7E04-F51A521C0FB0}"/>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64" name="AutoShape 52">
                <a:extLst>
                  <a:ext uri="{FF2B5EF4-FFF2-40B4-BE49-F238E27FC236}">
                    <a16:creationId xmlns:a16="http://schemas.microsoft.com/office/drawing/2014/main" id="{9C0B64DD-6AD8-7425-5D1A-BA03FA8E178B}"/>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65" name="Group 53">
              <a:extLst>
                <a:ext uri="{FF2B5EF4-FFF2-40B4-BE49-F238E27FC236}">
                  <a16:creationId xmlns:a16="http://schemas.microsoft.com/office/drawing/2014/main" id="{D1DF1313-F89D-F006-09AA-FAF32C88A761}"/>
                </a:ext>
              </a:extLst>
            </p:cNvPr>
            <p:cNvGrpSpPr>
              <a:grpSpLocks noChangeAspect="1"/>
            </p:cNvGrpSpPr>
            <p:nvPr/>
          </p:nvGrpSpPr>
          <p:grpSpPr bwMode="auto">
            <a:xfrm>
              <a:off x="800" y="3685"/>
              <a:ext cx="77" cy="147"/>
              <a:chOff x="816" y="2160"/>
              <a:chExt cx="96" cy="184"/>
            </a:xfrm>
          </p:grpSpPr>
          <p:sp>
            <p:nvSpPr>
              <p:cNvPr id="1958966" name="Oval 54">
                <a:extLst>
                  <a:ext uri="{FF2B5EF4-FFF2-40B4-BE49-F238E27FC236}">
                    <a16:creationId xmlns:a16="http://schemas.microsoft.com/office/drawing/2014/main" id="{8ECD1A6C-6980-5EB4-CF72-E710D56411F6}"/>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67" name="AutoShape 55">
                <a:extLst>
                  <a:ext uri="{FF2B5EF4-FFF2-40B4-BE49-F238E27FC236}">
                    <a16:creationId xmlns:a16="http://schemas.microsoft.com/office/drawing/2014/main" id="{D9155777-C30C-FADE-1E76-D4A380FDACF4}"/>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68" name="Group 56">
              <a:extLst>
                <a:ext uri="{FF2B5EF4-FFF2-40B4-BE49-F238E27FC236}">
                  <a16:creationId xmlns:a16="http://schemas.microsoft.com/office/drawing/2014/main" id="{0A351314-DCD6-8338-650A-C201DE0C5879}"/>
                </a:ext>
              </a:extLst>
            </p:cNvPr>
            <p:cNvGrpSpPr>
              <a:grpSpLocks noChangeAspect="1"/>
            </p:cNvGrpSpPr>
            <p:nvPr/>
          </p:nvGrpSpPr>
          <p:grpSpPr bwMode="auto">
            <a:xfrm>
              <a:off x="979" y="3765"/>
              <a:ext cx="77" cy="147"/>
              <a:chOff x="816" y="2160"/>
              <a:chExt cx="96" cy="184"/>
            </a:xfrm>
          </p:grpSpPr>
          <p:sp>
            <p:nvSpPr>
              <p:cNvPr id="1958969" name="Oval 57">
                <a:extLst>
                  <a:ext uri="{FF2B5EF4-FFF2-40B4-BE49-F238E27FC236}">
                    <a16:creationId xmlns:a16="http://schemas.microsoft.com/office/drawing/2014/main" id="{F160D467-793F-9105-3257-BC6B4957E4C0}"/>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70" name="AutoShape 58">
                <a:extLst>
                  <a:ext uri="{FF2B5EF4-FFF2-40B4-BE49-F238E27FC236}">
                    <a16:creationId xmlns:a16="http://schemas.microsoft.com/office/drawing/2014/main" id="{5CCEA144-0D71-5261-D808-DBEB00ACCB24}"/>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71" name="Group 59">
              <a:extLst>
                <a:ext uri="{FF2B5EF4-FFF2-40B4-BE49-F238E27FC236}">
                  <a16:creationId xmlns:a16="http://schemas.microsoft.com/office/drawing/2014/main" id="{30080566-5640-8A8F-06B0-5BD49A970033}"/>
                </a:ext>
              </a:extLst>
            </p:cNvPr>
            <p:cNvGrpSpPr>
              <a:grpSpLocks noChangeAspect="1"/>
            </p:cNvGrpSpPr>
            <p:nvPr/>
          </p:nvGrpSpPr>
          <p:grpSpPr bwMode="auto">
            <a:xfrm>
              <a:off x="1056" y="3576"/>
              <a:ext cx="77" cy="147"/>
              <a:chOff x="816" y="2160"/>
              <a:chExt cx="96" cy="184"/>
            </a:xfrm>
          </p:grpSpPr>
          <p:sp>
            <p:nvSpPr>
              <p:cNvPr id="1958972" name="Oval 60">
                <a:extLst>
                  <a:ext uri="{FF2B5EF4-FFF2-40B4-BE49-F238E27FC236}">
                    <a16:creationId xmlns:a16="http://schemas.microsoft.com/office/drawing/2014/main" id="{778E78C1-FCB6-4D74-2483-FA5739E53DF5}"/>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73" name="AutoShape 61">
                <a:extLst>
                  <a:ext uri="{FF2B5EF4-FFF2-40B4-BE49-F238E27FC236}">
                    <a16:creationId xmlns:a16="http://schemas.microsoft.com/office/drawing/2014/main" id="{A9FF3794-D12A-6C59-E04F-9089F06AD7DC}"/>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74" name="Group 62">
              <a:extLst>
                <a:ext uri="{FF2B5EF4-FFF2-40B4-BE49-F238E27FC236}">
                  <a16:creationId xmlns:a16="http://schemas.microsoft.com/office/drawing/2014/main" id="{8AA16078-D213-6A8F-81EE-B2A6537F3378}"/>
                </a:ext>
              </a:extLst>
            </p:cNvPr>
            <p:cNvGrpSpPr>
              <a:grpSpLocks noChangeAspect="1"/>
            </p:cNvGrpSpPr>
            <p:nvPr/>
          </p:nvGrpSpPr>
          <p:grpSpPr bwMode="auto">
            <a:xfrm>
              <a:off x="1056" y="3336"/>
              <a:ext cx="77" cy="147"/>
              <a:chOff x="816" y="2160"/>
              <a:chExt cx="96" cy="184"/>
            </a:xfrm>
          </p:grpSpPr>
          <p:sp>
            <p:nvSpPr>
              <p:cNvPr id="1958975" name="Oval 63">
                <a:extLst>
                  <a:ext uri="{FF2B5EF4-FFF2-40B4-BE49-F238E27FC236}">
                    <a16:creationId xmlns:a16="http://schemas.microsoft.com/office/drawing/2014/main" id="{044612F1-6597-62E5-85E8-3E9D1F410EE6}"/>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76" name="AutoShape 64">
                <a:extLst>
                  <a:ext uri="{FF2B5EF4-FFF2-40B4-BE49-F238E27FC236}">
                    <a16:creationId xmlns:a16="http://schemas.microsoft.com/office/drawing/2014/main" id="{B49C4C9C-EDC1-566F-7FFE-6E5F691498BC}"/>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77" name="Group 65">
              <a:extLst>
                <a:ext uri="{FF2B5EF4-FFF2-40B4-BE49-F238E27FC236}">
                  <a16:creationId xmlns:a16="http://schemas.microsoft.com/office/drawing/2014/main" id="{0FA75A51-A7DE-3160-93A0-D4917631C377}"/>
                </a:ext>
              </a:extLst>
            </p:cNvPr>
            <p:cNvGrpSpPr>
              <a:grpSpLocks noChangeAspect="1"/>
            </p:cNvGrpSpPr>
            <p:nvPr/>
          </p:nvGrpSpPr>
          <p:grpSpPr bwMode="auto">
            <a:xfrm>
              <a:off x="1459" y="3477"/>
              <a:ext cx="77" cy="147"/>
              <a:chOff x="816" y="2160"/>
              <a:chExt cx="96" cy="184"/>
            </a:xfrm>
          </p:grpSpPr>
          <p:sp>
            <p:nvSpPr>
              <p:cNvPr id="1958978" name="Oval 66">
                <a:extLst>
                  <a:ext uri="{FF2B5EF4-FFF2-40B4-BE49-F238E27FC236}">
                    <a16:creationId xmlns:a16="http://schemas.microsoft.com/office/drawing/2014/main" id="{81CB84A0-AA57-5044-9D8A-8CA61F42FE34}"/>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79" name="AutoShape 67">
                <a:extLst>
                  <a:ext uri="{FF2B5EF4-FFF2-40B4-BE49-F238E27FC236}">
                    <a16:creationId xmlns:a16="http://schemas.microsoft.com/office/drawing/2014/main" id="{81B974A0-0DD3-6B4E-5AF2-39426303384B}"/>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80" name="Group 68">
              <a:extLst>
                <a:ext uri="{FF2B5EF4-FFF2-40B4-BE49-F238E27FC236}">
                  <a16:creationId xmlns:a16="http://schemas.microsoft.com/office/drawing/2014/main" id="{1A85818E-67AD-DB41-19F0-C2C0634B2C63}"/>
                </a:ext>
              </a:extLst>
            </p:cNvPr>
            <p:cNvGrpSpPr>
              <a:grpSpLocks noChangeAspect="1"/>
            </p:cNvGrpSpPr>
            <p:nvPr/>
          </p:nvGrpSpPr>
          <p:grpSpPr bwMode="auto">
            <a:xfrm>
              <a:off x="1200" y="3576"/>
              <a:ext cx="77" cy="147"/>
              <a:chOff x="816" y="2160"/>
              <a:chExt cx="96" cy="184"/>
            </a:xfrm>
          </p:grpSpPr>
          <p:sp>
            <p:nvSpPr>
              <p:cNvPr id="1958981" name="Oval 69">
                <a:extLst>
                  <a:ext uri="{FF2B5EF4-FFF2-40B4-BE49-F238E27FC236}">
                    <a16:creationId xmlns:a16="http://schemas.microsoft.com/office/drawing/2014/main" id="{331E0F85-EF26-3537-2436-C01DDFB1FE72}"/>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82" name="AutoShape 70">
                <a:extLst>
                  <a:ext uri="{FF2B5EF4-FFF2-40B4-BE49-F238E27FC236}">
                    <a16:creationId xmlns:a16="http://schemas.microsoft.com/office/drawing/2014/main" id="{FE8A6E0F-6CE2-0B0E-AE9E-60FF793A0ED8}"/>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83" name="Group 71">
              <a:extLst>
                <a:ext uri="{FF2B5EF4-FFF2-40B4-BE49-F238E27FC236}">
                  <a16:creationId xmlns:a16="http://schemas.microsoft.com/office/drawing/2014/main" id="{19BB6AF2-036A-4B83-A1DE-09F4C6075DE4}"/>
                </a:ext>
              </a:extLst>
            </p:cNvPr>
            <p:cNvGrpSpPr>
              <a:grpSpLocks noChangeAspect="1"/>
            </p:cNvGrpSpPr>
            <p:nvPr/>
          </p:nvGrpSpPr>
          <p:grpSpPr bwMode="auto">
            <a:xfrm>
              <a:off x="1331" y="3688"/>
              <a:ext cx="77" cy="147"/>
              <a:chOff x="816" y="2160"/>
              <a:chExt cx="96" cy="184"/>
            </a:xfrm>
          </p:grpSpPr>
          <p:sp>
            <p:nvSpPr>
              <p:cNvPr id="1958984" name="Oval 72">
                <a:extLst>
                  <a:ext uri="{FF2B5EF4-FFF2-40B4-BE49-F238E27FC236}">
                    <a16:creationId xmlns:a16="http://schemas.microsoft.com/office/drawing/2014/main" id="{61FDB72B-AA89-BEFA-5687-1159DC0A09FD}"/>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85" name="AutoShape 73">
                <a:extLst>
                  <a:ext uri="{FF2B5EF4-FFF2-40B4-BE49-F238E27FC236}">
                    <a16:creationId xmlns:a16="http://schemas.microsoft.com/office/drawing/2014/main" id="{2C5255C6-CCE1-9C6D-9A52-6AE67DED2B0E}"/>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86" name="Group 74">
              <a:extLst>
                <a:ext uri="{FF2B5EF4-FFF2-40B4-BE49-F238E27FC236}">
                  <a16:creationId xmlns:a16="http://schemas.microsoft.com/office/drawing/2014/main" id="{51C08D41-D1FF-75F6-24CA-3830C6FDB9C9}"/>
                </a:ext>
              </a:extLst>
            </p:cNvPr>
            <p:cNvGrpSpPr>
              <a:grpSpLocks noChangeAspect="1"/>
            </p:cNvGrpSpPr>
            <p:nvPr/>
          </p:nvGrpSpPr>
          <p:grpSpPr bwMode="auto">
            <a:xfrm>
              <a:off x="1219" y="3765"/>
              <a:ext cx="77" cy="147"/>
              <a:chOff x="816" y="2160"/>
              <a:chExt cx="96" cy="184"/>
            </a:xfrm>
          </p:grpSpPr>
          <p:sp>
            <p:nvSpPr>
              <p:cNvPr id="1958987" name="Oval 75">
                <a:extLst>
                  <a:ext uri="{FF2B5EF4-FFF2-40B4-BE49-F238E27FC236}">
                    <a16:creationId xmlns:a16="http://schemas.microsoft.com/office/drawing/2014/main" id="{8F7E620A-8330-A705-DB2C-E18FEFB54865}"/>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88" name="AutoShape 76">
                <a:extLst>
                  <a:ext uri="{FF2B5EF4-FFF2-40B4-BE49-F238E27FC236}">
                    <a16:creationId xmlns:a16="http://schemas.microsoft.com/office/drawing/2014/main" id="{71B0E661-77CD-26EB-21BB-CF17AADD1040}"/>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grpSp>
          <p:nvGrpSpPr>
            <p:cNvPr id="1958989" name="Group 77">
              <a:extLst>
                <a:ext uri="{FF2B5EF4-FFF2-40B4-BE49-F238E27FC236}">
                  <a16:creationId xmlns:a16="http://schemas.microsoft.com/office/drawing/2014/main" id="{CF5A35C6-E701-632B-0E8B-CB5124E8C81F}"/>
                </a:ext>
              </a:extLst>
            </p:cNvPr>
            <p:cNvGrpSpPr>
              <a:grpSpLocks noChangeAspect="1"/>
            </p:cNvGrpSpPr>
            <p:nvPr/>
          </p:nvGrpSpPr>
          <p:grpSpPr bwMode="auto">
            <a:xfrm>
              <a:off x="1315" y="3384"/>
              <a:ext cx="77" cy="147"/>
              <a:chOff x="816" y="2160"/>
              <a:chExt cx="96" cy="184"/>
            </a:xfrm>
          </p:grpSpPr>
          <p:sp>
            <p:nvSpPr>
              <p:cNvPr id="1958990" name="Oval 78">
                <a:extLst>
                  <a:ext uri="{FF2B5EF4-FFF2-40B4-BE49-F238E27FC236}">
                    <a16:creationId xmlns:a16="http://schemas.microsoft.com/office/drawing/2014/main" id="{0FF5205E-AACC-AFA5-BE1C-6E9B1BB77F2B}"/>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91" name="AutoShape 79">
                <a:extLst>
                  <a:ext uri="{FF2B5EF4-FFF2-40B4-BE49-F238E27FC236}">
                    <a16:creationId xmlns:a16="http://schemas.microsoft.com/office/drawing/2014/main" id="{C6A02D5A-500A-05A1-ADB5-6CBC865F5BA5}"/>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sp>
          <p:nvSpPr>
            <p:cNvPr id="1958992" name="Freeform 80">
              <a:extLst>
                <a:ext uri="{FF2B5EF4-FFF2-40B4-BE49-F238E27FC236}">
                  <a16:creationId xmlns:a16="http://schemas.microsoft.com/office/drawing/2014/main" id="{64BEE12E-C127-5915-EE0A-01592277FF35}"/>
                </a:ext>
              </a:extLst>
            </p:cNvPr>
            <p:cNvSpPr>
              <a:spLocks/>
            </p:cNvSpPr>
            <p:nvPr/>
          </p:nvSpPr>
          <p:spPr bwMode="auto">
            <a:xfrm>
              <a:off x="1248" y="3288"/>
              <a:ext cx="288" cy="432"/>
            </a:xfrm>
            <a:custGeom>
              <a:avLst/>
              <a:gdLst>
                <a:gd name="T0" fmla="*/ 0 w 288"/>
                <a:gd name="T1" fmla="*/ 0 h 432"/>
                <a:gd name="T2" fmla="*/ 48 w 288"/>
                <a:gd name="T3" fmla="*/ 240 h 432"/>
                <a:gd name="T4" fmla="*/ 144 w 288"/>
                <a:gd name="T5" fmla="*/ 384 h 432"/>
                <a:gd name="T6" fmla="*/ 288 w 288"/>
                <a:gd name="T7" fmla="*/ 432 h 432"/>
              </a:gdLst>
              <a:ahLst/>
              <a:cxnLst>
                <a:cxn ang="0">
                  <a:pos x="T0" y="T1"/>
                </a:cxn>
                <a:cxn ang="0">
                  <a:pos x="T2" y="T3"/>
                </a:cxn>
                <a:cxn ang="0">
                  <a:pos x="T4" y="T5"/>
                </a:cxn>
                <a:cxn ang="0">
                  <a:pos x="T6" y="T7"/>
                </a:cxn>
              </a:cxnLst>
              <a:rect l="0" t="0" r="r" b="b"/>
              <a:pathLst>
                <a:path w="288" h="432">
                  <a:moveTo>
                    <a:pt x="0" y="0"/>
                  </a:moveTo>
                  <a:cubicBezTo>
                    <a:pt x="12" y="88"/>
                    <a:pt x="24" y="176"/>
                    <a:pt x="48" y="240"/>
                  </a:cubicBezTo>
                  <a:cubicBezTo>
                    <a:pt x="72" y="304"/>
                    <a:pt x="104" y="352"/>
                    <a:pt x="144" y="384"/>
                  </a:cubicBezTo>
                  <a:cubicBezTo>
                    <a:pt x="184" y="416"/>
                    <a:pt x="264" y="424"/>
                    <a:pt x="288" y="432"/>
                  </a:cubicBezTo>
                </a:path>
              </a:pathLst>
            </a:custGeom>
            <a:noFill/>
            <a:ln w="6350" cap="flat" cmpd="sng">
              <a:solidFill>
                <a:schemeClr val="tx1"/>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nvGrpSpPr>
            <p:cNvPr id="1958993" name="Group 81">
              <a:extLst>
                <a:ext uri="{FF2B5EF4-FFF2-40B4-BE49-F238E27FC236}">
                  <a16:creationId xmlns:a16="http://schemas.microsoft.com/office/drawing/2014/main" id="{7F35EB3D-6D30-E3B7-55DE-8BAF8C0A1E6F}"/>
                </a:ext>
              </a:extLst>
            </p:cNvPr>
            <p:cNvGrpSpPr>
              <a:grpSpLocks noChangeAspect="1"/>
            </p:cNvGrpSpPr>
            <p:nvPr/>
          </p:nvGrpSpPr>
          <p:grpSpPr bwMode="auto">
            <a:xfrm>
              <a:off x="952" y="3392"/>
              <a:ext cx="77" cy="147"/>
              <a:chOff x="816" y="2160"/>
              <a:chExt cx="96" cy="184"/>
            </a:xfrm>
          </p:grpSpPr>
          <p:sp>
            <p:nvSpPr>
              <p:cNvPr id="1958994" name="Oval 82">
                <a:extLst>
                  <a:ext uri="{FF2B5EF4-FFF2-40B4-BE49-F238E27FC236}">
                    <a16:creationId xmlns:a16="http://schemas.microsoft.com/office/drawing/2014/main" id="{EB188394-66E6-2D4E-E3BC-4E23E40C97ED}"/>
                  </a:ext>
                </a:extLst>
              </p:cNvPr>
              <p:cNvSpPr>
                <a:spLocks noChangeAspect="1" noChangeArrowheads="1"/>
              </p:cNvSpPr>
              <p:nvPr/>
            </p:nvSpPr>
            <p:spPr bwMode="auto">
              <a:xfrm>
                <a:off x="816" y="2160"/>
                <a:ext cx="96" cy="96"/>
              </a:xfrm>
              <a:prstGeom prst="ellipse">
                <a:avLst/>
              </a:prstGeom>
              <a:solidFill>
                <a:srgbClr val="333399"/>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95" name="AutoShape 83">
                <a:extLst>
                  <a:ext uri="{FF2B5EF4-FFF2-40B4-BE49-F238E27FC236}">
                    <a16:creationId xmlns:a16="http://schemas.microsoft.com/office/drawing/2014/main" id="{22E4EE9E-C49E-BE03-4FB5-5A423E51873C}"/>
                  </a:ext>
                </a:extLst>
              </p:cNvPr>
              <p:cNvSpPr>
                <a:spLocks noChangeAspect="1" noChangeArrowheads="1"/>
              </p:cNvSpPr>
              <p:nvPr/>
            </p:nvSpPr>
            <p:spPr bwMode="auto">
              <a:xfrm>
                <a:off x="816" y="2200"/>
                <a:ext cx="96" cy="144"/>
              </a:xfrm>
              <a:prstGeom prst="triangle">
                <a:avLst>
                  <a:gd name="adj" fmla="val 50000"/>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sp>
          <p:nvSpPr>
            <p:cNvPr id="1958996" name="Freeform 84">
              <a:extLst>
                <a:ext uri="{FF2B5EF4-FFF2-40B4-BE49-F238E27FC236}">
                  <a16:creationId xmlns:a16="http://schemas.microsoft.com/office/drawing/2014/main" id="{33A16A6B-2379-5B48-9BB7-7D1B9B403908}"/>
                </a:ext>
              </a:extLst>
            </p:cNvPr>
            <p:cNvSpPr>
              <a:spLocks/>
            </p:cNvSpPr>
            <p:nvPr/>
          </p:nvSpPr>
          <p:spPr bwMode="auto">
            <a:xfrm>
              <a:off x="1123" y="3480"/>
              <a:ext cx="157" cy="477"/>
            </a:xfrm>
            <a:custGeom>
              <a:avLst/>
              <a:gdLst>
                <a:gd name="T0" fmla="*/ 157 w 157"/>
                <a:gd name="T1" fmla="*/ 0 h 477"/>
                <a:gd name="T2" fmla="*/ 61 w 157"/>
                <a:gd name="T3" fmla="*/ 104 h 477"/>
                <a:gd name="T4" fmla="*/ 5 w 157"/>
                <a:gd name="T5" fmla="*/ 416 h 477"/>
                <a:gd name="T6" fmla="*/ 29 w 157"/>
                <a:gd name="T7" fmla="*/ 472 h 477"/>
              </a:gdLst>
              <a:ahLst/>
              <a:cxnLst>
                <a:cxn ang="0">
                  <a:pos x="T0" y="T1"/>
                </a:cxn>
                <a:cxn ang="0">
                  <a:pos x="T2" y="T3"/>
                </a:cxn>
                <a:cxn ang="0">
                  <a:pos x="T4" y="T5"/>
                </a:cxn>
                <a:cxn ang="0">
                  <a:pos x="T6" y="T7"/>
                </a:cxn>
              </a:cxnLst>
              <a:rect l="0" t="0" r="r" b="b"/>
              <a:pathLst>
                <a:path w="157" h="477">
                  <a:moveTo>
                    <a:pt x="157" y="0"/>
                  </a:moveTo>
                  <a:cubicBezTo>
                    <a:pt x="121" y="17"/>
                    <a:pt x="86" y="35"/>
                    <a:pt x="61" y="104"/>
                  </a:cubicBezTo>
                  <a:cubicBezTo>
                    <a:pt x="36" y="173"/>
                    <a:pt x="10" y="355"/>
                    <a:pt x="5" y="416"/>
                  </a:cubicBezTo>
                  <a:cubicBezTo>
                    <a:pt x="0" y="477"/>
                    <a:pt x="14" y="474"/>
                    <a:pt x="29" y="472"/>
                  </a:cubicBezTo>
                </a:path>
              </a:pathLst>
            </a:custGeom>
            <a:noFill/>
            <a:ln w="6350" cap="flat" cmpd="sng">
              <a:solidFill>
                <a:schemeClr val="tx1"/>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8997" name="Freeform 85">
              <a:extLst>
                <a:ext uri="{FF2B5EF4-FFF2-40B4-BE49-F238E27FC236}">
                  <a16:creationId xmlns:a16="http://schemas.microsoft.com/office/drawing/2014/main" id="{432C9793-A85A-E234-6158-51121146B760}"/>
                </a:ext>
              </a:extLst>
            </p:cNvPr>
            <p:cNvSpPr>
              <a:spLocks/>
            </p:cNvSpPr>
            <p:nvPr/>
          </p:nvSpPr>
          <p:spPr bwMode="auto">
            <a:xfrm>
              <a:off x="680" y="3400"/>
              <a:ext cx="456" cy="440"/>
            </a:xfrm>
            <a:custGeom>
              <a:avLst/>
              <a:gdLst>
                <a:gd name="T0" fmla="*/ 0 w 456"/>
                <a:gd name="T1" fmla="*/ 0 h 440"/>
                <a:gd name="T2" fmla="*/ 104 w 456"/>
                <a:gd name="T3" fmla="*/ 104 h 440"/>
                <a:gd name="T4" fmla="*/ 264 w 456"/>
                <a:gd name="T5" fmla="*/ 208 h 440"/>
                <a:gd name="T6" fmla="*/ 456 w 456"/>
                <a:gd name="T7" fmla="*/ 440 h 440"/>
              </a:gdLst>
              <a:ahLst/>
              <a:cxnLst>
                <a:cxn ang="0">
                  <a:pos x="T0" y="T1"/>
                </a:cxn>
                <a:cxn ang="0">
                  <a:pos x="T2" y="T3"/>
                </a:cxn>
                <a:cxn ang="0">
                  <a:pos x="T4" y="T5"/>
                </a:cxn>
                <a:cxn ang="0">
                  <a:pos x="T6" y="T7"/>
                </a:cxn>
              </a:cxnLst>
              <a:rect l="0" t="0" r="r" b="b"/>
              <a:pathLst>
                <a:path w="456" h="440">
                  <a:moveTo>
                    <a:pt x="0" y="0"/>
                  </a:moveTo>
                  <a:cubicBezTo>
                    <a:pt x="30" y="34"/>
                    <a:pt x="60" y="69"/>
                    <a:pt x="104" y="104"/>
                  </a:cubicBezTo>
                  <a:cubicBezTo>
                    <a:pt x="148" y="139"/>
                    <a:pt x="205" y="152"/>
                    <a:pt x="264" y="208"/>
                  </a:cubicBezTo>
                  <a:cubicBezTo>
                    <a:pt x="323" y="264"/>
                    <a:pt x="389" y="352"/>
                    <a:pt x="456" y="440"/>
                  </a:cubicBezTo>
                </a:path>
              </a:pathLst>
            </a:custGeom>
            <a:noFill/>
            <a:ln w="6350" cap="flat" cmpd="sng">
              <a:solidFill>
                <a:schemeClr val="tx1"/>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grpSp>
      <p:sp>
        <p:nvSpPr>
          <p:cNvPr id="1958998" name="Rectangle 86">
            <a:extLst>
              <a:ext uri="{FF2B5EF4-FFF2-40B4-BE49-F238E27FC236}">
                <a16:creationId xmlns:a16="http://schemas.microsoft.com/office/drawing/2014/main" id="{DBF6334A-F18F-9F84-7CD9-3AC0991DE42A}"/>
              </a:ext>
            </a:extLst>
          </p:cNvPr>
          <p:cNvSpPr>
            <a:spLocks noChangeArrowheads="1"/>
          </p:cNvSpPr>
          <p:nvPr/>
        </p:nvSpPr>
        <p:spPr bwMode="auto">
          <a:xfrm flipH="1">
            <a:off x="833438" y="6142038"/>
            <a:ext cx="1757362" cy="266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均一的な対応</a:t>
            </a:r>
          </a:p>
        </p:txBody>
      </p:sp>
      <p:sp>
        <p:nvSpPr>
          <p:cNvPr id="1958999" name="Rectangle 87">
            <a:extLst>
              <a:ext uri="{FF2B5EF4-FFF2-40B4-BE49-F238E27FC236}">
                <a16:creationId xmlns:a16="http://schemas.microsoft.com/office/drawing/2014/main" id="{648B5A68-4419-CA14-B73D-6CA50C5481C2}"/>
              </a:ext>
            </a:extLst>
          </p:cNvPr>
          <p:cNvSpPr>
            <a:spLocks noChangeArrowheads="1"/>
          </p:cNvSpPr>
          <p:nvPr/>
        </p:nvSpPr>
        <p:spPr bwMode="auto">
          <a:xfrm flipH="1">
            <a:off x="833438" y="8594725"/>
            <a:ext cx="1757362" cy="266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個別的な対応</a:t>
            </a:r>
          </a:p>
        </p:txBody>
      </p:sp>
      <p:sp>
        <p:nvSpPr>
          <p:cNvPr id="1959000" name="AutoShape 88">
            <a:extLst>
              <a:ext uri="{FF2B5EF4-FFF2-40B4-BE49-F238E27FC236}">
                <a16:creationId xmlns:a16="http://schemas.microsoft.com/office/drawing/2014/main" id="{9B192A18-31F2-7B9D-3869-BD8E2E4BB783}"/>
              </a:ext>
            </a:extLst>
          </p:cNvPr>
          <p:cNvSpPr>
            <a:spLocks noChangeArrowheads="1"/>
          </p:cNvSpPr>
          <p:nvPr/>
        </p:nvSpPr>
        <p:spPr bwMode="auto">
          <a:xfrm>
            <a:off x="1392238" y="6381750"/>
            <a:ext cx="639762" cy="320675"/>
          </a:xfrm>
          <a:prstGeom prst="downArrow">
            <a:avLst>
              <a:gd name="adj1" fmla="val 54167"/>
              <a:gd name="adj2" fmla="val 44444"/>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001" name="Rectangle 89">
            <a:extLst>
              <a:ext uri="{FF2B5EF4-FFF2-40B4-BE49-F238E27FC236}">
                <a16:creationId xmlns:a16="http://schemas.microsoft.com/office/drawing/2014/main" id="{5F0D47DD-FED1-C796-5FCC-220C33ACDE32}"/>
              </a:ext>
            </a:extLst>
          </p:cNvPr>
          <p:cNvSpPr>
            <a:spLocks noChangeArrowheads="1"/>
          </p:cNvSpPr>
          <p:nvPr/>
        </p:nvSpPr>
        <p:spPr bwMode="auto">
          <a:xfrm flipH="1">
            <a:off x="2667000" y="5181600"/>
            <a:ext cx="3657600" cy="174625"/>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solidFill>
                  <a:schemeClr val="bg1"/>
                </a:solidFill>
                <a:latin typeface="ＭＳ Ｐゴシック" panose="020B0600070205080204" pitchFamily="50" charset="-128"/>
              </a:rPr>
              <a:t>セグメンテーションの基準</a:t>
            </a:r>
          </a:p>
        </p:txBody>
      </p:sp>
      <p:sp>
        <p:nvSpPr>
          <p:cNvPr id="1959002" name="AutoShape 90">
            <a:extLst>
              <a:ext uri="{FF2B5EF4-FFF2-40B4-BE49-F238E27FC236}">
                <a16:creationId xmlns:a16="http://schemas.microsoft.com/office/drawing/2014/main" id="{3EC2EE0F-7B73-5D30-6E9A-9EA9E768B2CC}"/>
              </a:ext>
            </a:extLst>
          </p:cNvPr>
          <p:cNvSpPr>
            <a:spLocks noChangeArrowheads="1"/>
          </p:cNvSpPr>
          <p:nvPr/>
        </p:nvSpPr>
        <p:spPr bwMode="auto">
          <a:xfrm flipH="1">
            <a:off x="2667000" y="5475288"/>
            <a:ext cx="914400" cy="639762"/>
          </a:xfrm>
          <a:prstGeom prst="roundRect">
            <a:avLst>
              <a:gd name="adj" fmla="val 16667"/>
            </a:avLst>
          </a:prstGeom>
          <a:solidFill>
            <a:schemeClr val="hlink"/>
          </a:solidFill>
          <a:ln w="6350">
            <a:solidFill>
              <a:schemeClr val="folHlink"/>
            </a:solidFill>
            <a:round/>
            <a:headEnd/>
            <a:tailEnd/>
          </a:ln>
          <a:effectLst>
            <a:outerShdw dist="28398" dir="3806097" algn="ctr" rotWithShape="0">
              <a:schemeClr val="bg2"/>
            </a:outerShdw>
          </a:effectLst>
        </p:spPr>
        <p:txBody>
          <a:bodyPr lIns="10800" tIns="10800" rIns="10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ジオグラフィック（地理的）</a:t>
            </a:r>
          </a:p>
          <a:p>
            <a:pPr algn="ctr"/>
            <a:r>
              <a:rPr lang="ja-JP" altLang="en-US" sz="1000">
                <a:latin typeface="ＭＳ Ｐゴシック" panose="020B0600070205080204" pitchFamily="50" charset="-128"/>
              </a:rPr>
              <a:t>変数</a:t>
            </a:r>
          </a:p>
        </p:txBody>
      </p:sp>
      <p:sp>
        <p:nvSpPr>
          <p:cNvPr id="1959003" name="AutoShape 91">
            <a:extLst>
              <a:ext uri="{FF2B5EF4-FFF2-40B4-BE49-F238E27FC236}">
                <a16:creationId xmlns:a16="http://schemas.microsoft.com/office/drawing/2014/main" id="{B5FAD215-B227-8CB4-84BE-B4F2D9D9C54F}"/>
              </a:ext>
            </a:extLst>
          </p:cNvPr>
          <p:cNvSpPr>
            <a:spLocks noChangeArrowheads="1"/>
          </p:cNvSpPr>
          <p:nvPr/>
        </p:nvSpPr>
        <p:spPr bwMode="auto">
          <a:xfrm flipH="1">
            <a:off x="2667000" y="6184900"/>
            <a:ext cx="914400" cy="776288"/>
          </a:xfrm>
          <a:prstGeom prst="roundRect">
            <a:avLst>
              <a:gd name="adj" fmla="val 16667"/>
            </a:avLst>
          </a:prstGeom>
          <a:solidFill>
            <a:schemeClr val="hlink"/>
          </a:solidFill>
          <a:ln w="6350">
            <a:solidFill>
              <a:schemeClr val="folHlink"/>
            </a:solidFill>
            <a:round/>
            <a:headEnd/>
            <a:tailEnd/>
          </a:ln>
          <a:effectLst>
            <a:outerShdw dist="28398" dir="3806097" algn="ctr" rotWithShape="0">
              <a:schemeClr val="bg2"/>
            </a:outerShdw>
          </a:effectLst>
        </p:spPr>
        <p:txBody>
          <a:bodyPr lIns="10800" tIns="10800" rIns="10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デモグラフィック（人口統計的）変数</a:t>
            </a:r>
          </a:p>
        </p:txBody>
      </p:sp>
      <p:sp>
        <p:nvSpPr>
          <p:cNvPr id="1959004" name="AutoShape 92">
            <a:extLst>
              <a:ext uri="{FF2B5EF4-FFF2-40B4-BE49-F238E27FC236}">
                <a16:creationId xmlns:a16="http://schemas.microsoft.com/office/drawing/2014/main" id="{0298AECE-DB58-B2C9-A776-905F9CF8897D}"/>
              </a:ext>
            </a:extLst>
          </p:cNvPr>
          <p:cNvSpPr>
            <a:spLocks noChangeArrowheads="1"/>
          </p:cNvSpPr>
          <p:nvPr/>
        </p:nvSpPr>
        <p:spPr bwMode="auto">
          <a:xfrm flipH="1">
            <a:off x="2667000" y="7032625"/>
            <a:ext cx="914400" cy="787400"/>
          </a:xfrm>
          <a:prstGeom prst="roundRect">
            <a:avLst>
              <a:gd name="adj" fmla="val 16667"/>
            </a:avLst>
          </a:prstGeom>
          <a:solidFill>
            <a:schemeClr val="hlink"/>
          </a:solidFill>
          <a:ln w="6350">
            <a:solidFill>
              <a:schemeClr val="folHlink"/>
            </a:solidFill>
            <a:round/>
            <a:headEnd/>
            <a:tailEnd/>
          </a:ln>
          <a:effectLst>
            <a:outerShdw dist="28398" dir="3806097" algn="ctr" rotWithShape="0">
              <a:schemeClr val="bg2"/>
            </a:outerShdw>
          </a:effectLst>
        </p:spPr>
        <p:txBody>
          <a:bodyPr lIns="10800" tIns="10800" rIns="10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サイコグラフィック（心理的）</a:t>
            </a:r>
          </a:p>
          <a:p>
            <a:pPr algn="ctr"/>
            <a:r>
              <a:rPr lang="ja-JP" altLang="en-US" sz="1000">
                <a:latin typeface="ＭＳ Ｐゴシック" panose="020B0600070205080204" pitchFamily="50" charset="-128"/>
              </a:rPr>
              <a:t>変数</a:t>
            </a:r>
          </a:p>
        </p:txBody>
      </p:sp>
      <p:sp>
        <p:nvSpPr>
          <p:cNvPr id="1959006" name="Rectangle 94">
            <a:extLst>
              <a:ext uri="{FF2B5EF4-FFF2-40B4-BE49-F238E27FC236}">
                <a16:creationId xmlns:a16="http://schemas.microsoft.com/office/drawing/2014/main" id="{F8949A31-1EDF-6D88-475E-F9ADED7EC721}"/>
              </a:ext>
            </a:extLst>
          </p:cNvPr>
          <p:cNvSpPr>
            <a:spLocks noChangeArrowheads="1"/>
          </p:cNvSpPr>
          <p:nvPr/>
        </p:nvSpPr>
        <p:spPr bwMode="auto">
          <a:xfrm flipH="1">
            <a:off x="3657600" y="5475288"/>
            <a:ext cx="2667000" cy="639762"/>
          </a:xfrm>
          <a:prstGeom prst="rect">
            <a:avLst/>
          </a:prstGeom>
          <a:solidFill>
            <a:schemeClr val="bg1"/>
          </a:solidFill>
          <a:ln w="6350">
            <a:solidFill>
              <a:schemeClr val="folHlink"/>
            </a:solidFill>
            <a:miter lim="800000"/>
            <a:headEnd/>
            <a:tailEnd/>
          </a:ln>
          <a:effectLst>
            <a:outerShdw dist="28398" dir="3806097" algn="ctr" rotWithShape="0">
              <a:schemeClr val="bg2"/>
            </a:outerShdw>
          </a:effectLst>
        </p:spPr>
        <p:txBody>
          <a:bodyPr lIns="72000" tIns="10800" rIns="10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95000"/>
              </a:lnSpc>
              <a:buFont typeface="Wingdings" panose="05000000000000000000" pitchFamily="2" charset="2"/>
              <a:buChar char="l"/>
            </a:pPr>
            <a:r>
              <a:rPr lang="ja-JP" altLang="en-US" sz="1000">
                <a:latin typeface="ＭＳ Ｐゴシック" panose="020B0600070205080204" pitchFamily="50" charset="-128"/>
              </a:rPr>
              <a:t>地域</a:t>
            </a:r>
            <a:r>
              <a:rPr lang="ja-JP" altLang="en-US" sz="900">
                <a:latin typeface="ＭＳ Ｐゴシック" panose="020B0600070205080204" pitchFamily="50" charset="-128"/>
              </a:rPr>
              <a:t>（北海道、東北、関東・・・／市区町村等）</a:t>
            </a:r>
          </a:p>
          <a:p>
            <a:pPr>
              <a:lnSpc>
                <a:spcPct val="95000"/>
              </a:lnSpc>
              <a:buFont typeface="Wingdings" panose="05000000000000000000" pitchFamily="2" charset="2"/>
              <a:buChar char="l"/>
            </a:pPr>
            <a:r>
              <a:rPr lang="ja-JP" altLang="en-US" sz="1000">
                <a:latin typeface="ＭＳ Ｐゴシック" panose="020B0600070205080204" pitchFamily="50" charset="-128"/>
              </a:rPr>
              <a:t>各地域の人口</a:t>
            </a:r>
            <a:r>
              <a:rPr lang="ja-JP" altLang="en-US" sz="800">
                <a:latin typeface="ＭＳ Ｐゴシック" panose="020B0600070205080204" pitchFamily="50" charset="-128"/>
              </a:rPr>
              <a:t>（</a:t>
            </a:r>
            <a:r>
              <a:rPr lang="en-US" altLang="ja-JP" sz="800">
                <a:latin typeface="ＭＳ Ｐゴシック" panose="020B0600070205080204" pitchFamily="50" charset="-128"/>
              </a:rPr>
              <a:t>5</a:t>
            </a:r>
            <a:r>
              <a:rPr lang="ja-JP" altLang="en-US" sz="800">
                <a:latin typeface="ＭＳ Ｐゴシック" panose="020B0600070205080204" pitchFamily="50" charset="-128"/>
              </a:rPr>
              <a:t>千人未満、</a:t>
            </a:r>
            <a:r>
              <a:rPr lang="en-US" altLang="ja-JP" sz="800">
                <a:latin typeface="ＭＳ Ｐゴシック" panose="020B0600070205080204" pitchFamily="50" charset="-128"/>
              </a:rPr>
              <a:t>5</a:t>
            </a:r>
            <a:r>
              <a:rPr lang="ja-JP" altLang="en-US" sz="800">
                <a:latin typeface="ＭＳ Ｐゴシック" panose="020B0600070205080204" pitchFamily="50" charset="-128"/>
              </a:rPr>
              <a:t>千～</a:t>
            </a:r>
            <a:r>
              <a:rPr lang="en-US" altLang="ja-JP" sz="800">
                <a:latin typeface="ＭＳ Ｐゴシック" panose="020B0600070205080204" pitchFamily="50" charset="-128"/>
              </a:rPr>
              <a:t>1</a:t>
            </a:r>
            <a:r>
              <a:rPr lang="ja-JP" altLang="en-US" sz="800">
                <a:latin typeface="ＭＳ Ｐゴシック" panose="020B0600070205080204" pitchFamily="50" charset="-128"/>
              </a:rPr>
              <a:t>万人・・・）</a:t>
            </a:r>
          </a:p>
          <a:p>
            <a:pPr>
              <a:lnSpc>
                <a:spcPct val="95000"/>
              </a:lnSpc>
              <a:buFont typeface="Wingdings" panose="05000000000000000000" pitchFamily="2" charset="2"/>
              <a:buChar char="l"/>
            </a:pPr>
            <a:r>
              <a:rPr lang="ja-JP" altLang="en-US" sz="1000">
                <a:latin typeface="ＭＳ Ｐゴシック" panose="020B0600070205080204" pitchFamily="50" charset="-128"/>
              </a:rPr>
              <a:t>その他地理的特徴</a:t>
            </a:r>
            <a:r>
              <a:rPr lang="ja-JP" altLang="en-US" sz="800">
                <a:latin typeface="ＭＳ Ｐゴシック" panose="020B0600070205080204" pitchFamily="50" charset="-128"/>
              </a:rPr>
              <a:t>（平野部、山間部等）、気候　</a:t>
            </a:r>
            <a:r>
              <a:rPr lang="ja-JP" altLang="en-US" sz="1000">
                <a:latin typeface="ＭＳ Ｐゴシック" panose="020B0600070205080204" pitchFamily="50" charset="-128"/>
              </a:rPr>
              <a:t>等</a:t>
            </a:r>
          </a:p>
        </p:txBody>
      </p:sp>
      <p:sp>
        <p:nvSpPr>
          <p:cNvPr id="1959007" name="Rectangle 95">
            <a:extLst>
              <a:ext uri="{FF2B5EF4-FFF2-40B4-BE49-F238E27FC236}">
                <a16:creationId xmlns:a16="http://schemas.microsoft.com/office/drawing/2014/main" id="{6004C883-946C-B3B8-8CAF-F7CB9751FACB}"/>
              </a:ext>
            </a:extLst>
          </p:cNvPr>
          <p:cNvSpPr>
            <a:spLocks noChangeArrowheads="1"/>
          </p:cNvSpPr>
          <p:nvPr/>
        </p:nvSpPr>
        <p:spPr bwMode="auto">
          <a:xfrm flipH="1">
            <a:off x="3657600" y="6184900"/>
            <a:ext cx="2667000" cy="776288"/>
          </a:xfrm>
          <a:prstGeom prst="rect">
            <a:avLst/>
          </a:prstGeom>
          <a:solidFill>
            <a:schemeClr val="bg1"/>
          </a:solidFill>
          <a:ln w="6350">
            <a:solidFill>
              <a:schemeClr val="folHlink"/>
            </a:solidFill>
            <a:miter lim="800000"/>
            <a:headEnd/>
            <a:tailEnd/>
          </a:ln>
          <a:effectLst>
            <a:outerShdw dist="28398" dir="3806097" algn="ctr" rotWithShape="0">
              <a:schemeClr val="bg2"/>
            </a:outerShdw>
          </a:effectLst>
        </p:spPr>
        <p:txBody>
          <a:bodyPr lIns="72000" tIns="10800" rIns="10800" bIns="10800" anchor="ctr"/>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l"/>
            </a:pPr>
            <a:r>
              <a:rPr lang="ja-JP" altLang="en-US" sz="1000">
                <a:latin typeface="ＭＳ Ｐゴシック" panose="020B0600070205080204" pitchFamily="50" charset="-128"/>
              </a:rPr>
              <a:t>年齢／性別</a:t>
            </a:r>
          </a:p>
          <a:p>
            <a:pPr>
              <a:buFont typeface="Wingdings" panose="05000000000000000000" pitchFamily="2" charset="2"/>
              <a:buChar char="l"/>
            </a:pPr>
            <a:r>
              <a:rPr lang="ja-JP" altLang="en-US" sz="1000">
                <a:latin typeface="ＭＳ Ｐゴシック" panose="020B0600070205080204" pitchFamily="50" charset="-128"/>
              </a:rPr>
              <a:t>職業／ 所得／学歴</a:t>
            </a:r>
          </a:p>
          <a:p>
            <a:pPr>
              <a:buFont typeface="Wingdings" panose="05000000000000000000" pitchFamily="2" charset="2"/>
              <a:buChar char="l"/>
            </a:pPr>
            <a:r>
              <a:rPr lang="ja-JP" altLang="en-US" sz="1000">
                <a:latin typeface="ＭＳ Ｐゴシック" panose="020B0600070205080204" pitchFamily="50" charset="-128"/>
              </a:rPr>
              <a:t>ファミリーライフサイクル</a:t>
            </a:r>
            <a:r>
              <a:rPr lang="ja-JP" altLang="en-US" sz="800">
                <a:latin typeface="ＭＳ Ｐゴシック" panose="020B0600070205080204" pitchFamily="50" charset="-128"/>
              </a:rPr>
              <a:t>（独身、新婚、既婚者子供有、既婚者子供無・・・）</a:t>
            </a:r>
          </a:p>
          <a:p>
            <a:pPr>
              <a:buFont typeface="Wingdings" panose="05000000000000000000" pitchFamily="2" charset="2"/>
              <a:buChar char="l"/>
            </a:pPr>
            <a:r>
              <a:rPr lang="ja-JP" altLang="en-US" sz="1000">
                <a:latin typeface="ＭＳ Ｐゴシック" panose="020B0600070205080204" pitchFamily="50" charset="-128"/>
              </a:rPr>
              <a:t>国籍／宗教　等</a:t>
            </a:r>
          </a:p>
        </p:txBody>
      </p:sp>
      <p:sp>
        <p:nvSpPr>
          <p:cNvPr id="1959008" name="Rectangle 96">
            <a:extLst>
              <a:ext uri="{FF2B5EF4-FFF2-40B4-BE49-F238E27FC236}">
                <a16:creationId xmlns:a16="http://schemas.microsoft.com/office/drawing/2014/main" id="{C8FCB3AD-FC93-7E43-912C-35A1A0392251}"/>
              </a:ext>
            </a:extLst>
          </p:cNvPr>
          <p:cNvSpPr>
            <a:spLocks noChangeArrowheads="1"/>
          </p:cNvSpPr>
          <p:nvPr/>
        </p:nvSpPr>
        <p:spPr bwMode="auto">
          <a:xfrm flipH="1">
            <a:off x="3657600" y="7032625"/>
            <a:ext cx="2667000" cy="787400"/>
          </a:xfrm>
          <a:prstGeom prst="rect">
            <a:avLst/>
          </a:prstGeom>
          <a:solidFill>
            <a:schemeClr val="bg1"/>
          </a:solidFill>
          <a:ln w="6350">
            <a:solidFill>
              <a:schemeClr val="folHlink"/>
            </a:solidFill>
            <a:miter lim="800000"/>
            <a:headEnd/>
            <a:tailEnd/>
          </a:ln>
          <a:effectLst>
            <a:outerShdw dist="28398" dir="3806097" algn="ctr" rotWithShape="0">
              <a:schemeClr val="bg2"/>
            </a:outerShdw>
          </a:effectLst>
        </p:spPr>
        <p:txBody>
          <a:bodyPr lIns="72000" tIns="10800" rIns="10800" bIns="10800" anchor="ctr"/>
          <a:lstStyle>
            <a:lvl1pPr marL="101600" indent="-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l"/>
            </a:pPr>
            <a:r>
              <a:rPr lang="ja-JP" altLang="en-US" sz="1000">
                <a:latin typeface="ＭＳ Ｐゴシック" panose="020B0600070205080204" pitchFamily="50" charset="-128"/>
              </a:rPr>
              <a:t>ライフスタイル</a:t>
            </a:r>
            <a:r>
              <a:rPr lang="ja-JP" altLang="en-US" sz="800">
                <a:latin typeface="ＭＳ Ｐゴシック" panose="020B0600070205080204" pitchFamily="50" charset="-128"/>
              </a:rPr>
              <a:t>（アウトドア派、インドア派／家族重視派、仕事重視派・・・等）</a:t>
            </a:r>
          </a:p>
          <a:p>
            <a:pPr>
              <a:buFont typeface="Wingdings" panose="05000000000000000000" pitchFamily="2" charset="2"/>
              <a:buChar char="l"/>
            </a:pPr>
            <a:r>
              <a:rPr lang="ja-JP" altLang="en-US" sz="1000">
                <a:latin typeface="ＭＳ Ｐゴシック" panose="020B0600070205080204" pitchFamily="50" charset="-128"/>
              </a:rPr>
              <a:t>パーソナリティ／生活価値観</a:t>
            </a:r>
          </a:p>
          <a:p>
            <a:pPr>
              <a:buFont typeface="Wingdings" panose="05000000000000000000" pitchFamily="2" charset="2"/>
              <a:buNone/>
            </a:pPr>
            <a:r>
              <a:rPr lang="ja-JP" altLang="en-US" sz="800">
                <a:latin typeface="ＭＳ Ｐゴシック" panose="020B0600070205080204" pitchFamily="50" charset="-128"/>
              </a:rPr>
              <a:t>（グルメ好き、ファッション好き、音楽好き、旅行好き、スポーツ好き・・・）</a:t>
            </a:r>
            <a:r>
              <a:rPr lang="ja-JP" altLang="en-US" sz="1000">
                <a:latin typeface="ＭＳ Ｐゴシック" panose="020B0600070205080204" pitchFamily="50" charset="-128"/>
              </a:rPr>
              <a:t>　等</a:t>
            </a:r>
          </a:p>
        </p:txBody>
      </p:sp>
      <p:sp>
        <p:nvSpPr>
          <p:cNvPr id="1959009" name="Rectangle 97">
            <a:extLst>
              <a:ext uri="{FF2B5EF4-FFF2-40B4-BE49-F238E27FC236}">
                <a16:creationId xmlns:a16="http://schemas.microsoft.com/office/drawing/2014/main" id="{9943767F-2688-2D6D-9FED-8607B8273528}"/>
              </a:ext>
            </a:extLst>
          </p:cNvPr>
          <p:cNvSpPr>
            <a:spLocks noChangeArrowheads="1"/>
          </p:cNvSpPr>
          <p:nvPr/>
        </p:nvSpPr>
        <p:spPr bwMode="auto">
          <a:xfrm flipH="1">
            <a:off x="3657600" y="7891463"/>
            <a:ext cx="2667000" cy="893762"/>
          </a:xfrm>
          <a:prstGeom prst="rect">
            <a:avLst/>
          </a:prstGeom>
          <a:solidFill>
            <a:schemeClr val="bg1"/>
          </a:solidFill>
          <a:ln w="6350">
            <a:solidFill>
              <a:schemeClr val="folHlink"/>
            </a:solidFill>
            <a:miter lim="800000"/>
            <a:headEnd/>
            <a:tailEnd/>
          </a:ln>
          <a:effectLst>
            <a:outerShdw dist="28398" dir="3806097" algn="ctr" rotWithShape="0">
              <a:schemeClr val="bg2"/>
            </a:outerShdw>
          </a:effectLst>
        </p:spPr>
        <p:txBody>
          <a:bodyPr lIns="72000" tIns="10800" rIns="10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90000"/>
              </a:lnSpc>
              <a:buFont typeface="Wingdings" panose="05000000000000000000" pitchFamily="2" charset="2"/>
              <a:buChar char="l"/>
            </a:pPr>
            <a:r>
              <a:rPr lang="ja-JP" altLang="en-US" sz="1000">
                <a:latin typeface="ＭＳ Ｐゴシック" panose="020B0600070205080204" pitchFamily="50" charset="-128"/>
              </a:rPr>
              <a:t>購買状況</a:t>
            </a:r>
          </a:p>
          <a:p>
            <a:pPr>
              <a:lnSpc>
                <a:spcPct val="90000"/>
              </a:lnSpc>
              <a:buFont typeface="Wingdings" panose="05000000000000000000" pitchFamily="2" charset="2"/>
              <a:buChar char="l"/>
            </a:pPr>
            <a:r>
              <a:rPr lang="ja-JP" altLang="en-US" sz="1000">
                <a:latin typeface="ＭＳ Ｐゴシック" panose="020B0600070205080204" pitchFamily="50" charset="-128"/>
              </a:rPr>
              <a:t>求める</a:t>
            </a:r>
            <a:r>
              <a:rPr lang="ja-JP" altLang="en-US" sz="800">
                <a:latin typeface="ＭＳ Ｐゴシック" panose="020B0600070205080204" pitchFamily="50" charset="-128"/>
              </a:rPr>
              <a:t>ベネフィット（経済性、品質、サービス、快適性・・・）</a:t>
            </a:r>
          </a:p>
          <a:p>
            <a:pPr>
              <a:lnSpc>
                <a:spcPct val="90000"/>
              </a:lnSpc>
              <a:buFont typeface="Wingdings" panose="05000000000000000000" pitchFamily="2" charset="2"/>
              <a:buChar char="l"/>
            </a:pPr>
            <a:r>
              <a:rPr lang="ja-JP" altLang="en-US" sz="1000">
                <a:latin typeface="ＭＳ Ｐゴシック" panose="020B0600070205080204" pitchFamily="50" charset="-128"/>
              </a:rPr>
              <a:t>使用頻度</a:t>
            </a:r>
          </a:p>
          <a:p>
            <a:pPr>
              <a:lnSpc>
                <a:spcPct val="90000"/>
              </a:lnSpc>
              <a:buFont typeface="Wingdings" panose="05000000000000000000" pitchFamily="2" charset="2"/>
              <a:buChar char="l"/>
            </a:pPr>
            <a:r>
              <a:rPr lang="ja-JP" altLang="en-US" sz="1000">
                <a:latin typeface="ＭＳ Ｐゴシック" panose="020B0600070205080204" pitchFamily="50" charset="-128"/>
              </a:rPr>
              <a:t>使用率（金額）</a:t>
            </a:r>
          </a:p>
          <a:p>
            <a:pPr>
              <a:lnSpc>
                <a:spcPct val="90000"/>
              </a:lnSpc>
              <a:buFont typeface="Wingdings" panose="05000000000000000000" pitchFamily="2" charset="2"/>
              <a:buChar char="l"/>
            </a:pPr>
            <a:r>
              <a:rPr lang="ja-JP" altLang="en-US" sz="1000">
                <a:latin typeface="ＭＳ Ｐゴシック" panose="020B0600070205080204" pitchFamily="50" charset="-128"/>
              </a:rPr>
              <a:t>ブランドロイヤリティ（忠誠心</a:t>
            </a:r>
            <a:r>
              <a:rPr lang="en-US" altLang="ja-JP" sz="1000">
                <a:latin typeface="ＭＳ Ｐゴシック" panose="020B0600070205080204" pitchFamily="50" charset="-128"/>
              </a:rPr>
              <a:t>)</a:t>
            </a:r>
            <a:r>
              <a:rPr lang="ja-JP" altLang="en-US" sz="1000">
                <a:latin typeface="ＭＳ Ｐゴシック" panose="020B0600070205080204" pitchFamily="50" charset="-128"/>
              </a:rPr>
              <a:t>等</a:t>
            </a:r>
          </a:p>
        </p:txBody>
      </p:sp>
      <p:sp>
        <p:nvSpPr>
          <p:cNvPr id="1959010" name="AutoShape 98">
            <a:extLst>
              <a:ext uri="{FF2B5EF4-FFF2-40B4-BE49-F238E27FC236}">
                <a16:creationId xmlns:a16="http://schemas.microsoft.com/office/drawing/2014/main" id="{DE4CEC9F-1F82-FDA3-CC79-76FF7705F7E3}"/>
              </a:ext>
            </a:extLst>
          </p:cNvPr>
          <p:cNvSpPr>
            <a:spLocks noChangeArrowheads="1"/>
          </p:cNvSpPr>
          <p:nvPr/>
        </p:nvSpPr>
        <p:spPr bwMode="auto">
          <a:xfrm>
            <a:off x="2111375" y="6932613"/>
            <a:ext cx="479425" cy="207962"/>
          </a:xfrm>
          <a:prstGeom prst="wedgeRectCallout">
            <a:avLst>
              <a:gd name="adj1" fmla="val -41060"/>
              <a:gd name="adj2" fmla="val 168319"/>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pPr algn="l"/>
            <a:r>
              <a:rPr lang="ja-JP" altLang="en-US" sz="800">
                <a:latin typeface="ＭＳ Ｐゴシック" panose="020B0600070205080204" pitchFamily="50" charset="-128"/>
              </a:rPr>
              <a:t>学生</a:t>
            </a:r>
          </a:p>
        </p:txBody>
      </p:sp>
      <p:sp>
        <p:nvSpPr>
          <p:cNvPr id="1959011" name="AutoShape 99">
            <a:extLst>
              <a:ext uri="{FF2B5EF4-FFF2-40B4-BE49-F238E27FC236}">
                <a16:creationId xmlns:a16="http://schemas.microsoft.com/office/drawing/2014/main" id="{8E1184BB-06C6-56EA-2C21-72AF195A8B3F}"/>
              </a:ext>
            </a:extLst>
          </p:cNvPr>
          <p:cNvSpPr>
            <a:spLocks noChangeArrowheads="1"/>
          </p:cNvSpPr>
          <p:nvPr/>
        </p:nvSpPr>
        <p:spPr bwMode="auto">
          <a:xfrm>
            <a:off x="1871663" y="8280400"/>
            <a:ext cx="639762" cy="276225"/>
          </a:xfrm>
          <a:prstGeom prst="wedgeRectCallout">
            <a:avLst>
              <a:gd name="adj1" fmla="val -14514"/>
              <a:gd name="adj2" fmla="val -11609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pPr algn="l"/>
            <a:r>
              <a:rPr lang="ja-JP" altLang="en-US" sz="800">
                <a:latin typeface="ＭＳ Ｐゴシック" panose="020B0600070205080204" pitchFamily="50" charset="-128"/>
              </a:rPr>
              <a:t>社会人（独身）</a:t>
            </a:r>
          </a:p>
        </p:txBody>
      </p:sp>
      <p:sp>
        <p:nvSpPr>
          <p:cNvPr id="1959012" name="AutoShape 100">
            <a:extLst>
              <a:ext uri="{FF2B5EF4-FFF2-40B4-BE49-F238E27FC236}">
                <a16:creationId xmlns:a16="http://schemas.microsoft.com/office/drawing/2014/main" id="{DD5F588F-C32C-FB0D-1EA1-563D22D611D2}"/>
              </a:ext>
            </a:extLst>
          </p:cNvPr>
          <p:cNvSpPr>
            <a:spLocks noChangeArrowheads="1"/>
          </p:cNvSpPr>
          <p:nvPr/>
        </p:nvSpPr>
        <p:spPr bwMode="auto">
          <a:xfrm>
            <a:off x="754063" y="8280400"/>
            <a:ext cx="1038225" cy="276225"/>
          </a:xfrm>
          <a:prstGeom prst="wedgeRectCallout">
            <a:avLst>
              <a:gd name="adj1" fmla="val 13301"/>
              <a:gd name="adj2" fmla="val -1114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pPr algn="l"/>
            <a:r>
              <a:rPr lang="ja-JP" altLang="en-US" sz="800">
                <a:latin typeface="ＭＳ Ｐゴシック" panose="020B0600070205080204" pitchFamily="50" charset="-128"/>
              </a:rPr>
              <a:t>社会人</a:t>
            </a:r>
          </a:p>
          <a:p>
            <a:pPr algn="l"/>
            <a:r>
              <a:rPr lang="ja-JP" altLang="en-US" sz="800">
                <a:latin typeface="ＭＳ Ｐゴシック" panose="020B0600070205080204" pitchFamily="50" charset="-128"/>
              </a:rPr>
              <a:t>（既婚：子供有）</a:t>
            </a:r>
          </a:p>
        </p:txBody>
      </p:sp>
      <p:sp>
        <p:nvSpPr>
          <p:cNvPr id="1959013" name="AutoShape 101">
            <a:extLst>
              <a:ext uri="{FF2B5EF4-FFF2-40B4-BE49-F238E27FC236}">
                <a16:creationId xmlns:a16="http://schemas.microsoft.com/office/drawing/2014/main" id="{A66AF667-8C32-FBBD-48F7-C98386A9F4E5}"/>
              </a:ext>
            </a:extLst>
          </p:cNvPr>
          <p:cNvSpPr>
            <a:spLocks noChangeArrowheads="1"/>
          </p:cNvSpPr>
          <p:nvPr/>
        </p:nvSpPr>
        <p:spPr bwMode="auto">
          <a:xfrm>
            <a:off x="754063" y="6880225"/>
            <a:ext cx="1038225" cy="276225"/>
          </a:xfrm>
          <a:prstGeom prst="wedgeRectCallout">
            <a:avLst>
              <a:gd name="adj1" fmla="val 16667"/>
              <a:gd name="adj2" fmla="val 1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pPr algn="l"/>
            <a:r>
              <a:rPr lang="ja-JP" altLang="en-US" sz="800">
                <a:latin typeface="ＭＳ Ｐゴシック" panose="020B0600070205080204" pitchFamily="50" charset="-128"/>
              </a:rPr>
              <a:t>社会人</a:t>
            </a:r>
          </a:p>
          <a:p>
            <a:pPr algn="l"/>
            <a:r>
              <a:rPr lang="ja-JP" altLang="en-US" sz="800">
                <a:latin typeface="ＭＳ Ｐゴシック" panose="020B0600070205080204" pitchFamily="50" charset="-128"/>
              </a:rPr>
              <a:t>（既婚：子供無）</a:t>
            </a:r>
          </a:p>
        </p:txBody>
      </p:sp>
      <p:sp>
        <p:nvSpPr>
          <p:cNvPr id="1959014" name="Text Box 102">
            <a:extLst>
              <a:ext uri="{FF2B5EF4-FFF2-40B4-BE49-F238E27FC236}">
                <a16:creationId xmlns:a16="http://schemas.microsoft.com/office/drawing/2014/main" id="{F0793531-3266-4C61-FAD2-8858DE0A8B95}"/>
              </a:ext>
            </a:extLst>
          </p:cNvPr>
          <p:cNvSpPr txBox="1">
            <a:spLocks noChangeArrowheads="1"/>
          </p:cNvSpPr>
          <p:nvPr/>
        </p:nvSpPr>
        <p:spPr bwMode="auto">
          <a:xfrm>
            <a:off x="527050" y="8861425"/>
            <a:ext cx="3435350" cy="1524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lstStyle/>
          <a:p>
            <a:pPr algn="l"/>
            <a:r>
              <a:rPr lang="ja-JP" altLang="en-US" sz="800">
                <a:latin typeface="ＭＳ Ｐゴシック" panose="020B0600070205080204" pitchFamily="50" charset="-128"/>
              </a:rPr>
              <a:t>出典：フィリップ・コトラー他著、和田充夫他訳「新版　マーケティング原理」（ダイヤモンド社）を参考に作成</a:t>
            </a:r>
          </a:p>
        </p:txBody>
      </p:sp>
      <p:sp>
        <p:nvSpPr>
          <p:cNvPr id="1959015" name="AutoShape 103">
            <a:extLst>
              <a:ext uri="{FF2B5EF4-FFF2-40B4-BE49-F238E27FC236}">
                <a16:creationId xmlns:a16="http://schemas.microsoft.com/office/drawing/2014/main" id="{9E4A3CA4-9282-4EE6-0DB6-441772186474}"/>
              </a:ext>
            </a:extLst>
          </p:cNvPr>
          <p:cNvSpPr>
            <a:spLocks noChangeArrowheads="1"/>
          </p:cNvSpPr>
          <p:nvPr/>
        </p:nvSpPr>
        <p:spPr bwMode="auto">
          <a:xfrm flipH="1">
            <a:off x="2667000" y="7924800"/>
            <a:ext cx="914400" cy="787400"/>
          </a:xfrm>
          <a:prstGeom prst="roundRect">
            <a:avLst>
              <a:gd name="adj" fmla="val 16667"/>
            </a:avLst>
          </a:prstGeom>
          <a:solidFill>
            <a:schemeClr val="hlink"/>
          </a:solidFill>
          <a:ln w="6350">
            <a:solidFill>
              <a:schemeClr val="folHlink"/>
            </a:solidFill>
            <a:round/>
            <a:headEnd/>
            <a:tailEnd/>
          </a:ln>
          <a:effectLst>
            <a:outerShdw dist="28398" dir="3806097" algn="ctr" rotWithShape="0">
              <a:schemeClr val="bg2"/>
            </a:outerShdw>
          </a:effectLst>
        </p:spPr>
        <p:txBody>
          <a:bodyPr lIns="10800" tIns="10800" rIns="10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行動変数</a:t>
            </a:r>
          </a:p>
        </p:txBody>
      </p:sp>
      <p:grpSp>
        <p:nvGrpSpPr>
          <p:cNvPr id="1959016" name="Group 104">
            <a:extLst>
              <a:ext uri="{FF2B5EF4-FFF2-40B4-BE49-F238E27FC236}">
                <a16:creationId xmlns:a16="http://schemas.microsoft.com/office/drawing/2014/main" id="{328E0219-4F9D-B4A0-7263-B4A3D153509A}"/>
              </a:ext>
            </a:extLst>
          </p:cNvPr>
          <p:cNvGrpSpPr>
            <a:grpSpLocks/>
          </p:cNvGrpSpPr>
          <p:nvPr/>
        </p:nvGrpSpPr>
        <p:grpSpPr bwMode="auto">
          <a:xfrm>
            <a:off x="4267200" y="0"/>
            <a:ext cx="2286000" cy="228600"/>
            <a:chOff x="2928" y="-48"/>
            <a:chExt cx="1392" cy="192"/>
          </a:xfrm>
        </p:grpSpPr>
        <p:sp>
          <p:nvSpPr>
            <p:cNvPr id="1959017" name="Line 105">
              <a:extLst>
                <a:ext uri="{FF2B5EF4-FFF2-40B4-BE49-F238E27FC236}">
                  <a16:creationId xmlns:a16="http://schemas.microsoft.com/office/drawing/2014/main" id="{9B3A5711-2036-E821-6D17-828A572B1D1D}"/>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59018" name="Rectangle 106">
              <a:extLst>
                <a:ext uri="{FF2B5EF4-FFF2-40B4-BE49-F238E27FC236}">
                  <a16:creationId xmlns:a16="http://schemas.microsoft.com/office/drawing/2014/main" id="{A6FF7822-DE50-64E6-7199-1CF0369B665B}"/>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ＭＳ Ｐゴシック" panose="020B0600070205080204" pitchFamily="50" charset="-128"/>
                </a:rPr>
                <a:t>Ⅲ</a:t>
              </a:r>
              <a:r>
                <a:rPr lang="ja-JP" altLang="en-US" sz="1000">
                  <a:latin typeface="ＭＳ Ｐゴシック" panose="020B0600070205080204" pitchFamily="50" charset="-128"/>
                </a:rPr>
                <a:t>　経営助言の実践に関する論点</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9938" name="Rectangle 2">
            <a:extLst>
              <a:ext uri="{FF2B5EF4-FFF2-40B4-BE49-F238E27FC236}">
                <a16:creationId xmlns:a16="http://schemas.microsoft.com/office/drawing/2014/main" id="{C075A820-2EF3-4472-5FC1-A13BB7E95970}"/>
              </a:ext>
            </a:extLst>
          </p:cNvPr>
          <p:cNvSpPr>
            <a:spLocks noChangeArrowheads="1"/>
          </p:cNvSpPr>
          <p:nvPr/>
        </p:nvSpPr>
        <p:spPr bwMode="auto">
          <a:xfrm>
            <a:off x="914400" y="1600200"/>
            <a:ext cx="5410200" cy="3581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セグメンテーションでの市場細分化を受けて、自社が狙うべきターゲット市場を選定します。自社の限られた経営資源を限られた市場に集中的に投入して、最大の効果を得ることのできるセグメントが選定されるべきで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マーケティング理論の学者フィリップ・コトラーはターゲティングには</a:t>
            </a:r>
            <a:r>
              <a:rPr lang="en-US" altLang="ja-JP" sz="1000">
                <a:latin typeface="ＭＳ Ｐ明朝" panose="02020600040205080304" pitchFamily="18" charset="-128"/>
                <a:ea typeface="ＭＳ Ｐ明朝" panose="02020600040205080304" pitchFamily="18" charset="-128"/>
              </a:rPr>
              <a:t>5</a:t>
            </a:r>
            <a:r>
              <a:rPr lang="ja-JP" altLang="en-US" sz="1000">
                <a:latin typeface="ＭＳ Ｐ明朝" panose="02020600040205080304" pitchFamily="18" charset="-128"/>
                <a:ea typeface="ＭＳ Ｐ明朝" panose="02020600040205080304" pitchFamily="18" charset="-128"/>
              </a:rPr>
              <a:t>つのタイプがあるとしています（図表</a:t>
            </a:r>
            <a:r>
              <a:rPr lang="en-US" altLang="ja-JP" sz="1000">
                <a:latin typeface="ＭＳ Ｐ明朝" panose="02020600040205080304" pitchFamily="18" charset="-128"/>
                <a:ea typeface="ＭＳ Ｐ明朝" panose="02020600040205080304" pitchFamily="18" charset="-128"/>
              </a:rPr>
              <a:t>3-1-5</a:t>
            </a:r>
            <a:r>
              <a:rPr lang="ja-JP" altLang="en-US" sz="1000">
                <a:latin typeface="ＭＳ Ｐ明朝" panose="02020600040205080304" pitchFamily="18" charset="-128"/>
                <a:ea typeface="ＭＳ Ｐ明朝" panose="02020600040205080304" pitchFamily="18" charset="-128"/>
              </a:rPr>
              <a:t>参照）。そして、この</a:t>
            </a:r>
            <a:r>
              <a:rPr lang="en-US" altLang="ja-JP" sz="1000">
                <a:latin typeface="ＭＳ Ｐ明朝" panose="02020600040205080304" pitchFamily="18" charset="-128"/>
                <a:ea typeface="ＭＳ Ｐ明朝" panose="02020600040205080304" pitchFamily="18" charset="-128"/>
              </a:rPr>
              <a:t>5</a:t>
            </a:r>
            <a:r>
              <a:rPr lang="ja-JP" altLang="en-US" sz="1000">
                <a:latin typeface="ＭＳ Ｐ明朝" panose="02020600040205080304" pitchFamily="18" charset="-128"/>
                <a:ea typeface="ＭＳ Ｐ明朝" panose="02020600040205080304" pitchFamily="18" charset="-128"/>
              </a:rPr>
              <a:t>つのタイプを設定する際に留意すべきポイントとして、以下の４つを挙げています。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　①規模と成長性：　ターゲット市場が自社にとって適切な規模か、成長性が魅力的かを確認します。</a:t>
            </a:r>
          </a:p>
          <a:p>
            <a:pPr>
              <a:lnSpc>
                <a:spcPct val="120000"/>
              </a:lnSpc>
            </a:pPr>
            <a:r>
              <a:rPr lang="ja-JP" altLang="en-US" sz="1000">
                <a:latin typeface="ＭＳ Ｐ明朝" panose="02020600040205080304" pitchFamily="18" charset="-128"/>
                <a:ea typeface="ＭＳ Ｐ明朝" panose="02020600040205080304" pitchFamily="18" charset="-128"/>
              </a:rPr>
              <a:t>　②投資効果：　市場の開発・アプローチにかかるコストと得られる収益の額と期間を確認します。</a:t>
            </a:r>
          </a:p>
          <a:p>
            <a:pPr>
              <a:lnSpc>
                <a:spcPct val="120000"/>
              </a:lnSpc>
            </a:pPr>
            <a:r>
              <a:rPr lang="ja-JP" altLang="en-US" sz="1000">
                <a:latin typeface="ＭＳ Ｐ明朝" panose="02020600040205080304" pitchFamily="18" charset="-128"/>
                <a:ea typeface="ＭＳ Ｐ明朝" panose="02020600040205080304" pitchFamily="18" charset="-128"/>
              </a:rPr>
              <a:t>　③自社目標との整合性：　自社の経営戦略との整合性を確認します。</a:t>
            </a:r>
          </a:p>
          <a:p>
            <a:pPr>
              <a:lnSpc>
                <a:spcPct val="120000"/>
              </a:lnSpc>
            </a:pPr>
            <a:r>
              <a:rPr lang="ja-JP" altLang="en-US" sz="1000">
                <a:latin typeface="ＭＳ Ｐ明朝" panose="02020600040205080304" pitchFamily="18" charset="-128"/>
                <a:ea typeface="ＭＳ Ｐ明朝" panose="02020600040205080304" pitchFamily="18" charset="-128"/>
              </a:rPr>
              <a:t>　④自社のスキル・資源：　自社にターゲット市場に対応するスキルや資源があるかを確認します。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これら</a:t>
            </a:r>
            <a:r>
              <a:rPr lang="en-US" altLang="ja-JP" sz="1000">
                <a:latin typeface="ＭＳ Ｐ明朝" panose="02020600040205080304" pitchFamily="18" charset="-128"/>
                <a:ea typeface="ＭＳ Ｐ明朝" panose="02020600040205080304" pitchFamily="18" charset="-128"/>
              </a:rPr>
              <a:t>4</a:t>
            </a:r>
            <a:r>
              <a:rPr lang="ja-JP" altLang="en-US" sz="1000">
                <a:latin typeface="ＭＳ Ｐ明朝" panose="02020600040205080304" pitchFamily="18" charset="-128"/>
                <a:ea typeface="ＭＳ Ｐ明朝" panose="02020600040205080304" pitchFamily="18" charset="-128"/>
              </a:rPr>
              <a:t>つのポイントについて充分に検討したうえ、自社として望ましいターゲット市場を選定するようにします。</a:t>
            </a:r>
          </a:p>
        </p:txBody>
      </p:sp>
      <p:sp>
        <p:nvSpPr>
          <p:cNvPr id="1959939" name="Rectangle 3">
            <a:extLst>
              <a:ext uri="{FF2B5EF4-FFF2-40B4-BE49-F238E27FC236}">
                <a16:creationId xmlns:a16="http://schemas.microsoft.com/office/drawing/2014/main" id="{3B17633A-7463-6261-EF3D-23AA981D41BE}"/>
              </a:ext>
            </a:extLst>
          </p:cNvPr>
          <p:cNvSpPr>
            <a:spLocks noChangeArrowheads="1"/>
          </p:cNvSpPr>
          <p:nvPr/>
        </p:nvSpPr>
        <p:spPr bwMode="auto">
          <a:xfrm>
            <a:off x="533400" y="12192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ターゲット市場・顧客の決定　②ターゲット市場の選択</a:t>
            </a:r>
          </a:p>
        </p:txBody>
      </p:sp>
      <p:sp>
        <p:nvSpPr>
          <p:cNvPr id="1959940" name="Line 4">
            <a:extLst>
              <a:ext uri="{FF2B5EF4-FFF2-40B4-BE49-F238E27FC236}">
                <a16:creationId xmlns:a16="http://schemas.microsoft.com/office/drawing/2014/main" id="{F442AF41-8A50-066E-593D-E8BB0FEE45C3}"/>
              </a:ext>
            </a:extLst>
          </p:cNvPr>
          <p:cNvSpPr>
            <a:spLocks noChangeShapeType="1"/>
          </p:cNvSpPr>
          <p:nvPr/>
        </p:nvSpPr>
        <p:spPr bwMode="auto">
          <a:xfrm>
            <a:off x="533400" y="15240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59941" name="Rectangle 5">
            <a:extLst>
              <a:ext uri="{FF2B5EF4-FFF2-40B4-BE49-F238E27FC236}">
                <a16:creationId xmlns:a16="http://schemas.microsoft.com/office/drawing/2014/main" id="{AFF0FE39-93F8-8A5B-9A7B-0B6C0A479F47}"/>
              </a:ext>
            </a:extLst>
          </p:cNvPr>
          <p:cNvSpPr>
            <a:spLocks noChangeArrowheads="1"/>
          </p:cNvSpPr>
          <p:nvPr/>
        </p:nvSpPr>
        <p:spPr bwMode="auto">
          <a:xfrm>
            <a:off x="533400" y="53340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3-1-5</a:t>
            </a:r>
          </a:p>
        </p:txBody>
      </p:sp>
      <p:sp>
        <p:nvSpPr>
          <p:cNvPr id="1959942" name="Rectangle 6">
            <a:extLst>
              <a:ext uri="{FF2B5EF4-FFF2-40B4-BE49-F238E27FC236}">
                <a16:creationId xmlns:a16="http://schemas.microsoft.com/office/drawing/2014/main" id="{06B192E1-612A-E709-178F-874D622FF668}"/>
              </a:ext>
            </a:extLst>
          </p:cNvPr>
          <p:cNvSpPr>
            <a:spLocks noChangeArrowheads="1"/>
          </p:cNvSpPr>
          <p:nvPr/>
        </p:nvSpPr>
        <p:spPr bwMode="auto">
          <a:xfrm>
            <a:off x="1482725" y="53340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コトラーによる標的市場設定の５つのタイプと市場設定時の４つのポイント</a:t>
            </a:r>
          </a:p>
        </p:txBody>
      </p:sp>
      <p:sp>
        <p:nvSpPr>
          <p:cNvPr id="1959943" name="Text Box 7">
            <a:extLst>
              <a:ext uri="{FF2B5EF4-FFF2-40B4-BE49-F238E27FC236}">
                <a16:creationId xmlns:a16="http://schemas.microsoft.com/office/drawing/2014/main" id="{5BB59A07-FA22-2273-EFB5-5E28EB3FD049}"/>
              </a:ext>
            </a:extLst>
          </p:cNvPr>
          <p:cNvSpPr txBox="1">
            <a:spLocks noChangeArrowheads="1"/>
          </p:cNvSpPr>
          <p:nvPr/>
        </p:nvSpPr>
        <p:spPr bwMode="auto">
          <a:xfrm>
            <a:off x="3270250" y="8863013"/>
            <a:ext cx="3435350" cy="1524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lstStyle/>
          <a:p>
            <a:pPr algn="l"/>
            <a:r>
              <a:rPr lang="ja-JP" altLang="en-US" sz="800">
                <a:latin typeface="ＭＳ Ｐゴシック" panose="020B0600070205080204" pitchFamily="50" charset="-128"/>
              </a:rPr>
              <a:t>出典：井上崇著</a:t>
            </a:r>
            <a:r>
              <a:rPr lang="en-US" altLang="ja-JP" sz="800">
                <a:latin typeface="ＭＳ Ｐゴシック" panose="020B0600070205080204" pitchFamily="50" charset="-128"/>
              </a:rPr>
              <a:t>『</a:t>
            </a:r>
            <a:r>
              <a:rPr lang="ja-JP" altLang="en-US" sz="800">
                <a:latin typeface="ＭＳ Ｐゴシック" panose="020B0600070205080204" pitchFamily="50" charset="-128"/>
              </a:rPr>
              <a:t>新版マーケティングと診断</a:t>
            </a:r>
            <a:r>
              <a:rPr lang="en-US" altLang="ja-JP" sz="800">
                <a:latin typeface="ＭＳ Ｐゴシック" panose="020B0600070205080204" pitchFamily="50" charset="-128"/>
              </a:rPr>
              <a:t>』</a:t>
            </a:r>
            <a:r>
              <a:rPr lang="ja-JP" altLang="en-US" sz="800">
                <a:latin typeface="ＭＳ Ｐゴシック" panose="020B0600070205080204" pitchFamily="50" charset="-128"/>
              </a:rPr>
              <a:t>（同友館）を参考に作成</a:t>
            </a:r>
          </a:p>
        </p:txBody>
      </p:sp>
      <p:sp>
        <p:nvSpPr>
          <p:cNvPr id="1959944" name="Rectangle 8">
            <a:extLst>
              <a:ext uri="{FF2B5EF4-FFF2-40B4-BE49-F238E27FC236}">
                <a16:creationId xmlns:a16="http://schemas.microsoft.com/office/drawing/2014/main" id="{58FDC6E5-FA79-05FD-5460-2586806525D1}"/>
              </a:ext>
            </a:extLst>
          </p:cNvPr>
          <p:cNvSpPr>
            <a:spLocks noChangeArrowheads="1"/>
          </p:cNvSpPr>
          <p:nvPr/>
        </p:nvSpPr>
        <p:spPr bwMode="auto">
          <a:xfrm flipH="1">
            <a:off x="609600" y="8931275"/>
            <a:ext cx="2590800"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a:t>
            </a:r>
            <a:r>
              <a:rPr lang="ja-JP" altLang="en-US" sz="900">
                <a:latin typeface="ＭＳ Ｐゴシック" panose="020B0600070205080204" pitchFamily="50" charset="-128"/>
              </a:rPr>
              <a:t>凡例</a:t>
            </a:r>
            <a:r>
              <a:rPr lang="en-US" altLang="ja-JP" sz="900">
                <a:latin typeface="ＭＳ Ｐゴシック" panose="020B0600070205080204" pitchFamily="50" charset="-128"/>
              </a:rPr>
              <a:t>】P</a:t>
            </a:r>
            <a:r>
              <a:rPr lang="ja-JP" altLang="en-US" sz="900">
                <a:latin typeface="ＭＳ Ｐゴシック" panose="020B0600070205080204" pitchFamily="50" charset="-128"/>
              </a:rPr>
              <a:t>：</a:t>
            </a:r>
            <a:r>
              <a:rPr lang="en-US" altLang="ja-JP" sz="900">
                <a:latin typeface="ＭＳ Ｐゴシック" panose="020B0600070205080204" pitchFamily="50" charset="-128"/>
              </a:rPr>
              <a:t>Product</a:t>
            </a:r>
            <a:r>
              <a:rPr lang="ja-JP" altLang="en-US" sz="900">
                <a:latin typeface="ＭＳ Ｐゴシック" panose="020B0600070205080204" pitchFamily="50" charset="-128"/>
              </a:rPr>
              <a:t>（製品）、</a:t>
            </a:r>
            <a:r>
              <a:rPr lang="en-US" altLang="ja-JP" sz="900">
                <a:latin typeface="ＭＳ Ｐゴシック" panose="020B0600070205080204" pitchFamily="50" charset="-128"/>
              </a:rPr>
              <a:t>M</a:t>
            </a:r>
            <a:r>
              <a:rPr lang="ja-JP" altLang="en-US" sz="900">
                <a:latin typeface="ＭＳ Ｐゴシック" panose="020B0600070205080204" pitchFamily="50" charset="-128"/>
              </a:rPr>
              <a:t>：</a:t>
            </a:r>
            <a:r>
              <a:rPr lang="en-US" altLang="ja-JP" sz="900">
                <a:latin typeface="ＭＳ Ｐゴシック" panose="020B0600070205080204" pitchFamily="50" charset="-128"/>
              </a:rPr>
              <a:t>Market</a:t>
            </a:r>
            <a:r>
              <a:rPr lang="ja-JP" altLang="en-US" sz="900">
                <a:latin typeface="ＭＳ Ｐゴシック" panose="020B0600070205080204" pitchFamily="50" charset="-128"/>
              </a:rPr>
              <a:t>（市場）</a:t>
            </a:r>
          </a:p>
        </p:txBody>
      </p:sp>
      <p:grpSp>
        <p:nvGrpSpPr>
          <p:cNvPr id="1959945" name="Group 9">
            <a:extLst>
              <a:ext uri="{FF2B5EF4-FFF2-40B4-BE49-F238E27FC236}">
                <a16:creationId xmlns:a16="http://schemas.microsoft.com/office/drawing/2014/main" id="{7C64C649-C572-F96F-2DF9-C47C1018E682}"/>
              </a:ext>
            </a:extLst>
          </p:cNvPr>
          <p:cNvGrpSpPr>
            <a:grpSpLocks noChangeAspect="1"/>
          </p:cNvGrpSpPr>
          <p:nvPr/>
        </p:nvGrpSpPr>
        <p:grpSpPr bwMode="auto">
          <a:xfrm>
            <a:off x="1504950" y="5915025"/>
            <a:ext cx="639763" cy="544513"/>
            <a:chOff x="4168" y="1757"/>
            <a:chExt cx="440" cy="403"/>
          </a:xfrm>
        </p:grpSpPr>
        <p:sp>
          <p:nvSpPr>
            <p:cNvPr id="1959946" name="Rectangle 10">
              <a:extLst>
                <a:ext uri="{FF2B5EF4-FFF2-40B4-BE49-F238E27FC236}">
                  <a16:creationId xmlns:a16="http://schemas.microsoft.com/office/drawing/2014/main" id="{760F6E43-5BAC-CCDF-8B6C-053476255A01}"/>
                </a:ext>
              </a:extLst>
            </p:cNvPr>
            <p:cNvSpPr>
              <a:spLocks noChangeAspect="1" noChangeArrowheads="1"/>
            </p:cNvSpPr>
            <p:nvPr/>
          </p:nvSpPr>
          <p:spPr bwMode="auto">
            <a:xfrm>
              <a:off x="4269" y="1855"/>
              <a:ext cx="113" cy="1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47" name="Rectangle 11">
              <a:extLst>
                <a:ext uri="{FF2B5EF4-FFF2-40B4-BE49-F238E27FC236}">
                  <a16:creationId xmlns:a16="http://schemas.microsoft.com/office/drawing/2014/main" id="{A7EBCE00-D3E3-8023-6BEA-CD4748BC8B3C}"/>
                </a:ext>
              </a:extLst>
            </p:cNvPr>
            <p:cNvSpPr>
              <a:spLocks noChangeAspect="1" noChangeArrowheads="1"/>
            </p:cNvSpPr>
            <p:nvPr/>
          </p:nvSpPr>
          <p:spPr bwMode="auto">
            <a:xfrm>
              <a:off x="4382" y="1855"/>
              <a:ext cx="113" cy="1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48" name="Rectangle 12">
              <a:extLst>
                <a:ext uri="{FF2B5EF4-FFF2-40B4-BE49-F238E27FC236}">
                  <a16:creationId xmlns:a16="http://schemas.microsoft.com/office/drawing/2014/main" id="{BF70AE26-2F05-2BF5-AD67-49DBC7B136AD}"/>
                </a:ext>
              </a:extLst>
            </p:cNvPr>
            <p:cNvSpPr>
              <a:spLocks noChangeAspect="1" noChangeArrowheads="1"/>
            </p:cNvSpPr>
            <p:nvPr/>
          </p:nvSpPr>
          <p:spPr bwMode="auto">
            <a:xfrm>
              <a:off x="4495" y="1855"/>
              <a:ext cx="113" cy="1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49" name="Rectangle 13">
              <a:extLst>
                <a:ext uri="{FF2B5EF4-FFF2-40B4-BE49-F238E27FC236}">
                  <a16:creationId xmlns:a16="http://schemas.microsoft.com/office/drawing/2014/main" id="{C8E95936-C144-10E2-C106-99A4449B93E6}"/>
                </a:ext>
              </a:extLst>
            </p:cNvPr>
            <p:cNvSpPr>
              <a:spLocks noChangeAspect="1" noChangeArrowheads="1"/>
            </p:cNvSpPr>
            <p:nvPr/>
          </p:nvSpPr>
          <p:spPr bwMode="auto">
            <a:xfrm>
              <a:off x="4269" y="1951"/>
              <a:ext cx="113" cy="113"/>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50" name="Rectangle 14">
              <a:extLst>
                <a:ext uri="{FF2B5EF4-FFF2-40B4-BE49-F238E27FC236}">
                  <a16:creationId xmlns:a16="http://schemas.microsoft.com/office/drawing/2014/main" id="{96242287-A767-6DE0-F29A-EA2F8ABE0D38}"/>
                </a:ext>
              </a:extLst>
            </p:cNvPr>
            <p:cNvSpPr>
              <a:spLocks noChangeAspect="1" noChangeArrowheads="1"/>
            </p:cNvSpPr>
            <p:nvPr/>
          </p:nvSpPr>
          <p:spPr bwMode="auto">
            <a:xfrm>
              <a:off x="4382" y="1951"/>
              <a:ext cx="113" cy="1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51" name="Rectangle 15">
              <a:extLst>
                <a:ext uri="{FF2B5EF4-FFF2-40B4-BE49-F238E27FC236}">
                  <a16:creationId xmlns:a16="http://schemas.microsoft.com/office/drawing/2014/main" id="{60BA881B-86D6-9102-7AAF-40D293D42DC0}"/>
                </a:ext>
              </a:extLst>
            </p:cNvPr>
            <p:cNvSpPr>
              <a:spLocks noChangeAspect="1" noChangeArrowheads="1"/>
            </p:cNvSpPr>
            <p:nvPr/>
          </p:nvSpPr>
          <p:spPr bwMode="auto">
            <a:xfrm>
              <a:off x="4495" y="1951"/>
              <a:ext cx="113" cy="1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52" name="Rectangle 16">
              <a:extLst>
                <a:ext uri="{FF2B5EF4-FFF2-40B4-BE49-F238E27FC236}">
                  <a16:creationId xmlns:a16="http://schemas.microsoft.com/office/drawing/2014/main" id="{0F1C27F8-A8B7-CA94-6361-A4527C89D770}"/>
                </a:ext>
              </a:extLst>
            </p:cNvPr>
            <p:cNvSpPr>
              <a:spLocks noChangeAspect="1" noChangeArrowheads="1"/>
            </p:cNvSpPr>
            <p:nvPr/>
          </p:nvSpPr>
          <p:spPr bwMode="auto">
            <a:xfrm>
              <a:off x="4269" y="2047"/>
              <a:ext cx="113" cy="1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53" name="Rectangle 17">
              <a:extLst>
                <a:ext uri="{FF2B5EF4-FFF2-40B4-BE49-F238E27FC236}">
                  <a16:creationId xmlns:a16="http://schemas.microsoft.com/office/drawing/2014/main" id="{CEA10919-A4F8-AB44-D007-7E8163F3B501}"/>
                </a:ext>
              </a:extLst>
            </p:cNvPr>
            <p:cNvSpPr>
              <a:spLocks noChangeAspect="1" noChangeArrowheads="1"/>
            </p:cNvSpPr>
            <p:nvPr/>
          </p:nvSpPr>
          <p:spPr bwMode="auto">
            <a:xfrm>
              <a:off x="4382" y="2047"/>
              <a:ext cx="113" cy="1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54" name="Rectangle 18">
              <a:extLst>
                <a:ext uri="{FF2B5EF4-FFF2-40B4-BE49-F238E27FC236}">
                  <a16:creationId xmlns:a16="http://schemas.microsoft.com/office/drawing/2014/main" id="{C3AB6F2B-E916-D49C-FFC2-67C7423693D4}"/>
                </a:ext>
              </a:extLst>
            </p:cNvPr>
            <p:cNvSpPr>
              <a:spLocks noChangeAspect="1" noChangeArrowheads="1"/>
            </p:cNvSpPr>
            <p:nvPr/>
          </p:nvSpPr>
          <p:spPr bwMode="auto">
            <a:xfrm>
              <a:off x="4495" y="2047"/>
              <a:ext cx="113" cy="113"/>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55" name="Rectangle 19">
              <a:extLst>
                <a:ext uri="{FF2B5EF4-FFF2-40B4-BE49-F238E27FC236}">
                  <a16:creationId xmlns:a16="http://schemas.microsoft.com/office/drawing/2014/main" id="{0A78596C-237D-6374-8023-13700A1C7A46}"/>
                </a:ext>
              </a:extLst>
            </p:cNvPr>
            <p:cNvSpPr>
              <a:spLocks noChangeAspect="1" noChangeArrowheads="1"/>
            </p:cNvSpPr>
            <p:nvPr/>
          </p:nvSpPr>
          <p:spPr bwMode="auto">
            <a:xfrm flipH="1">
              <a:off x="4278" y="1757"/>
              <a:ext cx="99" cy="1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M1</a:t>
              </a:r>
            </a:p>
          </p:txBody>
        </p:sp>
        <p:sp>
          <p:nvSpPr>
            <p:cNvPr id="1959956" name="Rectangle 20">
              <a:extLst>
                <a:ext uri="{FF2B5EF4-FFF2-40B4-BE49-F238E27FC236}">
                  <a16:creationId xmlns:a16="http://schemas.microsoft.com/office/drawing/2014/main" id="{1C36D750-4756-B8A7-31B8-8A15DA891F8A}"/>
                </a:ext>
              </a:extLst>
            </p:cNvPr>
            <p:cNvSpPr>
              <a:spLocks noChangeAspect="1" noChangeArrowheads="1"/>
            </p:cNvSpPr>
            <p:nvPr/>
          </p:nvSpPr>
          <p:spPr bwMode="auto">
            <a:xfrm flipH="1">
              <a:off x="4391" y="1757"/>
              <a:ext cx="99" cy="1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M2</a:t>
              </a:r>
            </a:p>
          </p:txBody>
        </p:sp>
        <p:sp>
          <p:nvSpPr>
            <p:cNvPr id="1959957" name="Rectangle 21">
              <a:extLst>
                <a:ext uri="{FF2B5EF4-FFF2-40B4-BE49-F238E27FC236}">
                  <a16:creationId xmlns:a16="http://schemas.microsoft.com/office/drawing/2014/main" id="{DCC2989C-39BB-B9D5-8FF6-4D20EB07D0EF}"/>
                </a:ext>
              </a:extLst>
            </p:cNvPr>
            <p:cNvSpPr>
              <a:spLocks noChangeAspect="1" noChangeArrowheads="1"/>
            </p:cNvSpPr>
            <p:nvPr/>
          </p:nvSpPr>
          <p:spPr bwMode="auto">
            <a:xfrm flipH="1">
              <a:off x="4503" y="1757"/>
              <a:ext cx="99" cy="1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M3</a:t>
              </a:r>
            </a:p>
          </p:txBody>
        </p:sp>
        <p:sp>
          <p:nvSpPr>
            <p:cNvPr id="1959958" name="Rectangle 22">
              <a:extLst>
                <a:ext uri="{FF2B5EF4-FFF2-40B4-BE49-F238E27FC236}">
                  <a16:creationId xmlns:a16="http://schemas.microsoft.com/office/drawing/2014/main" id="{E93994A0-F567-DEFA-2AEA-D1CE29E16B3E}"/>
                </a:ext>
              </a:extLst>
            </p:cNvPr>
            <p:cNvSpPr>
              <a:spLocks noChangeAspect="1" noChangeArrowheads="1"/>
            </p:cNvSpPr>
            <p:nvPr/>
          </p:nvSpPr>
          <p:spPr bwMode="auto">
            <a:xfrm flipH="1">
              <a:off x="4168" y="1862"/>
              <a:ext cx="99" cy="1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P1</a:t>
              </a:r>
            </a:p>
          </p:txBody>
        </p:sp>
        <p:sp>
          <p:nvSpPr>
            <p:cNvPr id="1959959" name="Rectangle 23">
              <a:extLst>
                <a:ext uri="{FF2B5EF4-FFF2-40B4-BE49-F238E27FC236}">
                  <a16:creationId xmlns:a16="http://schemas.microsoft.com/office/drawing/2014/main" id="{2E0349FE-EB2A-7B8F-E6F6-FD97A5D4DA21}"/>
                </a:ext>
              </a:extLst>
            </p:cNvPr>
            <p:cNvSpPr>
              <a:spLocks noChangeAspect="1" noChangeArrowheads="1"/>
            </p:cNvSpPr>
            <p:nvPr/>
          </p:nvSpPr>
          <p:spPr bwMode="auto">
            <a:xfrm flipH="1">
              <a:off x="4168" y="1957"/>
              <a:ext cx="99" cy="1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P2</a:t>
              </a:r>
            </a:p>
          </p:txBody>
        </p:sp>
        <p:sp>
          <p:nvSpPr>
            <p:cNvPr id="1959960" name="Rectangle 24">
              <a:extLst>
                <a:ext uri="{FF2B5EF4-FFF2-40B4-BE49-F238E27FC236}">
                  <a16:creationId xmlns:a16="http://schemas.microsoft.com/office/drawing/2014/main" id="{210CAB60-EEA1-30E7-D35F-C34D99C4FE5E}"/>
                </a:ext>
              </a:extLst>
            </p:cNvPr>
            <p:cNvSpPr>
              <a:spLocks noChangeAspect="1" noChangeArrowheads="1"/>
            </p:cNvSpPr>
            <p:nvPr/>
          </p:nvSpPr>
          <p:spPr bwMode="auto">
            <a:xfrm flipH="1">
              <a:off x="4168" y="2053"/>
              <a:ext cx="99" cy="1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P3</a:t>
              </a:r>
            </a:p>
          </p:txBody>
        </p:sp>
      </p:grpSp>
      <p:sp>
        <p:nvSpPr>
          <p:cNvPr id="1959961" name="AutoShape 25">
            <a:extLst>
              <a:ext uri="{FF2B5EF4-FFF2-40B4-BE49-F238E27FC236}">
                <a16:creationId xmlns:a16="http://schemas.microsoft.com/office/drawing/2014/main" id="{F9B27DA1-574E-C027-65EB-3061DB7EAC44}"/>
              </a:ext>
            </a:extLst>
          </p:cNvPr>
          <p:cNvSpPr>
            <a:spLocks noChangeAspect="1" noChangeArrowheads="1"/>
          </p:cNvSpPr>
          <p:nvPr/>
        </p:nvSpPr>
        <p:spPr bwMode="auto">
          <a:xfrm flipH="1">
            <a:off x="533400" y="5929313"/>
            <a:ext cx="838200" cy="517525"/>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単一市場への集中化</a:t>
            </a:r>
          </a:p>
        </p:txBody>
      </p:sp>
      <p:sp>
        <p:nvSpPr>
          <p:cNvPr id="1959962" name="Rectangle 26">
            <a:extLst>
              <a:ext uri="{FF2B5EF4-FFF2-40B4-BE49-F238E27FC236}">
                <a16:creationId xmlns:a16="http://schemas.microsoft.com/office/drawing/2014/main" id="{083EDD3D-2F9C-A3A2-376B-202069BA7081}"/>
              </a:ext>
            </a:extLst>
          </p:cNvPr>
          <p:cNvSpPr>
            <a:spLocks noChangeAspect="1" noChangeArrowheads="1"/>
          </p:cNvSpPr>
          <p:nvPr/>
        </p:nvSpPr>
        <p:spPr bwMode="auto">
          <a:xfrm flipH="1">
            <a:off x="2279650" y="5929313"/>
            <a:ext cx="1911350" cy="5175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72000" tIns="10800" rIns="82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1000">
                <a:latin typeface="ＭＳ Ｐゴシック" panose="020B0600070205080204" pitchFamily="50" charset="-128"/>
              </a:rPr>
              <a:t>特定のセグメント（市場）だけを標的として選ぶ</a:t>
            </a:r>
          </a:p>
        </p:txBody>
      </p:sp>
      <p:sp>
        <p:nvSpPr>
          <p:cNvPr id="1959963" name="AutoShape 27">
            <a:extLst>
              <a:ext uri="{FF2B5EF4-FFF2-40B4-BE49-F238E27FC236}">
                <a16:creationId xmlns:a16="http://schemas.microsoft.com/office/drawing/2014/main" id="{8DC23474-6370-0307-BDB8-15C5F9C4F8C1}"/>
              </a:ext>
            </a:extLst>
          </p:cNvPr>
          <p:cNvSpPr>
            <a:spLocks noChangeAspect="1" noChangeArrowheads="1"/>
          </p:cNvSpPr>
          <p:nvPr/>
        </p:nvSpPr>
        <p:spPr bwMode="auto">
          <a:xfrm flipH="1">
            <a:off x="533400" y="6519863"/>
            <a:ext cx="838200" cy="517525"/>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選択的特化</a:t>
            </a:r>
          </a:p>
        </p:txBody>
      </p:sp>
      <p:sp>
        <p:nvSpPr>
          <p:cNvPr id="1959964" name="Rectangle 28">
            <a:extLst>
              <a:ext uri="{FF2B5EF4-FFF2-40B4-BE49-F238E27FC236}">
                <a16:creationId xmlns:a16="http://schemas.microsoft.com/office/drawing/2014/main" id="{E2AE50F9-BCF2-4872-CE88-D494B5D14F72}"/>
              </a:ext>
            </a:extLst>
          </p:cNvPr>
          <p:cNvSpPr>
            <a:spLocks noChangeAspect="1" noChangeArrowheads="1"/>
          </p:cNvSpPr>
          <p:nvPr/>
        </p:nvSpPr>
        <p:spPr bwMode="auto">
          <a:xfrm flipH="1">
            <a:off x="2279650" y="6518275"/>
            <a:ext cx="1911350" cy="519113"/>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72000" tIns="10800" rIns="82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1000">
                <a:latin typeface="ＭＳ Ｐゴシック" panose="020B0600070205080204" pitchFamily="50" charset="-128"/>
              </a:rPr>
              <a:t>複数のセグメントを標的市場として選ぶ</a:t>
            </a:r>
          </a:p>
        </p:txBody>
      </p:sp>
      <p:sp>
        <p:nvSpPr>
          <p:cNvPr id="1959965" name="AutoShape 29">
            <a:extLst>
              <a:ext uri="{FF2B5EF4-FFF2-40B4-BE49-F238E27FC236}">
                <a16:creationId xmlns:a16="http://schemas.microsoft.com/office/drawing/2014/main" id="{94D46B58-AD2A-742C-CBC2-F3A412174991}"/>
              </a:ext>
            </a:extLst>
          </p:cNvPr>
          <p:cNvSpPr>
            <a:spLocks noChangeAspect="1" noChangeArrowheads="1"/>
          </p:cNvSpPr>
          <p:nvPr/>
        </p:nvSpPr>
        <p:spPr bwMode="auto">
          <a:xfrm flipH="1">
            <a:off x="533400" y="7112000"/>
            <a:ext cx="838200" cy="515938"/>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特定市場タイプへの集中化</a:t>
            </a:r>
          </a:p>
        </p:txBody>
      </p:sp>
      <p:sp>
        <p:nvSpPr>
          <p:cNvPr id="1959966" name="Rectangle 30">
            <a:extLst>
              <a:ext uri="{FF2B5EF4-FFF2-40B4-BE49-F238E27FC236}">
                <a16:creationId xmlns:a16="http://schemas.microsoft.com/office/drawing/2014/main" id="{CE278B3D-C1CB-0D1A-C7F4-0C7D6BA53255}"/>
              </a:ext>
            </a:extLst>
          </p:cNvPr>
          <p:cNvSpPr>
            <a:spLocks noChangeAspect="1" noChangeArrowheads="1"/>
          </p:cNvSpPr>
          <p:nvPr/>
        </p:nvSpPr>
        <p:spPr bwMode="auto">
          <a:xfrm flipH="1">
            <a:off x="2279650" y="7110413"/>
            <a:ext cx="1911350" cy="5175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72000" tIns="10800" rIns="82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1000">
                <a:latin typeface="ＭＳ Ｐゴシック" panose="020B0600070205080204" pitchFamily="50" charset="-128"/>
              </a:rPr>
              <a:t>特定のセグメントに各種の商品を売り込む</a:t>
            </a:r>
          </a:p>
        </p:txBody>
      </p:sp>
      <p:sp>
        <p:nvSpPr>
          <p:cNvPr id="1959967" name="AutoShape 31">
            <a:extLst>
              <a:ext uri="{FF2B5EF4-FFF2-40B4-BE49-F238E27FC236}">
                <a16:creationId xmlns:a16="http://schemas.microsoft.com/office/drawing/2014/main" id="{F03E6153-D26E-FC06-3349-8F22519B5A9B}"/>
              </a:ext>
            </a:extLst>
          </p:cNvPr>
          <p:cNvSpPr>
            <a:spLocks noChangeAspect="1" noChangeArrowheads="1"/>
          </p:cNvSpPr>
          <p:nvPr/>
        </p:nvSpPr>
        <p:spPr bwMode="auto">
          <a:xfrm flipH="1">
            <a:off x="533400" y="7702550"/>
            <a:ext cx="838200" cy="517525"/>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特定商品タイプへの集中化</a:t>
            </a:r>
          </a:p>
        </p:txBody>
      </p:sp>
      <p:sp>
        <p:nvSpPr>
          <p:cNvPr id="1959968" name="Rectangle 32">
            <a:extLst>
              <a:ext uri="{FF2B5EF4-FFF2-40B4-BE49-F238E27FC236}">
                <a16:creationId xmlns:a16="http://schemas.microsoft.com/office/drawing/2014/main" id="{3CFF65F4-CDF8-7E8A-39EE-32B9003CDD49}"/>
              </a:ext>
            </a:extLst>
          </p:cNvPr>
          <p:cNvSpPr>
            <a:spLocks noChangeAspect="1" noChangeArrowheads="1"/>
          </p:cNvSpPr>
          <p:nvPr/>
        </p:nvSpPr>
        <p:spPr bwMode="auto">
          <a:xfrm flipH="1">
            <a:off x="2279650" y="7700963"/>
            <a:ext cx="1911350" cy="519112"/>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72000" tIns="10800" rIns="82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1000">
                <a:latin typeface="ＭＳ Ｐゴシック" panose="020B0600070205080204" pitchFamily="50" charset="-128"/>
              </a:rPr>
              <a:t>特定の商品を各種の市場に売り込む</a:t>
            </a:r>
          </a:p>
        </p:txBody>
      </p:sp>
      <p:sp>
        <p:nvSpPr>
          <p:cNvPr id="1959969" name="Rectangle 33">
            <a:extLst>
              <a:ext uri="{FF2B5EF4-FFF2-40B4-BE49-F238E27FC236}">
                <a16:creationId xmlns:a16="http://schemas.microsoft.com/office/drawing/2014/main" id="{47855B65-EC92-B583-465C-08F9F57B9A1C}"/>
              </a:ext>
            </a:extLst>
          </p:cNvPr>
          <p:cNvSpPr>
            <a:spLocks noChangeAspect="1" noChangeArrowheads="1"/>
          </p:cNvSpPr>
          <p:nvPr/>
        </p:nvSpPr>
        <p:spPr bwMode="auto">
          <a:xfrm>
            <a:off x="1652588" y="6637338"/>
            <a:ext cx="163512"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70" name="Rectangle 34">
            <a:extLst>
              <a:ext uri="{FF2B5EF4-FFF2-40B4-BE49-F238E27FC236}">
                <a16:creationId xmlns:a16="http://schemas.microsoft.com/office/drawing/2014/main" id="{1B6CBC57-9FAB-C543-1FB8-A2FD8798EF10}"/>
              </a:ext>
            </a:extLst>
          </p:cNvPr>
          <p:cNvSpPr>
            <a:spLocks noChangeAspect="1" noChangeArrowheads="1"/>
          </p:cNvSpPr>
          <p:nvPr/>
        </p:nvSpPr>
        <p:spPr bwMode="auto">
          <a:xfrm>
            <a:off x="1816100" y="6637338"/>
            <a:ext cx="165100"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71" name="Rectangle 35">
            <a:extLst>
              <a:ext uri="{FF2B5EF4-FFF2-40B4-BE49-F238E27FC236}">
                <a16:creationId xmlns:a16="http://schemas.microsoft.com/office/drawing/2014/main" id="{6B79C9D7-6EFD-2A4B-8242-1CC1777B68D6}"/>
              </a:ext>
            </a:extLst>
          </p:cNvPr>
          <p:cNvSpPr>
            <a:spLocks noChangeAspect="1" noChangeArrowheads="1"/>
          </p:cNvSpPr>
          <p:nvPr/>
        </p:nvSpPr>
        <p:spPr bwMode="auto">
          <a:xfrm>
            <a:off x="1981200" y="6637338"/>
            <a:ext cx="163513"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72" name="Rectangle 36">
            <a:extLst>
              <a:ext uri="{FF2B5EF4-FFF2-40B4-BE49-F238E27FC236}">
                <a16:creationId xmlns:a16="http://schemas.microsoft.com/office/drawing/2014/main" id="{0EF578C9-3563-FFFC-CB54-8F2C42ED55CF}"/>
              </a:ext>
            </a:extLst>
          </p:cNvPr>
          <p:cNvSpPr>
            <a:spLocks noChangeAspect="1" noChangeArrowheads="1"/>
          </p:cNvSpPr>
          <p:nvPr/>
        </p:nvSpPr>
        <p:spPr bwMode="auto">
          <a:xfrm>
            <a:off x="1652588" y="6767513"/>
            <a:ext cx="163512"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73" name="Rectangle 37">
            <a:extLst>
              <a:ext uri="{FF2B5EF4-FFF2-40B4-BE49-F238E27FC236}">
                <a16:creationId xmlns:a16="http://schemas.microsoft.com/office/drawing/2014/main" id="{B9AD40D1-D3E8-CD8C-0733-11CC5D5C1D09}"/>
              </a:ext>
            </a:extLst>
          </p:cNvPr>
          <p:cNvSpPr>
            <a:spLocks noChangeAspect="1" noChangeArrowheads="1"/>
          </p:cNvSpPr>
          <p:nvPr/>
        </p:nvSpPr>
        <p:spPr bwMode="auto">
          <a:xfrm>
            <a:off x="1816100" y="6767513"/>
            <a:ext cx="165100"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74" name="Rectangle 38">
            <a:extLst>
              <a:ext uri="{FF2B5EF4-FFF2-40B4-BE49-F238E27FC236}">
                <a16:creationId xmlns:a16="http://schemas.microsoft.com/office/drawing/2014/main" id="{9BE22A11-70DE-9697-B0D4-D1AD15FAE469}"/>
              </a:ext>
            </a:extLst>
          </p:cNvPr>
          <p:cNvSpPr>
            <a:spLocks noChangeAspect="1" noChangeArrowheads="1"/>
          </p:cNvSpPr>
          <p:nvPr/>
        </p:nvSpPr>
        <p:spPr bwMode="auto">
          <a:xfrm>
            <a:off x="1981200" y="6767513"/>
            <a:ext cx="163513"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75" name="Rectangle 39">
            <a:extLst>
              <a:ext uri="{FF2B5EF4-FFF2-40B4-BE49-F238E27FC236}">
                <a16:creationId xmlns:a16="http://schemas.microsoft.com/office/drawing/2014/main" id="{1186C5A5-9DF6-FF19-8DDA-B61C46F84D48}"/>
              </a:ext>
            </a:extLst>
          </p:cNvPr>
          <p:cNvSpPr>
            <a:spLocks noChangeAspect="1" noChangeArrowheads="1"/>
          </p:cNvSpPr>
          <p:nvPr/>
        </p:nvSpPr>
        <p:spPr bwMode="auto">
          <a:xfrm>
            <a:off x="1652588" y="6896100"/>
            <a:ext cx="163512"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76" name="Rectangle 40">
            <a:extLst>
              <a:ext uri="{FF2B5EF4-FFF2-40B4-BE49-F238E27FC236}">
                <a16:creationId xmlns:a16="http://schemas.microsoft.com/office/drawing/2014/main" id="{0D56C923-1837-0843-188E-DCC8ED05AB0A}"/>
              </a:ext>
            </a:extLst>
          </p:cNvPr>
          <p:cNvSpPr>
            <a:spLocks noChangeAspect="1" noChangeArrowheads="1"/>
          </p:cNvSpPr>
          <p:nvPr/>
        </p:nvSpPr>
        <p:spPr bwMode="auto">
          <a:xfrm>
            <a:off x="1816100" y="6896100"/>
            <a:ext cx="165100"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77" name="Rectangle 41">
            <a:extLst>
              <a:ext uri="{FF2B5EF4-FFF2-40B4-BE49-F238E27FC236}">
                <a16:creationId xmlns:a16="http://schemas.microsoft.com/office/drawing/2014/main" id="{7A04FD04-EBFF-6746-E5C3-8BA7E08BC507}"/>
              </a:ext>
            </a:extLst>
          </p:cNvPr>
          <p:cNvSpPr>
            <a:spLocks noChangeAspect="1" noChangeArrowheads="1"/>
          </p:cNvSpPr>
          <p:nvPr/>
        </p:nvSpPr>
        <p:spPr bwMode="auto">
          <a:xfrm>
            <a:off x="1981200" y="6896100"/>
            <a:ext cx="163513"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78" name="Rectangle 42">
            <a:extLst>
              <a:ext uri="{FF2B5EF4-FFF2-40B4-BE49-F238E27FC236}">
                <a16:creationId xmlns:a16="http://schemas.microsoft.com/office/drawing/2014/main" id="{5D05870D-98B7-01C6-3077-976C6F01C1E5}"/>
              </a:ext>
            </a:extLst>
          </p:cNvPr>
          <p:cNvSpPr>
            <a:spLocks noChangeAspect="1" noChangeArrowheads="1"/>
          </p:cNvSpPr>
          <p:nvPr/>
        </p:nvSpPr>
        <p:spPr bwMode="auto">
          <a:xfrm flipH="1">
            <a:off x="1665288" y="6505575"/>
            <a:ext cx="144462"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M1</a:t>
            </a:r>
          </a:p>
        </p:txBody>
      </p:sp>
      <p:sp>
        <p:nvSpPr>
          <p:cNvPr id="1959979" name="Rectangle 43">
            <a:extLst>
              <a:ext uri="{FF2B5EF4-FFF2-40B4-BE49-F238E27FC236}">
                <a16:creationId xmlns:a16="http://schemas.microsoft.com/office/drawing/2014/main" id="{4FE5E1B5-EA0B-B137-FBA6-E58D551EF6B1}"/>
              </a:ext>
            </a:extLst>
          </p:cNvPr>
          <p:cNvSpPr>
            <a:spLocks noChangeAspect="1" noChangeArrowheads="1"/>
          </p:cNvSpPr>
          <p:nvPr/>
        </p:nvSpPr>
        <p:spPr bwMode="auto">
          <a:xfrm flipH="1">
            <a:off x="1828800" y="6505575"/>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M2</a:t>
            </a:r>
          </a:p>
        </p:txBody>
      </p:sp>
      <p:sp>
        <p:nvSpPr>
          <p:cNvPr id="1959980" name="Rectangle 44">
            <a:extLst>
              <a:ext uri="{FF2B5EF4-FFF2-40B4-BE49-F238E27FC236}">
                <a16:creationId xmlns:a16="http://schemas.microsoft.com/office/drawing/2014/main" id="{51E70E2E-C34A-BB9F-16E9-502511EC2CEE}"/>
              </a:ext>
            </a:extLst>
          </p:cNvPr>
          <p:cNvSpPr>
            <a:spLocks noChangeAspect="1" noChangeArrowheads="1"/>
          </p:cNvSpPr>
          <p:nvPr/>
        </p:nvSpPr>
        <p:spPr bwMode="auto">
          <a:xfrm flipH="1">
            <a:off x="1992313" y="6505575"/>
            <a:ext cx="144462"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M3</a:t>
            </a:r>
          </a:p>
        </p:txBody>
      </p:sp>
      <p:sp>
        <p:nvSpPr>
          <p:cNvPr id="1959981" name="Rectangle 45">
            <a:extLst>
              <a:ext uri="{FF2B5EF4-FFF2-40B4-BE49-F238E27FC236}">
                <a16:creationId xmlns:a16="http://schemas.microsoft.com/office/drawing/2014/main" id="{078790B9-9D11-6517-2951-571D6B67C77B}"/>
              </a:ext>
            </a:extLst>
          </p:cNvPr>
          <p:cNvSpPr>
            <a:spLocks noChangeAspect="1" noChangeArrowheads="1"/>
          </p:cNvSpPr>
          <p:nvPr/>
        </p:nvSpPr>
        <p:spPr bwMode="auto">
          <a:xfrm flipH="1">
            <a:off x="1504950" y="6645275"/>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P1</a:t>
            </a:r>
          </a:p>
        </p:txBody>
      </p:sp>
      <p:sp>
        <p:nvSpPr>
          <p:cNvPr id="1959982" name="Rectangle 46">
            <a:extLst>
              <a:ext uri="{FF2B5EF4-FFF2-40B4-BE49-F238E27FC236}">
                <a16:creationId xmlns:a16="http://schemas.microsoft.com/office/drawing/2014/main" id="{6DCD3A37-8F94-3EDB-3570-28A535B12230}"/>
              </a:ext>
            </a:extLst>
          </p:cNvPr>
          <p:cNvSpPr>
            <a:spLocks noChangeAspect="1" noChangeArrowheads="1"/>
          </p:cNvSpPr>
          <p:nvPr/>
        </p:nvSpPr>
        <p:spPr bwMode="auto">
          <a:xfrm flipH="1">
            <a:off x="1504950" y="6775450"/>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P2</a:t>
            </a:r>
          </a:p>
        </p:txBody>
      </p:sp>
      <p:sp>
        <p:nvSpPr>
          <p:cNvPr id="1959983" name="Rectangle 47">
            <a:extLst>
              <a:ext uri="{FF2B5EF4-FFF2-40B4-BE49-F238E27FC236}">
                <a16:creationId xmlns:a16="http://schemas.microsoft.com/office/drawing/2014/main" id="{2D6EA749-D0B4-6068-1650-76A1982E9349}"/>
              </a:ext>
            </a:extLst>
          </p:cNvPr>
          <p:cNvSpPr>
            <a:spLocks noChangeAspect="1" noChangeArrowheads="1"/>
          </p:cNvSpPr>
          <p:nvPr/>
        </p:nvSpPr>
        <p:spPr bwMode="auto">
          <a:xfrm flipH="1">
            <a:off x="1504950" y="6904038"/>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P3</a:t>
            </a:r>
          </a:p>
        </p:txBody>
      </p:sp>
      <p:sp>
        <p:nvSpPr>
          <p:cNvPr id="1959984" name="Rectangle 48">
            <a:extLst>
              <a:ext uri="{FF2B5EF4-FFF2-40B4-BE49-F238E27FC236}">
                <a16:creationId xmlns:a16="http://schemas.microsoft.com/office/drawing/2014/main" id="{6D2D9A2C-84DA-E62C-5FCD-4119FD75DCC1}"/>
              </a:ext>
            </a:extLst>
          </p:cNvPr>
          <p:cNvSpPr>
            <a:spLocks noChangeAspect="1" noChangeArrowheads="1"/>
          </p:cNvSpPr>
          <p:nvPr/>
        </p:nvSpPr>
        <p:spPr bwMode="auto">
          <a:xfrm>
            <a:off x="1652588" y="7229475"/>
            <a:ext cx="163512"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85" name="Rectangle 49">
            <a:extLst>
              <a:ext uri="{FF2B5EF4-FFF2-40B4-BE49-F238E27FC236}">
                <a16:creationId xmlns:a16="http://schemas.microsoft.com/office/drawing/2014/main" id="{D95DA35E-2F7A-E824-5736-BAA82B53663B}"/>
              </a:ext>
            </a:extLst>
          </p:cNvPr>
          <p:cNvSpPr>
            <a:spLocks noChangeAspect="1" noChangeArrowheads="1"/>
          </p:cNvSpPr>
          <p:nvPr/>
        </p:nvSpPr>
        <p:spPr bwMode="auto">
          <a:xfrm>
            <a:off x="1816100" y="7229475"/>
            <a:ext cx="165100"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86" name="Rectangle 50">
            <a:extLst>
              <a:ext uri="{FF2B5EF4-FFF2-40B4-BE49-F238E27FC236}">
                <a16:creationId xmlns:a16="http://schemas.microsoft.com/office/drawing/2014/main" id="{E98F0D64-8311-8353-8230-53FB15A88ED2}"/>
              </a:ext>
            </a:extLst>
          </p:cNvPr>
          <p:cNvSpPr>
            <a:spLocks noChangeAspect="1" noChangeArrowheads="1"/>
          </p:cNvSpPr>
          <p:nvPr/>
        </p:nvSpPr>
        <p:spPr bwMode="auto">
          <a:xfrm>
            <a:off x="1981200" y="7229475"/>
            <a:ext cx="163513"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87" name="Rectangle 51">
            <a:extLst>
              <a:ext uri="{FF2B5EF4-FFF2-40B4-BE49-F238E27FC236}">
                <a16:creationId xmlns:a16="http://schemas.microsoft.com/office/drawing/2014/main" id="{1E0B8A24-995F-7872-1854-31F59545C491}"/>
              </a:ext>
            </a:extLst>
          </p:cNvPr>
          <p:cNvSpPr>
            <a:spLocks noChangeAspect="1" noChangeArrowheads="1"/>
          </p:cNvSpPr>
          <p:nvPr/>
        </p:nvSpPr>
        <p:spPr bwMode="auto">
          <a:xfrm>
            <a:off x="1652588" y="7358063"/>
            <a:ext cx="163512"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88" name="Rectangle 52">
            <a:extLst>
              <a:ext uri="{FF2B5EF4-FFF2-40B4-BE49-F238E27FC236}">
                <a16:creationId xmlns:a16="http://schemas.microsoft.com/office/drawing/2014/main" id="{BB4AE003-AA7B-7B62-9315-FFF8C2585DBD}"/>
              </a:ext>
            </a:extLst>
          </p:cNvPr>
          <p:cNvSpPr>
            <a:spLocks noChangeAspect="1" noChangeArrowheads="1"/>
          </p:cNvSpPr>
          <p:nvPr/>
        </p:nvSpPr>
        <p:spPr bwMode="auto">
          <a:xfrm>
            <a:off x="1816100" y="7358063"/>
            <a:ext cx="165100"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89" name="Rectangle 53">
            <a:extLst>
              <a:ext uri="{FF2B5EF4-FFF2-40B4-BE49-F238E27FC236}">
                <a16:creationId xmlns:a16="http://schemas.microsoft.com/office/drawing/2014/main" id="{8EF61A11-5220-9372-98FB-D5F5EF65782D}"/>
              </a:ext>
            </a:extLst>
          </p:cNvPr>
          <p:cNvSpPr>
            <a:spLocks noChangeAspect="1" noChangeArrowheads="1"/>
          </p:cNvSpPr>
          <p:nvPr/>
        </p:nvSpPr>
        <p:spPr bwMode="auto">
          <a:xfrm>
            <a:off x="1981200" y="7358063"/>
            <a:ext cx="163513"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90" name="Rectangle 54">
            <a:extLst>
              <a:ext uri="{FF2B5EF4-FFF2-40B4-BE49-F238E27FC236}">
                <a16:creationId xmlns:a16="http://schemas.microsoft.com/office/drawing/2014/main" id="{5A1F9FE2-B921-B2C2-884A-909DD7A411EA}"/>
              </a:ext>
            </a:extLst>
          </p:cNvPr>
          <p:cNvSpPr>
            <a:spLocks noChangeAspect="1" noChangeArrowheads="1"/>
          </p:cNvSpPr>
          <p:nvPr/>
        </p:nvSpPr>
        <p:spPr bwMode="auto">
          <a:xfrm>
            <a:off x="1652588" y="7488238"/>
            <a:ext cx="163512"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91" name="Rectangle 55">
            <a:extLst>
              <a:ext uri="{FF2B5EF4-FFF2-40B4-BE49-F238E27FC236}">
                <a16:creationId xmlns:a16="http://schemas.microsoft.com/office/drawing/2014/main" id="{930DD056-611D-12A8-C1D5-2FBC641E7CF6}"/>
              </a:ext>
            </a:extLst>
          </p:cNvPr>
          <p:cNvSpPr>
            <a:spLocks noChangeAspect="1" noChangeArrowheads="1"/>
          </p:cNvSpPr>
          <p:nvPr/>
        </p:nvSpPr>
        <p:spPr bwMode="auto">
          <a:xfrm>
            <a:off x="1816100" y="7488238"/>
            <a:ext cx="165100"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92" name="Rectangle 56">
            <a:extLst>
              <a:ext uri="{FF2B5EF4-FFF2-40B4-BE49-F238E27FC236}">
                <a16:creationId xmlns:a16="http://schemas.microsoft.com/office/drawing/2014/main" id="{9AB2E3FB-1513-EE8C-5B40-49E1F4FBBD66}"/>
              </a:ext>
            </a:extLst>
          </p:cNvPr>
          <p:cNvSpPr>
            <a:spLocks noChangeAspect="1" noChangeArrowheads="1"/>
          </p:cNvSpPr>
          <p:nvPr/>
        </p:nvSpPr>
        <p:spPr bwMode="auto">
          <a:xfrm>
            <a:off x="1981200" y="7488238"/>
            <a:ext cx="163513"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59993" name="Rectangle 57">
            <a:extLst>
              <a:ext uri="{FF2B5EF4-FFF2-40B4-BE49-F238E27FC236}">
                <a16:creationId xmlns:a16="http://schemas.microsoft.com/office/drawing/2014/main" id="{D146E640-A401-AA5D-28BF-D6C816CC40EB}"/>
              </a:ext>
            </a:extLst>
          </p:cNvPr>
          <p:cNvSpPr>
            <a:spLocks noChangeAspect="1" noChangeArrowheads="1"/>
          </p:cNvSpPr>
          <p:nvPr/>
        </p:nvSpPr>
        <p:spPr bwMode="auto">
          <a:xfrm flipH="1">
            <a:off x="1665288" y="7096125"/>
            <a:ext cx="144462"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M1</a:t>
            </a:r>
          </a:p>
        </p:txBody>
      </p:sp>
      <p:sp>
        <p:nvSpPr>
          <p:cNvPr id="1959994" name="Rectangle 58">
            <a:extLst>
              <a:ext uri="{FF2B5EF4-FFF2-40B4-BE49-F238E27FC236}">
                <a16:creationId xmlns:a16="http://schemas.microsoft.com/office/drawing/2014/main" id="{B31AB850-72DD-5D3B-21C7-75EE435400E8}"/>
              </a:ext>
            </a:extLst>
          </p:cNvPr>
          <p:cNvSpPr>
            <a:spLocks noChangeAspect="1" noChangeArrowheads="1"/>
          </p:cNvSpPr>
          <p:nvPr/>
        </p:nvSpPr>
        <p:spPr bwMode="auto">
          <a:xfrm flipH="1">
            <a:off x="1828800" y="7096125"/>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M2</a:t>
            </a:r>
          </a:p>
        </p:txBody>
      </p:sp>
      <p:sp>
        <p:nvSpPr>
          <p:cNvPr id="1959995" name="Rectangle 59">
            <a:extLst>
              <a:ext uri="{FF2B5EF4-FFF2-40B4-BE49-F238E27FC236}">
                <a16:creationId xmlns:a16="http://schemas.microsoft.com/office/drawing/2014/main" id="{D268DE43-9031-EE5C-E5DD-1862D1949F49}"/>
              </a:ext>
            </a:extLst>
          </p:cNvPr>
          <p:cNvSpPr>
            <a:spLocks noChangeAspect="1" noChangeArrowheads="1"/>
          </p:cNvSpPr>
          <p:nvPr/>
        </p:nvSpPr>
        <p:spPr bwMode="auto">
          <a:xfrm flipH="1">
            <a:off x="1992313" y="7096125"/>
            <a:ext cx="144462"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M3</a:t>
            </a:r>
          </a:p>
        </p:txBody>
      </p:sp>
      <p:sp>
        <p:nvSpPr>
          <p:cNvPr id="1959996" name="Rectangle 60">
            <a:extLst>
              <a:ext uri="{FF2B5EF4-FFF2-40B4-BE49-F238E27FC236}">
                <a16:creationId xmlns:a16="http://schemas.microsoft.com/office/drawing/2014/main" id="{608EB916-023F-E714-CB29-79D5EB84F66C}"/>
              </a:ext>
            </a:extLst>
          </p:cNvPr>
          <p:cNvSpPr>
            <a:spLocks noChangeAspect="1" noChangeArrowheads="1"/>
          </p:cNvSpPr>
          <p:nvPr/>
        </p:nvSpPr>
        <p:spPr bwMode="auto">
          <a:xfrm flipH="1">
            <a:off x="1504950" y="7237413"/>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P1</a:t>
            </a:r>
          </a:p>
        </p:txBody>
      </p:sp>
      <p:sp>
        <p:nvSpPr>
          <p:cNvPr id="1959997" name="Rectangle 61">
            <a:extLst>
              <a:ext uri="{FF2B5EF4-FFF2-40B4-BE49-F238E27FC236}">
                <a16:creationId xmlns:a16="http://schemas.microsoft.com/office/drawing/2014/main" id="{7FA5976B-39ED-9987-D9A5-EFCB318E8548}"/>
              </a:ext>
            </a:extLst>
          </p:cNvPr>
          <p:cNvSpPr>
            <a:spLocks noChangeAspect="1" noChangeArrowheads="1"/>
          </p:cNvSpPr>
          <p:nvPr/>
        </p:nvSpPr>
        <p:spPr bwMode="auto">
          <a:xfrm flipH="1">
            <a:off x="1504950" y="7366000"/>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P2</a:t>
            </a:r>
          </a:p>
        </p:txBody>
      </p:sp>
      <p:sp>
        <p:nvSpPr>
          <p:cNvPr id="1959998" name="Rectangle 62">
            <a:extLst>
              <a:ext uri="{FF2B5EF4-FFF2-40B4-BE49-F238E27FC236}">
                <a16:creationId xmlns:a16="http://schemas.microsoft.com/office/drawing/2014/main" id="{2F4388E0-2AAB-76D3-DC22-EF1475A1EE3E}"/>
              </a:ext>
            </a:extLst>
          </p:cNvPr>
          <p:cNvSpPr>
            <a:spLocks noChangeAspect="1" noChangeArrowheads="1"/>
          </p:cNvSpPr>
          <p:nvPr/>
        </p:nvSpPr>
        <p:spPr bwMode="auto">
          <a:xfrm flipH="1">
            <a:off x="1504950" y="7496175"/>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P3</a:t>
            </a:r>
          </a:p>
        </p:txBody>
      </p:sp>
      <p:sp>
        <p:nvSpPr>
          <p:cNvPr id="1959999" name="Rectangle 63">
            <a:extLst>
              <a:ext uri="{FF2B5EF4-FFF2-40B4-BE49-F238E27FC236}">
                <a16:creationId xmlns:a16="http://schemas.microsoft.com/office/drawing/2014/main" id="{F2B9F39A-1737-561E-9451-4C99E5431861}"/>
              </a:ext>
            </a:extLst>
          </p:cNvPr>
          <p:cNvSpPr>
            <a:spLocks noChangeAspect="1" noChangeArrowheads="1"/>
          </p:cNvSpPr>
          <p:nvPr/>
        </p:nvSpPr>
        <p:spPr bwMode="auto">
          <a:xfrm>
            <a:off x="1652588" y="7820025"/>
            <a:ext cx="163512"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00" name="Rectangle 64">
            <a:extLst>
              <a:ext uri="{FF2B5EF4-FFF2-40B4-BE49-F238E27FC236}">
                <a16:creationId xmlns:a16="http://schemas.microsoft.com/office/drawing/2014/main" id="{56648EE5-772E-36E0-F751-D11C830E0103}"/>
              </a:ext>
            </a:extLst>
          </p:cNvPr>
          <p:cNvSpPr>
            <a:spLocks noChangeAspect="1" noChangeArrowheads="1"/>
          </p:cNvSpPr>
          <p:nvPr/>
        </p:nvSpPr>
        <p:spPr bwMode="auto">
          <a:xfrm>
            <a:off x="1816100" y="7820025"/>
            <a:ext cx="165100"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01" name="Rectangle 65">
            <a:extLst>
              <a:ext uri="{FF2B5EF4-FFF2-40B4-BE49-F238E27FC236}">
                <a16:creationId xmlns:a16="http://schemas.microsoft.com/office/drawing/2014/main" id="{9E2C7CC4-BD38-97B7-BCC8-41406A59FD28}"/>
              </a:ext>
            </a:extLst>
          </p:cNvPr>
          <p:cNvSpPr>
            <a:spLocks noChangeAspect="1" noChangeArrowheads="1"/>
          </p:cNvSpPr>
          <p:nvPr/>
        </p:nvSpPr>
        <p:spPr bwMode="auto">
          <a:xfrm>
            <a:off x="1981200" y="7820025"/>
            <a:ext cx="163513"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02" name="Rectangle 66">
            <a:extLst>
              <a:ext uri="{FF2B5EF4-FFF2-40B4-BE49-F238E27FC236}">
                <a16:creationId xmlns:a16="http://schemas.microsoft.com/office/drawing/2014/main" id="{2DE44C45-66E9-CC14-59D5-D0509EFEBE67}"/>
              </a:ext>
            </a:extLst>
          </p:cNvPr>
          <p:cNvSpPr>
            <a:spLocks noChangeAspect="1" noChangeArrowheads="1"/>
          </p:cNvSpPr>
          <p:nvPr/>
        </p:nvSpPr>
        <p:spPr bwMode="auto">
          <a:xfrm>
            <a:off x="1652588" y="7950200"/>
            <a:ext cx="163512"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03" name="Rectangle 67">
            <a:extLst>
              <a:ext uri="{FF2B5EF4-FFF2-40B4-BE49-F238E27FC236}">
                <a16:creationId xmlns:a16="http://schemas.microsoft.com/office/drawing/2014/main" id="{774D0734-3632-0DCA-CAC6-FE2C50247598}"/>
              </a:ext>
            </a:extLst>
          </p:cNvPr>
          <p:cNvSpPr>
            <a:spLocks noChangeAspect="1" noChangeArrowheads="1"/>
          </p:cNvSpPr>
          <p:nvPr/>
        </p:nvSpPr>
        <p:spPr bwMode="auto">
          <a:xfrm>
            <a:off x="1816100" y="7950200"/>
            <a:ext cx="165100"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04" name="Rectangle 68">
            <a:extLst>
              <a:ext uri="{FF2B5EF4-FFF2-40B4-BE49-F238E27FC236}">
                <a16:creationId xmlns:a16="http://schemas.microsoft.com/office/drawing/2014/main" id="{CD271998-4973-F46D-5047-C1081C97D7BB}"/>
              </a:ext>
            </a:extLst>
          </p:cNvPr>
          <p:cNvSpPr>
            <a:spLocks noChangeAspect="1" noChangeArrowheads="1"/>
          </p:cNvSpPr>
          <p:nvPr/>
        </p:nvSpPr>
        <p:spPr bwMode="auto">
          <a:xfrm>
            <a:off x="1981200" y="7950200"/>
            <a:ext cx="163513"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05" name="Rectangle 69">
            <a:extLst>
              <a:ext uri="{FF2B5EF4-FFF2-40B4-BE49-F238E27FC236}">
                <a16:creationId xmlns:a16="http://schemas.microsoft.com/office/drawing/2014/main" id="{FCA32EC7-543C-C060-271C-3918DB0BF7EA}"/>
              </a:ext>
            </a:extLst>
          </p:cNvPr>
          <p:cNvSpPr>
            <a:spLocks noChangeAspect="1" noChangeArrowheads="1"/>
          </p:cNvSpPr>
          <p:nvPr/>
        </p:nvSpPr>
        <p:spPr bwMode="auto">
          <a:xfrm>
            <a:off x="1652588" y="8078788"/>
            <a:ext cx="163512"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06" name="Rectangle 70">
            <a:extLst>
              <a:ext uri="{FF2B5EF4-FFF2-40B4-BE49-F238E27FC236}">
                <a16:creationId xmlns:a16="http://schemas.microsoft.com/office/drawing/2014/main" id="{D290ADA2-3017-2EF7-0243-52BECB89402B}"/>
              </a:ext>
            </a:extLst>
          </p:cNvPr>
          <p:cNvSpPr>
            <a:spLocks noChangeAspect="1" noChangeArrowheads="1"/>
          </p:cNvSpPr>
          <p:nvPr/>
        </p:nvSpPr>
        <p:spPr bwMode="auto">
          <a:xfrm>
            <a:off x="1816100" y="8078788"/>
            <a:ext cx="165100"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07" name="Rectangle 71">
            <a:extLst>
              <a:ext uri="{FF2B5EF4-FFF2-40B4-BE49-F238E27FC236}">
                <a16:creationId xmlns:a16="http://schemas.microsoft.com/office/drawing/2014/main" id="{4F6C1729-5A30-2AC2-9396-6AD5383049FE}"/>
              </a:ext>
            </a:extLst>
          </p:cNvPr>
          <p:cNvSpPr>
            <a:spLocks noChangeAspect="1" noChangeArrowheads="1"/>
          </p:cNvSpPr>
          <p:nvPr/>
        </p:nvSpPr>
        <p:spPr bwMode="auto">
          <a:xfrm>
            <a:off x="1981200" y="8078788"/>
            <a:ext cx="163513" cy="152400"/>
          </a:xfrm>
          <a:prstGeom prst="rect">
            <a:avLst/>
          </a:prstGeom>
          <a:solidFill>
            <a:schemeClr val="bg1"/>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08" name="Rectangle 72">
            <a:extLst>
              <a:ext uri="{FF2B5EF4-FFF2-40B4-BE49-F238E27FC236}">
                <a16:creationId xmlns:a16="http://schemas.microsoft.com/office/drawing/2014/main" id="{238A2D19-2D69-995D-A8F1-9ABD53BB098E}"/>
              </a:ext>
            </a:extLst>
          </p:cNvPr>
          <p:cNvSpPr>
            <a:spLocks noChangeAspect="1" noChangeArrowheads="1"/>
          </p:cNvSpPr>
          <p:nvPr/>
        </p:nvSpPr>
        <p:spPr bwMode="auto">
          <a:xfrm flipH="1">
            <a:off x="1665288" y="7688263"/>
            <a:ext cx="144462"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M1</a:t>
            </a:r>
          </a:p>
        </p:txBody>
      </p:sp>
      <p:sp>
        <p:nvSpPr>
          <p:cNvPr id="1960009" name="Rectangle 73">
            <a:extLst>
              <a:ext uri="{FF2B5EF4-FFF2-40B4-BE49-F238E27FC236}">
                <a16:creationId xmlns:a16="http://schemas.microsoft.com/office/drawing/2014/main" id="{27AD3F9B-855A-B5A7-598D-AB8AD2D90582}"/>
              </a:ext>
            </a:extLst>
          </p:cNvPr>
          <p:cNvSpPr>
            <a:spLocks noChangeAspect="1" noChangeArrowheads="1"/>
          </p:cNvSpPr>
          <p:nvPr/>
        </p:nvSpPr>
        <p:spPr bwMode="auto">
          <a:xfrm flipH="1">
            <a:off x="1828800" y="7688263"/>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M2</a:t>
            </a:r>
          </a:p>
        </p:txBody>
      </p:sp>
      <p:sp>
        <p:nvSpPr>
          <p:cNvPr id="1960010" name="Rectangle 74">
            <a:extLst>
              <a:ext uri="{FF2B5EF4-FFF2-40B4-BE49-F238E27FC236}">
                <a16:creationId xmlns:a16="http://schemas.microsoft.com/office/drawing/2014/main" id="{0BF06201-50F9-F5EB-D38F-B3A2955C01AA}"/>
              </a:ext>
            </a:extLst>
          </p:cNvPr>
          <p:cNvSpPr>
            <a:spLocks noChangeAspect="1" noChangeArrowheads="1"/>
          </p:cNvSpPr>
          <p:nvPr/>
        </p:nvSpPr>
        <p:spPr bwMode="auto">
          <a:xfrm flipH="1">
            <a:off x="1992313" y="7688263"/>
            <a:ext cx="144462"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M3</a:t>
            </a:r>
          </a:p>
        </p:txBody>
      </p:sp>
      <p:sp>
        <p:nvSpPr>
          <p:cNvPr id="1960011" name="Rectangle 75">
            <a:extLst>
              <a:ext uri="{FF2B5EF4-FFF2-40B4-BE49-F238E27FC236}">
                <a16:creationId xmlns:a16="http://schemas.microsoft.com/office/drawing/2014/main" id="{E2F546AD-E47D-7DEB-7094-3572CC7E8177}"/>
              </a:ext>
            </a:extLst>
          </p:cNvPr>
          <p:cNvSpPr>
            <a:spLocks noChangeAspect="1" noChangeArrowheads="1"/>
          </p:cNvSpPr>
          <p:nvPr/>
        </p:nvSpPr>
        <p:spPr bwMode="auto">
          <a:xfrm flipH="1">
            <a:off x="1504950" y="7827963"/>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P1</a:t>
            </a:r>
          </a:p>
        </p:txBody>
      </p:sp>
      <p:sp>
        <p:nvSpPr>
          <p:cNvPr id="1960012" name="Rectangle 76">
            <a:extLst>
              <a:ext uri="{FF2B5EF4-FFF2-40B4-BE49-F238E27FC236}">
                <a16:creationId xmlns:a16="http://schemas.microsoft.com/office/drawing/2014/main" id="{D2F62FBA-7D37-7696-865E-694E1AB19B73}"/>
              </a:ext>
            </a:extLst>
          </p:cNvPr>
          <p:cNvSpPr>
            <a:spLocks noChangeAspect="1" noChangeArrowheads="1"/>
          </p:cNvSpPr>
          <p:nvPr/>
        </p:nvSpPr>
        <p:spPr bwMode="auto">
          <a:xfrm flipH="1">
            <a:off x="1504950" y="7958138"/>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P2</a:t>
            </a:r>
          </a:p>
        </p:txBody>
      </p:sp>
      <p:sp>
        <p:nvSpPr>
          <p:cNvPr id="1960013" name="Rectangle 77">
            <a:extLst>
              <a:ext uri="{FF2B5EF4-FFF2-40B4-BE49-F238E27FC236}">
                <a16:creationId xmlns:a16="http://schemas.microsoft.com/office/drawing/2014/main" id="{45946116-D6EB-C6A9-F3E7-020BC0F7EA19}"/>
              </a:ext>
            </a:extLst>
          </p:cNvPr>
          <p:cNvSpPr>
            <a:spLocks noChangeAspect="1" noChangeArrowheads="1"/>
          </p:cNvSpPr>
          <p:nvPr/>
        </p:nvSpPr>
        <p:spPr bwMode="auto">
          <a:xfrm flipH="1">
            <a:off x="1504950" y="8086725"/>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P3</a:t>
            </a:r>
          </a:p>
        </p:txBody>
      </p:sp>
      <p:sp>
        <p:nvSpPr>
          <p:cNvPr id="1960014" name="Rectangle 78">
            <a:extLst>
              <a:ext uri="{FF2B5EF4-FFF2-40B4-BE49-F238E27FC236}">
                <a16:creationId xmlns:a16="http://schemas.microsoft.com/office/drawing/2014/main" id="{F3275534-9B13-1253-C06B-DE24D616A450}"/>
              </a:ext>
            </a:extLst>
          </p:cNvPr>
          <p:cNvSpPr>
            <a:spLocks noChangeAspect="1" noChangeArrowheads="1"/>
          </p:cNvSpPr>
          <p:nvPr/>
        </p:nvSpPr>
        <p:spPr bwMode="auto">
          <a:xfrm>
            <a:off x="1652588" y="8412163"/>
            <a:ext cx="163512"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15" name="Rectangle 79">
            <a:extLst>
              <a:ext uri="{FF2B5EF4-FFF2-40B4-BE49-F238E27FC236}">
                <a16:creationId xmlns:a16="http://schemas.microsoft.com/office/drawing/2014/main" id="{B366D0A4-7182-EC88-725C-36A4D64BAD15}"/>
              </a:ext>
            </a:extLst>
          </p:cNvPr>
          <p:cNvSpPr>
            <a:spLocks noChangeAspect="1" noChangeArrowheads="1"/>
          </p:cNvSpPr>
          <p:nvPr/>
        </p:nvSpPr>
        <p:spPr bwMode="auto">
          <a:xfrm>
            <a:off x="1816100" y="8412163"/>
            <a:ext cx="165100"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16" name="Rectangle 80">
            <a:extLst>
              <a:ext uri="{FF2B5EF4-FFF2-40B4-BE49-F238E27FC236}">
                <a16:creationId xmlns:a16="http://schemas.microsoft.com/office/drawing/2014/main" id="{472DDFDE-6AB4-D811-4052-62BCA3B1B705}"/>
              </a:ext>
            </a:extLst>
          </p:cNvPr>
          <p:cNvSpPr>
            <a:spLocks noChangeAspect="1" noChangeArrowheads="1"/>
          </p:cNvSpPr>
          <p:nvPr/>
        </p:nvSpPr>
        <p:spPr bwMode="auto">
          <a:xfrm>
            <a:off x="1981200" y="8412163"/>
            <a:ext cx="163513"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17" name="Rectangle 81">
            <a:extLst>
              <a:ext uri="{FF2B5EF4-FFF2-40B4-BE49-F238E27FC236}">
                <a16:creationId xmlns:a16="http://schemas.microsoft.com/office/drawing/2014/main" id="{62173020-2FEC-013A-9D76-0571CE5284C7}"/>
              </a:ext>
            </a:extLst>
          </p:cNvPr>
          <p:cNvSpPr>
            <a:spLocks noChangeAspect="1" noChangeArrowheads="1"/>
          </p:cNvSpPr>
          <p:nvPr/>
        </p:nvSpPr>
        <p:spPr bwMode="auto">
          <a:xfrm>
            <a:off x="1652588" y="8540750"/>
            <a:ext cx="163512"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18" name="Rectangle 82">
            <a:extLst>
              <a:ext uri="{FF2B5EF4-FFF2-40B4-BE49-F238E27FC236}">
                <a16:creationId xmlns:a16="http://schemas.microsoft.com/office/drawing/2014/main" id="{88A0DB69-0125-6A66-15F0-9E14B8F541DC}"/>
              </a:ext>
            </a:extLst>
          </p:cNvPr>
          <p:cNvSpPr>
            <a:spLocks noChangeAspect="1" noChangeArrowheads="1"/>
          </p:cNvSpPr>
          <p:nvPr/>
        </p:nvSpPr>
        <p:spPr bwMode="auto">
          <a:xfrm>
            <a:off x="1816100" y="8540750"/>
            <a:ext cx="165100"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19" name="Rectangle 83">
            <a:extLst>
              <a:ext uri="{FF2B5EF4-FFF2-40B4-BE49-F238E27FC236}">
                <a16:creationId xmlns:a16="http://schemas.microsoft.com/office/drawing/2014/main" id="{25A461AA-33DD-4FFA-43E5-C14A3BED91EF}"/>
              </a:ext>
            </a:extLst>
          </p:cNvPr>
          <p:cNvSpPr>
            <a:spLocks noChangeAspect="1" noChangeArrowheads="1"/>
          </p:cNvSpPr>
          <p:nvPr/>
        </p:nvSpPr>
        <p:spPr bwMode="auto">
          <a:xfrm>
            <a:off x="1981200" y="8540750"/>
            <a:ext cx="163513"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20" name="Rectangle 84">
            <a:extLst>
              <a:ext uri="{FF2B5EF4-FFF2-40B4-BE49-F238E27FC236}">
                <a16:creationId xmlns:a16="http://schemas.microsoft.com/office/drawing/2014/main" id="{22890AED-7E4A-951E-749E-BC42C726BCCB}"/>
              </a:ext>
            </a:extLst>
          </p:cNvPr>
          <p:cNvSpPr>
            <a:spLocks noChangeAspect="1" noChangeArrowheads="1"/>
          </p:cNvSpPr>
          <p:nvPr/>
        </p:nvSpPr>
        <p:spPr bwMode="auto">
          <a:xfrm>
            <a:off x="1652588" y="8670925"/>
            <a:ext cx="163512"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21" name="Rectangle 85">
            <a:extLst>
              <a:ext uri="{FF2B5EF4-FFF2-40B4-BE49-F238E27FC236}">
                <a16:creationId xmlns:a16="http://schemas.microsoft.com/office/drawing/2014/main" id="{76423F89-501E-8C56-FA9E-BD0578923FB2}"/>
              </a:ext>
            </a:extLst>
          </p:cNvPr>
          <p:cNvSpPr>
            <a:spLocks noChangeAspect="1" noChangeArrowheads="1"/>
          </p:cNvSpPr>
          <p:nvPr/>
        </p:nvSpPr>
        <p:spPr bwMode="auto">
          <a:xfrm>
            <a:off x="1816100" y="8670925"/>
            <a:ext cx="165100"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22" name="Rectangle 86">
            <a:extLst>
              <a:ext uri="{FF2B5EF4-FFF2-40B4-BE49-F238E27FC236}">
                <a16:creationId xmlns:a16="http://schemas.microsoft.com/office/drawing/2014/main" id="{603E1633-C4DB-1E4D-06B1-72A90956F621}"/>
              </a:ext>
            </a:extLst>
          </p:cNvPr>
          <p:cNvSpPr>
            <a:spLocks noChangeAspect="1" noChangeArrowheads="1"/>
          </p:cNvSpPr>
          <p:nvPr/>
        </p:nvSpPr>
        <p:spPr bwMode="auto">
          <a:xfrm>
            <a:off x="1981200" y="8670925"/>
            <a:ext cx="163513" cy="152400"/>
          </a:xfrm>
          <a:prstGeom prst="rect">
            <a:avLst/>
          </a:prstGeom>
          <a:solidFill>
            <a:schemeClr val="bg2"/>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023" name="Rectangle 87">
            <a:extLst>
              <a:ext uri="{FF2B5EF4-FFF2-40B4-BE49-F238E27FC236}">
                <a16:creationId xmlns:a16="http://schemas.microsoft.com/office/drawing/2014/main" id="{606356B9-6F24-B5FB-DA31-101478EDCEE3}"/>
              </a:ext>
            </a:extLst>
          </p:cNvPr>
          <p:cNvSpPr>
            <a:spLocks noChangeAspect="1" noChangeArrowheads="1"/>
          </p:cNvSpPr>
          <p:nvPr/>
        </p:nvSpPr>
        <p:spPr bwMode="auto">
          <a:xfrm flipH="1">
            <a:off x="1665288" y="8278813"/>
            <a:ext cx="144462"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M1</a:t>
            </a:r>
          </a:p>
        </p:txBody>
      </p:sp>
      <p:sp>
        <p:nvSpPr>
          <p:cNvPr id="1960024" name="Rectangle 88">
            <a:extLst>
              <a:ext uri="{FF2B5EF4-FFF2-40B4-BE49-F238E27FC236}">
                <a16:creationId xmlns:a16="http://schemas.microsoft.com/office/drawing/2014/main" id="{FB878143-86E9-F227-456B-FEC56CCDAD3B}"/>
              </a:ext>
            </a:extLst>
          </p:cNvPr>
          <p:cNvSpPr>
            <a:spLocks noChangeAspect="1" noChangeArrowheads="1"/>
          </p:cNvSpPr>
          <p:nvPr/>
        </p:nvSpPr>
        <p:spPr bwMode="auto">
          <a:xfrm flipH="1">
            <a:off x="1828800" y="8278813"/>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M2</a:t>
            </a:r>
          </a:p>
        </p:txBody>
      </p:sp>
      <p:sp>
        <p:nvSpPr>
          <p:cNvPr id="1960025" name="Rectangle 89">
            <a:extLst>
              <a:ext uri="{FF2B5EF4-FFF2-40B4-BE49-F238E27FC236}">
                <a16:creationId xmlns:a16="http://schemas.microsoft.com/office/drawing/2014/main" id="{C21F2213-4531-8A53-601A-E27C608B0167}"/>
              </a:ext>
            </a:extLst>
          </p:cNvPr>
          <p:cNvSpPr>
            <a:spLocks noChangeAspect="1" noChangeArrowheads="1"/>
          </p:cNvSpPr>
          <p:nvPr/>
        </p:nvSpPr>
        <p:spPr bwMode="auto">
          <a:xfrm flipH="1">
            <a:off x="1992313" y="8278813"/>
            <a:ext cx="144462"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M3</a:t>
            </a:r>
          </a:p>
        </p:txBody>
      </p:sp>
      <p:sp>
        <p:nvSpPr>
          <p:cNvPr id="1960026" name="Rectangle 90">
            <a:extLst>
              <a:ext uri="{FF2B5EF4-FFF2-40B4-BE49-F238E27FC236}">
                <a16:creationId xmlns:a16="http://schemas.microsoft.com/office/drawing/2014/main" id="{2BC0B183-FB60-C03B-8605-672033088F92}"/>
              </a:ext>
            </a:extLst>
          </p:cNvPr>
          <p:cNvSpPr>
            <a:spLocks noChangeAspect="1" noChangeArrowheads="1"/>
          </p:cNvSpPr>
          <p:nvPr/>
        </p:nvSpPr>
        <p:spPr bwMode="auto">
          <a:xfrm flipH="1">
            <a:off x="1504950" y="8420100"/>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P1</a:t>
            </a:r>
          </a:p>
        </p:txBody>
      </p:sp>
      <p:sp>
        <p:nvSpPr>
          <p:cNvPr id="1960027" name="Rectangle 91">
            <a:extLst>
              <a:ext uri="{FF2B5EF4-FFF2-40B4-BE49-F238E27FC236}">
                <a16:creationId xmlns:a16="http://schemas.microsoft.com/office/drawing/2014/main" id="{6D04B7D4-E335-05B2-D93C-DF079A700D18}"/>
              </a:ext>
            </a:extLst>
          </p:cNvPr>
          <p:cNvSpPr>
            <a:spLocks noChangeAspect="1" noChangeArrowheads="1"/>
          </p:cNvSpPr>
          <p:nvPr/>
        </p:nvSpPr>
        <p:spPr bwMode="auto">
          <a:xfrm flipH="1">
            <a:off x="1504950" y="8548688"/>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P2</a:t>
            </a:r>
          </a:p>
        </p:txBody>
      </p:sp>
      <p:sp>
        <p:nvSpPr>
          <p:cNvPr id="1960028" name="Rectangle 92">
            <a:extLst>
              <a:ext uri="{FF2B5EF4-FFF2-40B4-BE49-F238E27FC236}">
                <a16:creationId xmlns:a16="http://schemas.microsoft.com/office/drawing/2014/main" id="{63658823-5074-C5A5-8F4D-0E119F72A5A7}"/>
              </a:ext>
            </a:extLst>
          </p:cNvPr>
          <p:cNvSpPr>
            <a:spLocks noChangeAspect="1" noChangeArrowheads="1"/>
          </p:cNvSpPr>
          <p:nvPr/>
        </p:nvSpPr>
        <p:spPr bwMode="auto">
          <a:xfrm flipH="1">
            <a:off x="1504950" y="8678863"/>
            <a:ext cx="14446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r>
              <a:rPr lang="en-US" altLang="ja-JP" sz="900">
                <a:latin typeface="ＭＳ Ｐゴシック" panose="020B0600070205080204" pitchFamily="50" charset="-128"/>
              </a:rPr>
              <a:t>P3</a:t>
            </a:r>
          </a:p>
        </p:txBody>
      </p:sp>
      <p:sp>
        <p:nvSpPr>
          <p:cNvPr id="1960029" name="AutoShape 93">
            <a:extLst>
              <a:ext uri="{FF2B5EF4-FFF2-40B4-BE49-F238E27FC236}">
                <a16:creationId xmlns:a16="http://schemas.microsoft.com/office/drawing/2014/main" id="{62BCFF61-2F5E-3F9D-89DF-F0A55B9B4F86}"/>
              </a:ext>
            </a:extLst>
          </p:cNvPr>
          <p:cNvSpPr>
            <a:spLocks noChangeAspect="1" noChangeArrowheads="1"/>
          </p:cNvSpPr>
          <p:nvPr/>
        </p:nvSpPr>
        <p:spPr bwMode="auto">
          <a:xfrm flipH="1">
            <a:off x="533400" y="8294688"/>
            <a:ext cx="838200" cy="515937"/>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フルカバレッジ</a:t>
            </a:r>
          </a:p>
        </p:txBody>
      </p:sp>
      <p:sp>
        <p:nvSpPr>
          <p:cNvPr id="1960030" name="Rectangle 94">
            <a:extLst>
              <a:ext uri="{FF2B5EF4-FFF2-40B4-BE49-F238E27FC236}">
                <a16:creationId xmlns:a16="http://schemas.microsoft.com/office/drawing/2014/main" id="{52CA5F91-C910-2F49-1376-DFE07522AE80}"/>
              </a:ext>
            </a:extLst>
          </p:cNvPr>
          <p:cNvSpPr>
            <a:spLocks noChangeAspect="1" noChangeArrowheads="1"/>
          </p:cNvSpPr>
          <p:nvPr/>
        </p:nvSpPr>
        <p:spPr bwMode="auto">
          <a:xfrm flipH="1">
            <a:off x="2279650" y="8293100"/>
            <a:ext cx="1911350" cy="5175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72000" tIns="10800" rIns="8280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1000">
                <a:latin typeface="ＭＳ Ｐゴシック" panose="020B0600070205080204" pitchFamily="50" charset="-128"/>
              </a:rPr>
              <a:t>すべての商品をすべての市場を対象に売り込む</a:t>
            </a:r>
          </a:p>
        </p:txBody>
      </p:sp>
      <p:sp>
        <p:nvSpPr>
          <p:cNvPr id="1960031" name="AutoShape 95">
            <a:extLst>
              <a:ext uri="{FF2B5EF4-FFF2-40B4-BE49-F238E27FC236}">
                <a16:creationId xmlns:a16="http://schemas.microsoft.com/office/drawing/2014/main" id="{DF043381-DB88-9C17-17F2-02510D4FE704}"/>
              </a:ext>
            </a:extLst>
          </p:cNvPr>
          <p:cNvSpPr>
            <a:spLocks noChangeArrowheads="1"/>
          </p:cNvSpPr>
          <p:nvPr/>
        </p:nvSpPr>
        <p:spPr bwMode="auto">
          <a:xfrm flipH="1">
            <a:off x="4648200" y="5967413"/>
            <a:ext cx="1600200" cy="585787"/>
          </a:xfrm>
          <a:prstGeom prst="roundRect">
            <a:avLst>
              <a:gd name="adj" fmla="val 16667"/>
            </a:avLst>
          </a:prstGeom>
          <a:solidFill>
            <a:schemeClr val="folHlink"/>
          </a:solidFill>
          <a:ln w="6350">
            <a:solidFill>
              <a:schemeClr val="folHlink"/>
            </a:solidFill>
            <a:round/>
            <a:headEnd/>
            <a:tailEnd/>
          </a:ln>
          <a:effectLst/>
          <a:extLst>
            <a:ext uri="{AF507438-7753-43E0-B8FC-AC1667EBCBE1}">
              <a14:hiddenEffects xmlns:a14="http://schemas.microsoft.com/office/drawing/2010/main">
                <a:effectLst>
                  <a:outerShdw dist="63500" dir="3187806" algn="ctr" rotWithShape="0">
                    <a:schemeClr val="bg2"/>
                  </a:outerShdw>
                </a:effectLst>
              </a14:hiddenEffects>
            </a:ext>
          </a:ex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100">
                <a:latin typeface="ＭＳ Ｐゴシック" panose="020B0600070205080204" pitchFamily="50" charset="-128"/>
              </a:rPr>
              <a:t>規模と成長性</a:t>
            </a:r>
          </a:p>
        </p:txBody>
      </p:sp>
      <p:sp>
        <p:nvSpPr>
          <p:cNvPr id="1960032" name="AutoShape 96">
            <a:extLst>
              <a:ext uri="{FF2B5EF4-FFF2-40B4-BE49-F238E27FC236}">
                <a16:creationId xmlns:a16="http://schemas.microsoft.com/office/drawing/2014/main" id="{BE379EE3-8F63-229A-1FB8-8E434FEE79E5}"/>
              </a:ext>
            </a:extLst>
          </p:cNvPr>
          <p:cNvSpPr>
            <a:spLocks noChangeArrowheads="1"/>
          </p:cNvSpPr>
          <p:nvPr/>
        </p:nvSpPr>
        <p:spPr bwMode="auto">
          <a:xfrm flipH="1">
            <a:off x="4648200" y="6719888"/>
            <a:ext cx="1600200" cy="585787"/>
          </a:xfrm>
          <a:prstGeom prst="roundRect">
            <a:avLst>
              <a:gd name="adj" fmla="val 16667"/>
            </a:avLst>
          </a:prstGeom>
          <a:solidFill>
            <a:schemeClr val="folHlink"/>
          </a:solidFill>
          <a:ln w="6350">
            <a:solidFill>
              <a:schemeClr val="folHlink"/>
            </a:solidFill>
            <a:round/>
            <a:headEnd/>
            <a:tailEnd/>
          </a:ln>
          <a:effectLst/>
          <a:extLst>
            <a:ext uri="{AF507438-7753-43E0-B8FC-AC1667EBCBE1}">
              <a14:hiddenEffects xmlns:a14="http://schemas.microsoft.com/office/drawing/2010/main">
                <a:effectLst>
                  <a:outerShdw dist="63500" dir="3187806" algn="ctr" rotWithShape="0">
                    <a:schemeClr val="bg2"/>
                  </a:outerShdw>
                </a:effectLst>
              </a14:hiddenEffects>
            </a:ext>
          </a:ex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100">
                <a:latin typeface="ＭＳ Ｐゴシック" panose="020B0600070205080204" pitchFamily="50" charset="-128"/>
              </a:rPr>
              <a:t>投資効果</a:t>
            </a:r>
          </a:p>
        </p:txBody>
      </p:sp>
      <p:sp>
        <p:nvSpPr>
          <p:cNvPr id="1960033" name="AutoShape 97">
            <a:extLst>
              <a:ext uri="{FF2B5EF4-FFF2-40B4-BE49-F238E27FC236}">
                <a16:creationId xmlns:a16="http://schemas.microsoft.com/office/drawing/2014/main" id="{C01F6053-7A76-94F1-AAB4-5F27B5C31E1C}"/>
              </a:ext>
            </a:extLst>
          </p:cNvPr>
          <p:cNvSpPr>
            <a:spLocks noChangeArrowheads="1"/>
          </p:cNvSpPr>
          <p:nvPr/>
        </p:nvSpPr>
        <p:spPr bwMode="auto">
          <a:xfrm flipH="1">
            <a:off x="4648200" y="7472363"/>
            <a:ext cx="1600200" cy="585787"/>
          </a:xfrm>
          <a:prstGeom prst="roundRect">
            <a:avLst>
              <a:gd name="adj" fmla="val 16667"/>
            </a:avLst>
          </a:prstGeom>
          <a:solidFill>
            <a:schemeClr val="folHlink"/>
          </a:solidFill>
          <a:ln w="6350">
            <a:solidFill>
              <a:schemeClr val="folHlink"/>
            </a:solidFill>
            <a:round/>
            <a:headEnd/>
            <a:tailEnd/>
          </a:ln>
          <a:effectLst/>
          <a:extLst>
            <a:ext uri="{AF507438-7753-43E0-B8FC-AC1667EBCBE1}">
              <a14:hiddenEffects xmlns:a14="http://schemas.microsoft.com/office/drawing/2010/main">
                <a:effectLst>
                  <a:outerShdw dist="63500" dir="3187806" algn="ctr" rotWithShape="0">
                    <a:schemeClr val="bg2"/>
                  </a:outerShdw>
                </a:effectLst>
              </a14:hiddenEffects>
            </a:ext>
          </a:ex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100">
                <a:latin typeface="ＭＳ Ｐゴシック" panose="020B0600070205080204" pitchFamily="50" charset="-128"/>
              </a:rPr>
              <a:t>自社目標との整合性</a:t>
            </a:r>
          </a:p>
        </p:txBody>
      </p:sp>
      <p:sp>
        <p:nvSpPr>
          <p:cNvPr id="1960034" name="AutoShape 98">
            <a:extLst>
              <a:ext uri="{FF2B5EF4-FFF2-40B4-BE49-F238E27FC236}">
                <a16:creationId xmlns:a16="http://schemas.microsoft.com/office/drawing/2014/main" id="{BDBAE91B-BB89-FB5F-EEE2-E57E8E2253CD}"/>
              </a:ext>
            </a:extLst>
          </p:cNvPr>
          <p:cNvSpPr>
            <a:spLocks noChangeArrowheads="1"/>
          </p:cNvSpPr>
          <p:nvPr/>
        </p:nvSpPr>
        <p:spPr bwMode="auto">
          <a:xfrm flipH="1">
            <a:off x="4648200" y="8224838"/>
            <a:ext cx="1600200" cy="585787"/>
          </a:xfrm>
          <a:prstGeom prst="roundRect">
            <a:avLst>
              <a:gd name="adj" fmla="val 16667"/>
            </a:avLst>
          </a:prstGeom>
          <a:solidFill>
            <a:schemeClr val="folHlink"/>
          </a:solidFill>
          <a:ln w="6350">
            <a:solidFill>
              <a:schemeClr val="folHlink"/>
            </a:solidFill>
            <a:round/>
            <a:headEnd/>
            <a:tailEnd/>
          </a:ln>
          <a:effectLst/>
          <a:extLst>
            <a:ext uri="{AF507438-7753-43E0-B8FC-AC1667EBCBE1}">
              <a14:hiddenEffects xmlns:a14="http://schemas.microsoft.com/office/drawing/2010/main">
                <a:effectLst>
                  <a:outerShdw dist="63500" dir="3187806" algn="ctr" rotWithShape="0">
                    <a:schemeClr val="bg2"/>
                  </a:outerShdw>
                </a:effectLst>
              </a14:hiddenEffects>
            </a:ext>
          </a:ex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100">
                <a:latin typeface="ＭＳ Ｐゴシック" panose="020B0600070205080204" pitchFamily="50" charset="-128"/>
              </a:rPr>
              <a:t>自社のスキルと資源</a:t>
            </a:r>
          </a:p>
        </p:txBody>
      </p:sp>
      <p:sp>
        <p:nvSpPr>
          <p:cNvPr id="1960035" name="Rectangle 99">
            <a:extLst>
              <a:ext uri="{FF2B5EF4-FFF2-40B4-BE49-F238E27FC236}">
                <a16:creationId xmlns:a16="http://schemas.microsoft.com/office/drawing/2014/main" id="{39205CFE-006A-6643-C7AE-81E210F1BA82}"/>
              </a:ext>
            </a:extLst>
          </p:cNvPr>
          <p:cNvSpPr>
            <a:spLocks noChangeArrowheads="1"/>
          </p:cNvSpPr>
          <p:nvPr/>
        </p:nvSpPr>
        <p:spPr bwMode="auto">
          <a:xfrm flipH="1">
            <a:off x="533400" y="5662613"/>
            <a:ext cx="3657600" cy="174625"/>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solidFill>
                  <a:schemeClr val="bg1"/>
                </a:solidFill>
                <a:latin typeface="Century" panose="02040604050505020304" pitchFamily="18" charset="0"/>
              </a:rPr>
              <a:t>コトラーによる標的市場設定の５つのタイプ</a:t>
            </a:r>
          </a:p>
        </p:txBody>
      </p:sp>
      <p:sp>
        <p:nvSpPr>
          <p:cNvPr id="1960036" name="Rectangle 100">
            <a:extLst>
              <a:ext uri="{FF2B5EF4-FFF2-40B4-BE49-F238E27FC236}">
                <a16:creationId xmlns:a16="http://schemas.microsoft.com/office/drawing/2014/main" id="{3D60F03C-03C6-6E41-2FB9-FA9EFB6C35F3}"/>
              </a:ext>
            </a:extLst>
          </p:cNvPr>
          <p:cNvSpPr>
            <a:spLocks noChangeArrowheads="1"/>
          </p:cNvSpPr>
          <p:nvPr/>
        </p:nvSpPr>
        <p:spPr bwMode="auto">
          <a:xfrm flipH="1">
            <a:off x="4648200" y="5662613"/>
            <a:ext cx="1601788" cy="176212"/>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solidFill>
                  <a:schemeClr val="bg1"/>
                </a:solidFill>
                <a:latin typeface="Century" panose="02040604050505020304" pitchFamily="18" charset="0"/>
              </a:rPr>
              <a:t>市場設定時の４つのポイント</a:t>
            </a:r>
          </a:p>
        </p:txBody>
      </p:sp>
      <p:sp>
        <p:nvSpPr>
          <p:cNvPr id="1960037" name="Line 101">
            <a:extLst>
              <a:ext uri="{FF2B5EF4-FFF2-40B4-BE49-F238E27FC236}">
                <a16:creationId xmlns:a16="http://schemas.microsoft.com/office/drawing/2014/main" id="{9C466B6F-396F-BB8B-F033-51DB2F765E0B}"/>
              </a:ext>
            </a:extLst>
          </p:cNvPr>
          <p:cNvSpPr>
            <a:spLocks noChangeShapeType="1"/>
          </p:cNvSpPr>
          <p:nvPr/>
        </p:nvSpPr>
        <p:spPr bwMode="auto">
          <a:xfrm>
            <a:off x="4419600" y="5715000"/>
            <a:ext cx="0" cy="3124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0962" name="Rectangle 2">
            <a:extLst>
              <a:ext uri="{FF2B5EF4-FFF2-40B4-BE49-F238E27FC236}">
                <a16:creationId xmlns:a16="http://schemas.microsoft.com/office/drawing/2014/main" id="{02B943E9-FF20-9208-261B-414833929143}"/>
              </a:ext>
            </a:extLst>
          </p:cNvPr>
          <p:cNvSpPr>
            <a:spLocks noChangeArrowheads="1"/>
          </p:cNvSpPr>
          <p:nvPr/>
        </p:nvSpPr>
        <p:spPr bwMode="auto">
          <a:xfrm>
            <a:off x="914400" y="1600200"/>
            <a:ext cx="5410200" cy="3733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ターゲットとするセグメント市場の選定に続いて、当該セグメントにおける競合相手の行動について検討して、自社の製品・事業が競合相手より相対的に魅力的であると顧客に認知されるようにします。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ポジショニングとは、自社の製品・事業の差別的優位性のある位置付けを見出して顧客に伝達していくことであり、自社の優位性を明確に示す作業です。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ターゲット市場での自社と競合相手との違いを明確化する効果的な方法として、縦軸と横軸で２つの異なる要素を表す軸を設定して、自社と競合相手の製品ないし企業自体の特徴をマッピングする「ポジションマップ」という方法があり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図では</a:t>
            </a:r>
            <a:r>
              <a:rPr lang="en-US" altLang="ja-JP" sz="1000">
                <a:latin typeface="ＭＳ Ｐ明朝" panose="02020600040205080304" pitchFamily="18" charset="-128"/>
                <a:ea typeface="ＭＳ Ｐ明朝" panose="02020600040205080304" pitchFamily="18" charset="-128"/>
              </a:rPr>
              <a:t>SPA(</a:t>
            </a:r>
            <a:r>
              <a:rPr lang="ja-JP" altLang="en-US" sz="1000">
                <a:latin typeface="ＭＳ Ｐ明朝" panose="02020600040205080304" pitchFamily="18" charset="-128"/>
                <a:ea typeface="ＭＳ Ｐ明朝" panose="02020600040205080304" pitchFamily="18" charset="-128"/>
              </a:rPr>
              <a:t>製造小売業</a:t>
            </a:r>
            <a:r>
              <a:rPr lang="en-US" altLang="ja-JP" sz="1000">
                <a:latin typeface="ＭＳ Ｐ明朝" panose="02020600040205080304" pitchFamily="18" charset="-128"/>
                <a:ea typeface="ＭＳ Ｐ明朝" panose="02020600040205080304" pitchFamily="18" charset="-128"/>
              </a:rPr>
              <a:t>)</a:t>
            </a:r>
            <a:r>
              <a:rPr lang="ja-JP" altLang="en-US" sz="1000">
                <a:latin typeface="ＭＳ Ｐ明朝" panose="02020600040205080304" pitchFamily="18" charset="-128"/>
                <a:ea typeface="ＭＳ Ｐ明朝" panose="02020600040205080304" pitchFamily="18" charset="-128"/>
              </a:rPr>
              <a:t>における消費者ニーズ種類とブランド数によるポジションマップを例示しました。縦軸に「消費者ニーズ」、そして横軸に「品揃え（ブランド構成）」という要素を挙げています。</a:t>
            </a:r>
          </a:p>
          <a:p>
            <a:pPr>
              <a:lnSpc>
                <a:spcPct val="120000"/>
              </a:lnSpc>
            </a:pPr>
            <a:r>
              <a:rPr lang="ja-JP" altLang="en-US" sz="1000">
                <a:latin typeface="ＭＳ Ｐ明朝" panose="02020600040205080304" pitchFamily="18" charset="-128"/>
                <a:ea typeface="ＭＳ Ｐ明朝" panose="02020600040205080304" pitchFamily="18" charset="-128"/>
              </a:rPr>
              <a:t>縦軸の消費者ニーズでは上に行くほど「ファッション性志向」が高まり洋服類に比較的お金をかける人が多くなり、逆に下に行くほど「実用性志向」が高まり比較的リーズナブルな洋服を好む人が多くなります。横軸の品揃えでは、左側は</a:t>
            </a:r>
            <a:r>
              <a:rPr lang="en-US" altLang="ja-JP" sz="1000">
                <a:latin typeface="ＭＳ Ｐ明朝" panose="02020600040205080304" pitchFamily="18" charset="-128"/>
                <a:ea typeface="ＭＳ Ｐ明朝" panose="02020600040205080304" pitchFamily="18" charset="-128"/>
              </a:rPr>
              <a:t>1</a:t>
            </a:r>
            <a:r>
              <a:rPr lang="ja-JP" altLang="en-US" sz="1000">
                <a:latin typeface="ＭＳ Ｐ明朝" panose="02020600040205080304" pitchFamily="18" charset="-128"/>
                <a:ea typeface="ＭＳ Ｐ明朝" panose="02020600040205080304" pitchFamily="18" charset="-128"/>
              </a:rPr>
              <a:t>つのメーカーが複数ブランドを持っていることを表し、右側は単一ブランドであることを表しています。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このように各社の位置を可視化することにより自社にとって可能な差別化ポイントが明確になり、戦略策定に役立てられるようになります。</a:t>
            </a:r>
          </a:p>
          <a:p>
            <a:pPr>
              <a:lnSpc>
                <a:spcPct val="120000"/>
              </a:lnSpc>
            </a:pPr>
            <a:endParaRPr lang="en-US" altLang="ja-JP" sz="1000">
              <a:latin typeface="ＭＳ Ｐ明朝" panose="02020600040205080304" pitchFamily="18" charset="-128"/>
              <a:ea typeface="ＭＳ Ｐ明朝" panose="02020600040205080304" pitchFamily="18" charset="-128"/>
            </a:endParaRPr>
          </a:p>
        </p:txBody>
      </p:sp>
      <p:sp>
        <p:nvSpPr>
          <p:cNvPr id="1960963" name="Rectangle 3">
            <a:extLst>
              <a:ext uri="{FF2B5EF4-FFF2-40B4-BE49-F238E27FC236}">
                <a16:creationId xmlns:a16="http://schemas.microsoft.com/office/drawing/2014/main" id="{AA82A19D-53B3-9131-CF6D-37DD2BDBD2CD}"/>
              </a:ext>
            </a:extLst>
          </p:cNvPr>
          <p:cNvSpPr>
            <a:spLocks noChangeArrowheads="1"/>
          </p:cNvSpPr>
          <p:nvPr/>
        </p:nvSpPr>
        <p:spPr bwMode="auto">
          <a:xfrm>
            <a:off x="533400" y="12192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ja-JP" altLang="en-US" sz="1200">
                <a:latin typeface="Century" panose="02040604050505020304" pitchFamily="18" charset="0"/>
              </a:rPr>
              <a:t>ターゲット市場・顧客の決定　③ポジショニング</a:t>
            </a:r>
          </a:p>
        </p:txBody>
      </p:sp>
      <p:sp>
        <p:nvSpPr>
          <p:cNvPr id="1960964" name="Line 4">
            <a:extLst>
              <a:ext uri="{FF2B5EF4-FFF2-40B4-BE49-F238E27FC236}">
                <a16:creationId xmlns:a16="http://schemas.microsoft.com/office/drawing/2014/main" id="{041B7EF9-34B9-815B-DB1E-64FFB964EAB0}"/>
              </a:ext>
            </a:extLst>
          </p:cNvPr>
          <p:cNvSpPr>
            <a:spLocks noChangeShapeType="1"/>
          </p:cNvSpPr>
          <p:nvPr/>
        </p:nvSpPr>
        <p:spPr bwMode="auto">
          <a:xfrm>
            <a:off x="533400" y="15240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0965" name="Rectangle 5">
            <a:extLst>
              <a:ext uri="{FF2B5EF4-FFF2-40B4-BE49-F238E27FC236}">
                <a16:creationId xmlns:a16="http://schemas.microsoft.com/office/drawing/2014/main" id="{7CC49685-BB9B-DB17-5AD7-9428A49E8B87}"/>
              </a:ext>
            </a:extLst>
          </p:cNvPr>
          <p:cNvSpPr>
            <a:spLocks noChangeArrowheads="1"/>
          </p:cNvSpPr>
          <p:nvPr/>
        </p:nvSpPr>
        <p:spPr bwMode="auto">
          <a:xfrm>
            <a:off x="533400" y="56388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3-1-6</a:t>
            </a:r>
          </a:p>
        </p:txBody>
      </p:sp>
      <p:sp>
        <p:nvSpPr>
          <p:cNvPr id="1960966" name="Rectangle 6">
            <a:extLst>
              <a:ext uri="{FF2B5EF4-FFF2-40B4-BE49-F238E27FC236}">
                <a16:creationId xmlns:a16="http://schemas.microsoft.com/office/drawing/2014/main" id="{4BF35751-5652-3720-D599-F86C12FC45B1}"/>
              </a:ext>
            </a:extLst>
          </p:cNvPr>
          <p:cNvSpPr>
            <a:spLocks noChangeArrowheads="1"/>
          </p:cNvSpPr>
          <p:nvPr/>
        </p:nvSpPr>
        <p:spPr bwMode="auto">
          <a:xfrm>
            <a:off x="1482725" y="56388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solidFill>
                  <a:schemeClr val="bg1"/>
                </a:solidFill>
              </a:rPr>
              <a:t>SPA(</a:t>
            </a:r>
            <a:r>
              <a:rPr lang="ja-JP" altLang="en-US" sz="1000">
                <a:solidFill>
                  <a:schemeClr val="bg1"/>
                </a:solidFill>
              </a:rPr>
              <a:t>製造小売業</a:t>
            </a:r>
            <a:r>
              <a:rPr lang="en-US" altLang="ja-JP" sz="1000">
                <a:solidFill>
                  <a:schemeClr val="bg1"/>
                </a:solidFill>
              </a:rPr>
              <a:t>)</a:t>
            </a:r>
            <a:r>
              <a:rPr lang="ja-JP" altLang="en-US" sz="1000">
                <a:solidFill>
                  <a:schemeClr val="bg1"/>
                </a:solidFill>
              </a:rPr>
              <a:t>における消費者ニーズ種類とブランド数によるポジションマップ（例）</a:t>
            </a:r>
          </a:p>
        </p:txBody>
      </p:sp>
      <p:sp>
        <p:nvSpPr>
          <p:cNvPr id="1960967" name="Line 7">
            <a:extLst>
              <a:ext uri="{FF2B5EF4-FFF2-40B4-BE49-F238E27FC236}">
                <a16:creationId xmlns:a16="http://schemas.microsoft.com/office/drawing/2014/main" id="{B137D3B1-A52C-4607-9070-4D35863DED0E}"/>
              </a:ext>
            </a:extLst>
          </p:cNvPr>
          <p:cNvSpPr>
            <a:spLocks noChangeAspect="1" noChangeShapeType="1"/>
          </p:cNvSpPr>
          <p:nvPr/>
        </p:nvSpPr>
        <p:spPr bwMode="auto">
          <a:xfrm>
            <a:off x="2882900" y="6700838"/>
            <a:ext cx="0" cy="2749550"/>
          </a:xfrm>
          <a:prstGeom prst="line">
            <a:avLst/>
          </a:prstGeom>
          <a:noFill/>
          <a:ln w="571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968" name="Line 8">
            <a:extLst>
              <a:ext uri="{FF2B5EF4-FFF2-40B4-BE49-F238E27FC236}">
                <a16:creationId xmlns:a16="http://schemas.microsoft.com/office/drawing/2014/main" id="{84B8286C-059A-B63B-B81C-F6F1E4E54547}"/>
              </a:ext>
            </a:extLst>
          </p:cNvPr>
          <p:cNvSpPr>
            <a:spLocks noChangeAspect="1" noChangeShapeType="1"/>
          </p:cNvSpPr>
          <p:nvPr/>
        </p:nvSpPr>
        <p:spPr bwMode="auto">
          <a:xfrm>
            <a:off x="931863" y="8132763"/>
            <a:ext cx="3902075" cy="0"/>
          </a:xfrm>
          <a:prstGeom prst="line">
            <a:avLst/>
          </a:prstGeom>
          <a:noFill/>
          <a:ln w="571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969" name="Rectangle 9">
            <a:extLst>
              <a:ext uri="{FF2B5EF4-FFF2-40B4-BE49-F238E27FC236}">
                <a16:creationId xmlns:a16="http://schemas.microsoft.com/office/drawing/2014/main" id="{3E99086F-DBD7-F97E-5915-D2BA71F6FD6D}"/>
              </a:ext>
            </a:extLst>
          </p:cNvPr>
          <p:cNvSpPr>
            <a:spLocks noChangeAspect="1" noChangeArrowheads="1"/>
          </p:cNvSpPr>
          <p:nvPr/>
        </p:nvSpPr>
        <p:spPr bwMode="auto">
          <a:xfrm>
            <a:off x="931863" y="6700838"/>
            <a:ext cx="3902075" cy="2749550"/>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0970" name="Rectangle 10">
            <a:extLst>
              <a:ext uri="{FF2B5EF4-FFF2-40B4-BE49-F238E27FC236}">
                <a16:creationId xmlns:a16="http://schemas.microsoft.com/office/drawing/2014/main" id="{F73DD55B-CE2C-5B6D-2B05-5E8B9CDC4CEB}"/>
              </a:ext>
            </a:extLst>
          </p:cNvPr>
          <p:cNvSpPr>
            <a:spLocks noChangeAspect="1" noChangeArrowheads="1"/>
          </p:cNvSpPr>
          <p:nvPr/>
        </p:nvSpPr>
        <p:spPr bwMode="auto">
          <a:xfrm flipH="1">
            <a:off x="2090738" y="6521450"/>
            <a:ext cx="1584325" cy="152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ファッション性志向</a:t>
            </a:r>
          </a:p>
        </p:txBody>
      </p:sp>
      <p:sp>
        <p:nvSpPr>
          <p:cNvPr id="1960971" name="Rectangle 11">
            <a:extLst>
              <a:ext uri="{FF2B5EF4-FFF2-40B4-BE49-F238E27FC236}">
                <a16:creationId xmlns:a16="http://schemas.microsoft.com/office/drawing/2014/main" id="{53369462-1B26-ED56-33CC-55CB681AAA7A}"/>
              </a:ext>
            </a:extLst>
          </p:cNvPr>
          <p:cNvSpPr>
            <a:spLocks noChangeAspect="1" noChangeArrowheads="1"/>
          </p:cNvSpPr>
          <p:nvPr/>
        </p:nvSpPr>
        <p:spPr bwMode="auto">
          <a:xfrm flipH="1">
            <a:off x="2090738" y="9525000"/>
            <a:ext cx="1584325" cy="152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実用性志向</a:t>
            </a:r>
          </a:p>
        </p:txBody>
      </p:sp>
      <p:sp>
        <p:nvSpPr>
          <p:cNvPr id="1960972" name="Rectangle 12">
            <a:extLst>
              <a:ext uri="{FF2B5EF4-FFF2-40B4-BE49-F238E27FC236}">
                <a16:creationId xmlns:a16="http://schemas.microsoft.com/office/drawing/2014/main" id="{22F39C29-440A-887A-0E89-5DAEB0C556F4}"/>
              </a:ext>
            </a:extLst>
          </p:cNvPr>
          <p:cNvSpPr>
            <a:spLocks noChangeAspect="1" noChangeArrowheads="1"/>
          </p:cNvSpPr>
          <p:nvPr/>
        </p:nvSpPr>
        <p:spPr bwMode="auto">
          <a:xfrm flipH="1">
            <a:off x="2090738" y="6226175"/>
            <a:ext cx="1524000" cy="250825"/>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solidFill>
                  <a:schemeClr val="bg1"/>
                </a:solidFill>
                <a:latin typeface="ＭＳ Ｐゴシック" panose="020B0600070205080204" pitchFamily="50" charset="-128"/>
              </a:rPr>
              <a:t>消費者ニーズ</a:t>
            </a:r>
          </a:p>
        </p:txBody>
      </p:sp>
      <p:sp>
        <p:nvSpPr>
          <p:cNvPr id="1960973" name="Rectangle 13">
            <a:extLst>
              <a:ext uri="{FF2B5EF4-FFF2-40B4-BE49-F238E27FC236}">
                <a16:creationId xmlns:a16="http://schemas.microsoft.com/office/drawing/2014/main" id="{9C0619F0-B7E3-E6F3-CA5B-946452624BEC}"/>
              </a:ext>
            </a:extLst>
          </p:cNvPr>
          <p:cNvSpPr>
            <a:spLocks noChangeAspect="1" noChangeArrowheads="1"/>
          </p:cNvSpPr>
          <p:nvPr/>
        </p:nvSpPr>
        <p:spPr bwMode="auto">
          <a:xfrm flipH="1">
            <a:off x="5259388" y="7316788"/>
            <a:ext cx="304800" cy="1260475"/>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vert="eaVert" lIns="18000" tIns="46800" rIns="18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solidFill>
                  <a:schemeClr val="bg1"/>
                </a:solidFill>
                <a:latin typeface="ＭＳ Ｐゴシック" panose="020B0600070205080204" pitchFamily="50" charset="-128"/>
              </a:rPr>
              <a:t>品揃え</a:t>
            </a:r>
          </a:p>
        </p:txBody>
      </p:sp>
      <p:sp>
        <p:nvSpPr>
          <p:cNvPr id="1960974" name="Rectangle 14">
            <a:extLst>
              <a:ext uri="{FF2B5EF4-FFF2-40B4-BE49-F238E27FC236}">
                <a16:creationId xmlns:a16="http://schemas.microsoft.com/office/drawing/2014/main" id="{30515434-8369-6E30-E1D9-D8A2CCC44B80}"/>
              </a:ext>
            </a:extLst>
          </p:cNvPr>
          <p:cNvSpPr>
            <a:spLocks noChangeAspect="1" noChangeArrowheads="1"/>
          </p:cNvSpPr>
          <p:nvPr/>
        </p:nvSpPr>
        <p:spPr bwMode="auto">
          <a:xfrm flipH="1">
            <a:off x="685800" y="7559675"/>
            <a:ext cx="152400" cy="1036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複数ブランド</a:t>
            </a:r>
          </a:p>
        </p:txBody>
      </p:sp>
      <p:sp>
        <p:nvSpPr>
          <p:cNvPr id="1960975" name="Rectangle 15">
            <a:extLst>
              <a:ext uri="{FF2B5EF4-FFF2-40B4-BE49-F238E27FC236}">
                <a16:creationId xmlns:a16="http://schemas.microsoft.com/office/drawing/2014/main" id="{23841373-0450-F491-7F54-39EEAAB6BFAD}"/>
              </a:ext>
            </a:extLst>
          </p:cNvPr>
          <p:cNvSpPr>
            <a:spLocks noChangeAspect="1" noChangeArrowheads="1"/>
          </p:cNvSpPr>
          <p:nvPr/>
        </p:nvSpPr>
        <p:spPr bwMode="auto">
          <a:xfrm flipH="1">
            <a:off x="4891088" y="7559675"/>
            <a:ext cx="152400" cy="1036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単一ブランド</a:t>
            </a:r>
          </a:p>
        </p:txBody>
      </p:sp>
      <p:sp>
        <p:nvSpPr>
          <p:cNvPr id="1960976" name="Oval 16">
            <a:extLst>
              <a:ext uri="{FF2B5EF4-FFF2-40B4-BE49-F238E27FC236}">
                <a16:creationId xmlns:a16="http://schemas.microsoft.com/office/drawing/2014/main" id="{FE66BB33-F1CA-DEA0-21DA-ED82413A0F99}"/>
              </a:ext>
            </a:extLst>
          </p:cNvPr>
          <p:cNvSpPr>
            <a:spLocks noChangeAspect="1" noChangeArrowheads="1"/>
          </p:cNvSpPr>
          <p:nvPr/>
        </p:nvSpPr>
        <p:spPr bwMode="auto">
          <a:xfrm>
            <a:off x="3614738" y="6870700"/>
            <a:ext cx="974725" cy="303213"/>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アニエス</a:t>
            </a:r>
            <a:r>
              <a:rPr lang="en-US" altLang="ja-JP" sz="1000">
                <a:latin typeface="ＭＳ Ｐゴシック" panose="020B0600070205080204" pitchFamily="50" charset="-128"/>
              </a:rPr>
              <a:t>.b</a:t>
            </a:r>
          </a:p>
        </p:txBody>
      </p:sp>
      <p:sp>
        <p:nvSpPr>
          <p:cNvPr id="1960977" name="Oval 17">
            <a:extLst>
              <a:ext uri="{FF2B5EF4-FFF2-40B4-BE49-F238E27FC236}">
                <a16:creationId xmlns:a16="http://schemas.microsoft.com/office/drawing/2014/main" id="{C441C0C4-C346-9443-44C7-BDEDBD255321}"/>
              </a:ext>
            </a:extLst>
          </p:cNvPr>
          <p:cNvSpPr>
            <a:spLocks noChangeAspect="1" noChangeArrowheads="1"/>
          </p:cNvSpPr>
          <p:nvPr/>
        </p:nvSpPr>
        <p:spPr bwMode="auto">
          <a:xfrm>
            <a:off x="3492500" y="7194550"/>
            <a:ext cx="852488" cy="304800"/>
          </a:xfrm>
          <a:prstGeom prst="ellipse">
            <a:avLst/>
          </a:prstGeom>
          <a:solidFill>
            <a:schemeClr val="hlink"/>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自社</a:t>
            </a:r>
          </a:p>
        </p:txBody>
      </p:sp>
      <p:sp>
        <p:nvSpPr>
          <p:cNvPr id="1960978" name="Oval 18">
            <a:extLst>
              <a:ext uri="{FF2B5EF4-FFF2-40B4-BE49-F238E27FC236}">
                <a16:creationId xmlns:a16="http://schemas.microsoft.com/office/drawing/2014/main" id="{CC0B9FEC-1B61-4D2E-9856-C1F732B48B68}"/>
              </a:ext>
            </a:extLst>
          </p:cNvPr>
          <p:cNvSpPr>
            <a:spLocks noChangeAspect="1" noChangeArrowheads="1"/>
          </p:cNvSpPr>
          <p:nvPr/>
        </p:nvSpPr>
        <p:spPr bwMode="auto">
          <a:xfrm>
            <a:off x="3675063" y="7804150"/>
            <a:ext cx="854075" cy="304800"/>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1000">
                <a:latin typeface="ＭＳ Ｐゴシック" panose="020B0600070205080204" pitchFamily="50" charset="-128"/>
              </a:rPr>
              <a:t>GAP</a:t>
            </a:r>
          </a:p>
        </p:txBody>
      </p:sp>
      <p:sp>
        <p:nvSpPr>
          <p:cNvPr id="1960979" name="Oval 19">
            <a:extLst>
              <a:ext uri="{FF2B5EF4-FFF2-40B4-BE49-F238E27FC236}">
                <a16:creationId xmlns:a16="http://schemas.microsoft.com/office/drawing/2014/main" id="{63FB1F1B-43C8-E631-9FF7-4B3DFE25F57A}"/>
              </a:ext>
            </a:extLst>
          </p:cNvPr>
          <p:cNvSpPr>
            <a:spLocks noChangeAspect="1" noChangeArrowheads="1"/>
          </p:cNvSpPr>
          <p:nvPr/>
        </p:nvSpPr>
        <p:spPr bwMode="auto">
          <a:xfrm>
            <a:off x="3492500" y="8353425"/>
            <a:ext cx="974725" cy="304800"/>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ユニクロ</a:t>
            </a:r>
          </a:p>
        </p:txBody>
      </p:sp>
      <p:sp>
        <p:nvSpPr>
          <p:cNvPr id="1960980" name="Oval 20">
            <a:extLst>
              <a:ext uri="{FF2B5EF4-FFF2-40B4-BE49-F238E27FC236}">
                <a16:creationId xmlns:a16="http://schemas.microsoft.com/office/drawing/2014/main" id="{E89E6573-D68F-3FBA-A711-88658B3D7132}"/>
              </a:ext>
            </a:extLst>
          </p:cNvPr>
          <p:cNvSpPr>
            <a:spLocks noChangeAspect="1" noChangeArrowheads="1"/>
          </p:cNvSpPr>
          <p:nvPr/>
        </p:nvSpPr>
        <p:spPr bwMode="auto">
          <a:xfrm>
            <a:off x="993775" y="6769100"/>
            <a:ext cx="852488" cy="304800"/>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1000">
                <a:latin typeface="ＭＳ Ｐゴシック" panose="020B0600070205080204" pitchFamily="50" charset="-128"/>
              </a:rPr>
              <a:t>SHIPS</a:t>
            </a:r>
          </a:p>
        </p:txBody>
      </p:sp>
      <p:sp>
        <p:nvSpPr>
          <p:cNvPr id="1960981" name="Oval 21">
            <a:extLst>
              <a:ext uri="{FF2B5EF4-FFF2-40B4-BE49-F238E27FC236}">
                <a16:creationId xmlns:a16="http://schemas.microsoft.com/office/drawing/2014/main" id="{C58A101F-3F16-6C2F-44A6-F2E17CB9A49B}"/>
              </a:ext>
            </a:extLst>
          </p:cNvPr>
          <p:cNvSpPr>
            <a:spLocks noChangeAspect="1" noChangeArrowheads="1"/>
          </p:cNvSpPr>
          <p:nvPr/>
        </p:nvSpPr>
        <p:spPr bwMode="auto">
          <a:xfrm>
            <a:off x="993775" y="7134225"/>
            <a:ext cx="852488" cy="304800"/>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1000">
                <a:latin typeface="ＭＳ Ｐゴシック" panose="020B0600070205080204" pitchFamily="50" charset="-128"/>
              </a:rPr>
              <a:t>BEAMS</a:t>
            </a:r>
          </a:p>
        </p:txBody>
      </p:sp>
      <p:sp>
        <p:nvSpPr>
          <p:cNvPr id="1960982" name="Oval 22">
            <a:extLst>
              <a:ext uri="{FF2B5EF4-FFF2-40B4-BE49-F238E27FC236}">
                <a16:creationId xmlns:a16="http://schemas.microsoft.com/office/drawing/2014/main" id="{FCAD42B4-862A-3323-5D81-7AC2D49F2504}"/>
              </a:ext>
            </a:extLst>
          </p:cNvPr>
          <p:cNvSpPr>
            <a:spLocks noChangeAspect="1" noChangeArrowheads="1"/>
          </p:cNvSpPr>
          <p:nvPr/>
        </p:nvSpPr>
        <p:spPr bwMode="auto">
          <a:xfrm>
            <a:off x="1663700" y="6889750"/>
            <a:ext cx="1036638" cy="487363"/>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ユナイテッド</a:t>
            </a:r>
          </a:p>
          <a:p>
            <a:pPr algn="ctr"/>
            <a:r>
              <a:rPr lang="ja-JP" altLang="en-US" sz="1000">
                <a:latin typeface="ＭＳ Ｐゴシック" panose="020B0600070205080204" pitchFamily="50" charset="-128"/>
              </a:rPr>
              <a:t>アローズ</a:t>
            </a:r>
          </a:p>
        </p:txBody>
      </p:sp>
      <p:sp>
        <p:nvSpPr>
          <p:cNvPr id="1960983" name="Oval 23">
            <a:extLst>
              <a:ext uri="{FF2B5EF4-FFF2-40B4-BE49-F238E27FC236}">
                <a16:creationId xmlns:a16="http://schemas.microsoft.com/office/drawing/2014/main" id="{A897B057-E517-DF51-5A88-63B90471CAF6}"/>
              </a:ext>
            </a:extLst>
          </p:cNvPr>
          <p:cNvSpPr>
            <a:spLocks noChangeAspect="1" noChangeArrowheads="1"/>
          </p:cNvSpPr>
          <p:nvPr/>
        </p:nvSpPr>
        <p:spPr bwMode="auto">
          <a:xfrm>
            <a:off x="1419225" y="7986713"/>
            <a:ext cx="976313" cy="304800"/>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ライトオン</a:t>
            </a:r>
          </a:p>
        </p:txBody>
      </p:sp>
      <p:sp>
        <p:nvSpPr>
          <p:cNvPr id="1960984" name="Oval 24">
            <a:extLst>
              <a:ext uri="{FF2B5EF4-FFF2-40B4-BE49-F238E27FC236}">
                <a16:creationId xmlns:a16="http://schemas.microsoft.com/office/drawing/2014/main" id="{E63EB86C-4AC1-6C9C-BE98-FD0AF33EB083}"/>
              </a:ext>
            </a:extLst>
          </p:cNvPr>
          <p:cNvSpPr>
            <a:spLocks noChangeAspect="1" noChangeArrowheads="1"/>
          </p:cNvSpPr>
          <p:nvPr/>
        </p:nvSpPr>
        <p:spPr bwMode="auto">
          <a:xfrm>
            <a:off x="1419225" y="8535988"/>
            <a:ext cx="976313" cy="304800"/>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ジーンズメイト</a:t>
            </a:r>
          </a:p>
        </p:txBody>
      </p:sp>
      <p:sp>
        <p:nvSpPr>
          <p:cNvPr id="1960985" name="Oval 25">
            <a:extLst>
              <a:ext uri="{FF2B5EF4-FFF2-40B4-BE49-F238E27FC236}">
                <a16:creationId xmlns:a16="http://schemas.microsoft.com/office/drawing/2014/main" id="{79995901-4E4B-5536-3318-1DB742ADA660}"/>
              </a:ext>
            </a:extLst>
          </p:cNvPr>
          <p:cNvSpPr>
            <a:spLocks noChangeAspect="1" noChangeArrowheads="1"/>
          </p:cNvSpPr>
          <p:nvPr/>
        </p:nvSpPr>
        <p:spPr bwMode="auto">
          <a:xfrm>
            <a:off x="1541463" y="8963025"/>
            <a:ext cx="671512" cy="304800"/>
          </a:xfrm>
          <a:prstGeom prst="ellipse">
            <a:avLst/>
          </a:prstGeom>
          <a:solidFill>
            <a:schemeClr val="bg1"/>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シマムラ</a:t>
            </a:r>
          </a:p>
        </p:txBody>
      </p:sp>
      <p:sp>
        <p:nvSpPr>
          <p:cNvPr id="1960986" name="AutoShape 26">
            <a:extLst>
              <a:ext uri="{FF2B5EF4-FFF2-40B4-BE49-F238E27FC236}">
                <a16:creationId xmlns:a16="http://schemas.microsoft.com/office/drawing/2014/main" id="{A3EAE80C-802F-EA3A-5E39-9127D678684C}"/>
              </a:ext>
            </a:extLst>
          </p:cNvPr>
          <p:cNvSpPr>
            <a:spLocks noChangeAspect="1" noChangeArrowheads="1"/>
          </p:cNvSpPr>
          <p:nvPr/>
        </p:nvSpPr>
        <p:spPr bwMode="auto">
          <a:xfrm>
            <a:off x="4954588" y="6280150"/>
            <a:ext cx="1463675" cy="914400"/>
          </a:xfrm>
          <a:prstGeom prst="wedgeRectCallout">
            <a:avLst>
              <a:gd name="adj1" fmla="val -100000"/>
              <a:gd name="adj2" fmla="val 57639"/>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pPr algn="l"/>
            <a:r>
              <a:rPr lang="ja-JP" altLang="en-US" sz="900">
                <a:latin typeface="ＭＳ Ｐゴシック" panose="020B0600070205080204" pitchFamily="50" charset="-128"/>
              </a:rPr>
              <a:t>ポジションマップにより競合相手との差別化要因が明確となり、自社がどこのポジションを目指すべきか判断し易くなる</a:t>
            </a:r>
          </a:p>
        </p:txBody>
      </p:sp>
      <p:sp>
        <p:nvSpPr>
          <p:cNvPr id="1960987" name="Rectangle 27">
            <a:extLst>
              <a:ext uri="{FF2B5EF4-FFF2-40B4-BE49-F238E27FC236}">
                <a16:creationId xmlns:a16="http://schemas.microsoft.com/office/drawing/2014/main" id="{F420A2CF-E0E4-EC2F-4132-C833C0D1A9BF}"/>
              </a:ext>
            </a:extLst>
          </p:cNvPr>
          <p:cNvSpPr>
            <a:spLocks noChangeArrowheads="1"/>
          </p:cNvSpPr>
          <p:nvPr/>
        </p:nvSpPr>
        <p:spPr bwMode="auto">
          <a:xfrm>
            <a:off x="685800" y="5867400"/>
            <a:ext cx="582930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l">
              <a:lnSpc>
                <a:spcPct val="120000"/>
              </a:lnSpc>
            </a:pPr>
            <a:r>
              <a:rPr lang="ja-JP" altLang="en-US" sz="1000">
                <a:latin typeface="ＭＳ Ｐ明朝" panose="02020600040205080304" pitchFamily="18" charset="-128"/>
                <a:ea typeface="ＭＳ Ｐ明朝" panose="02020600040205080304" pitchFamily="18" charset="-128"/>
              </a:rPr>
              <a:t>（注）図は説明のための仮のポジションマップであり、実際の各ブランドについての評価では一切ありません。</a:t>
            </a:r>
          </a:p>
        </p:txBody>
      </p:sp>
      <p:grpSp>
        <p:nvGrpSpPr>
          <p:cNvPr id="1960988" name="Group 28">
            <a:extLst>
              <a:ext uri="{FF2B5EF4-FFF2-40B4-BE49-F238E27FC236}">
                <a16:creationId xmlns:a16="http://schemas.microsoft.com/office/drawing/2014/main" id="{5CEB30B0-B356-3336-8592-C0299D201D5D}"/>
              </a:ext>
            </a:extLst>
          </p:cNvPr>
          <p:cNvGrpSpPr>
            <a:grpSpLocks/>
          </p:cNvGrpSpPr>
          <p:nvPr/>
        </p:nvGrpSpPr>
        <p:grpSpPr bwMode="auto">
          <a:xfrm>
            <a:off x="4267200" y="0"/>
            <a:ext cx="2286000" cy="228600"/>
            <a:chOff x="2928" y="-48"/>
            <a:chExt cx="1392" cy="192"/>
          </a:xfrm>
        </p:grpSpPr>
        <p:sp>
          <p:nvSpPr>
            <p:cNvPr id="1960989" name="Line 29">
              <a:extLst>
                <a:ext uri="{FF2B5EF4-FFF2-40B4-BE49-F238E27FC236}">
                  <a16:creationId xmlns:a16="http://schemas.microsoft.com/office/drawing/2014/main" id="{C4DD2D38-1ACC-A6EF-DC99-D5D310E57F77}"/>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0990" name="Rectangle 30">
              <a:extLst>
                <a:ext uri="{FF2B5EF4-FFF2-40B4-BE49-F238E27FC236}">
                  <a16:creationId xmlns:a16="http://schemas.microsoft.com/office/drawing/2014/main" id="{3000BAF8-8430-1383-8C9D-B4245DDC503F}"/>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ＭＳ Ｐゴシック" panose="020B0600070205080204" pitchFamily="50" charset="-128"/>
                </a:rPr>
                <a:t>Ⅲ</a:t>
              </a:r>
              <a:r>
                <a:rPr lang="ja-JP" altLang="en-US" sz="1000">
                  <a:latin typeface="ＭＳ Ｐゴシック" panose="020B0600070205080204" pitchFamily="50" charset="-128"/>
                </a:rPr>
                <a:t>　経営助言の実践に関する論点</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3010" name="Rectangle 1026">
            <a:extLst>
              <a:ext uri="{FF2B5EF4-FFF2-40B4-BE49-F238E27FC236}">
                <a16:creationId xmlns:a16="http://schemas.microsoft.com/office/drawing/2014/main" id="{B41EED3D-94F0-29CD-9E6A-E624AD068529}"/>
              </a:ext>
            </a:extLst>
          </p:cNvPr>
          <p:cNvSpPr>
            <a:spLocks noChangeArrowheads="1"/>
          </p:cNvSpPr>
          <p:nvPr/>
        </p:nvSpPr>
        <p:spPr bwMode="auto">
          <a:xfrm>
            <a:off x="914400" y="2514600"/>
            <a:ext cx="5410200" cy="6705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企業の発展のためには顧客ニーズに適した商品やサービスを提供する必要があり、自社の商品やサービスを常に吟味して適宜見直しを行うようにします。こうした「何を売るか」について検討するのが商品戦略となり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一般に商品アイデア立案など、商品自体の企画は生産部門に近い技術開発担当の部門が行うことが多くなります。そのために時としてシーズ的発想となってしまって、市場のニーズを必ずしも的確に汲み取れない場合もありますので注意が必要で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商品戦略は商品の売上が伸びそして衰退していく推移を表した「プロダクト・ライフサイクル」に則した時間軸の中で考えることが必要です。「プロダクト・ライフサイクル」理論は「導入期」、「成長期」、「成熟期」、「衰退期」という</a:t>
            </a:r>
            <a:r>
              <a:rPr lang="en-US" altLang="ja-JP" sz="1000">
                <a:latin typeface="ＭＳ Ｐ明朝" panose="02020600040205080304" pitchFamily="18" charset="-128"/>
                <a:ea typeface="ＭＳ Ｐ明朝" panose="02020600040205080304" pitchFamily="18" charset="-128"/>
              </a:rPr>
              <a:t>4</a:t>
            </a:r>
            <a:r>
              <a:rPr lang="ja-JP" altLang="en-US" sz="1000">
                <a:latin typeface="ＭＳ Ｐ明朝" panose="02020600040205080304" pitchFamily="18" charset="-128"/>
                <a:ea typeface="ＭＳ Ｐ明朝" panose="02020600040205080304" pitchFamily="18" charset="-128"/>
              </a:rPr>
              <a:t>つの期間を設定しています。企業は自社の商品がライフサイクル上のどこに位置するかを確認して、必要な戦略を採用するようにします。（図表</a:t>
            </a:r>
            <a:r>
              <a:rPr lang="en-US" altLang="ja-JP" sz="1000">
                <a:latin typeface="ＭＳ Ｐ明朝" panose="02020600040205080304" pitchFamily="18" charset="-128"/>
                <a:ea typeface="ＭＳ Ｐ明朝" panose="02020600040205080304" pitchFamily="18" charset="-128"/>
              </a:rPr>
              <a:t>3-1-7</a:t>
            </a:r>
            <a:r>
              <a:rPr lang="ja-JP" altLang="en-US" sz="1000">
                <a:latin typeface="ＭＳ Ｐ明朝" panose="02020600040205080304" pitchFamily="18" charset="-128"/>
                <a:ea typeface="ＭＳ Ｐ明朝" panose="02020600040205080304" pitchFamily="18" charset="-128"/>
              </a:rPr>
              <a:t>、</a:t>
            </a:r>
            <a:r>
              <a:rPr lang="en-US" altLang="ja-JP" sz="1000">
                <a:latin typeface="ＭＳ Ｐ明朝" panose="02020600040205080304" pitchFamily="18" charset="-128"/>
                <a:ea typeface="ＭＳ Ｐ明朝" panose="02020600040205080304" pitchFamily="18" charset="-128"/>
              </a:rPr>
              <a:t>3-1-8</a:t>
            </a:r>
            <a:r>
              <a:rPr lang="ja-JP" altLang="en-US" sz="1000">
                <a:latin typeface="ＭＳ Ｐ明朝" panose="02020600040205080304" pitchFamily="18" charset="-128"/>
                <a:ea typeface="ＭＳ Ｐ明朝" panose="02020600040205080304" pitchFamily="18" charset="-128"/>
              </a:rPr>
              <a:t>参照）</a:t>
            </a:r>
          </a:p>
          <a:p>
            <a:pPr>
              <a:lnSpc>
                <a:spcPct val="120000"/>
              </a:lnSpc>
            </a:pPr>
            <a:r>
              <a:rPr lang="ja-JP" altLang="en-US" sz="1000">
                <a:latin typeface="ＭＳ Ｐ明朝" panose="02020600040205080304" pitchFamily="18" charset="-128"/>
                <a:ea typeface="ＭＳ Ｐ明朝" panose="02020600040205080304" pitchFamily="18" charset="-128"/>
              </a:rPr>
              <a:t>　</a:t>
            </a:r>
          </a:p>
          <a:p>
            <a:pPr>
              <a:lnSpc>
                <a:spcPct val="120000"/>
              </a:lnSpc>
            </a:pPr>
            <a:r>
              <a:rPr lang="ja-JP" altLang="en-US" sz="1000">
                <a:latin typeface="ＭＳ Ｐ明朝" panose="02020600040205080304" pitchFamily="18" charset="-128"/>
                <a:ea typeface="ＭＳ Ｐ明朝" panose="02020600040205080304" pitchFamily="18" charset="-128"/>
              </a:rPr>
              <a:t>①導入期：</a:t>
            </a:r>
          </a:p>
          <a:p>
            <a:pPr>
              <a:lnSpc>
                <a:spcPct val="120000"/>
              </a:lnSpc>
            </a:pPr>
            <a:r>
              <a:rPr lang="ja-JP" altLang="en-US" sz="1000">
                <a:latin typeface="ＭＳ Ｐ明朝" panose="02020600040205080304" pitchFamily="18" charset="-128"/>
                <a:ea typeface="ＭＳ Ｐ明朝" panose="02020600040205080304" pitchFamily="18" charset="-128"/>
              </a:rPr>
              <a:t>新製品が市場に初めて導入・販売された当初の時期を指します。当初の売上高の伸びはゆるやかです。この期間は、需要が小さく、売上増加率が低く、マーケティング費用もかかるため、利益はマイナスか、低い水準にとどまります。競合相手は少なく市場は未成熟な状態です。また生産量の伸びが低いためコストは高く、価格は高水準となっています。この期間は製品機能を認知させ、市場創造とブランド確立を目標とし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②成長期：</a:t>
            </a:r>
          </a:p>
          <a:p>
            <a:pPr>
              <a:lnSpc>
                <a:spcPct val="120000"/>
              </a:lnSpc>
            </a:pPr>
            <a:r>
              <a:rPr lang="ja-JP" altLang="en-US" sz="1000">
                <a:latin typeface="ＭＳ Ｐ明朝" panose="02020600040205080304" pitchFamily="18" charset="-128"/>
                <a:ea typeface="ＭＳ Ｐ明朝" panose="02020600040205080304" pitchFamily="18" charset="-128"/>
              </a:rPr>
              <a:t>需要が拡大して売上増加率が高くなります。製品が認知されブランドも確立しはじめますが、市場の拡大に伴い新しい競合企業が参入してきます。競合企業数の増加により販売経路も増加して、製品の出荷量も更に増加します。需要急増により価格はやや低下気味となります。マス市場での認知を得てかつ競合会社に対抗するため、マーケティング費用はやや高い水準に維持しますが、売上高の伸びが大きいため売上高に対するマーケティング費用の比率は下がります。そのため利益は増加していきます。この期間は競合との競争に勝つため、現状維持から更なるシェア拡大のための市場浸透を目指す必要があり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③成熟期：</a:t>
            </a:r>
          </a:p>
          <a:p>
            <a:pPr>
              <a:lnSpc>
                <a:spcPct val="120000"/>
              </a:lnSpc>
            </a:pPr>
            <a:r>
              <a:rPr lang="ja-JP" altLang="en-US" sz="1000">
                <a:latin typeface="ＭＳ Ｐ明朝" panose="02020600040205080304" pitchFamily="18" charset="-128"/>
                <a:ea typeface="ＭＳ Ｐ明朝" panose="02020600040205080304" pitchFamily="18" charset="-128"/>
              </a:rPr>
              <a:t>売上増加率が鈍化して新規購入でなく買い替えや買い増し需要が多くなり、製品は成熟段階へ入ります。成熟期はそれまでの２期間に比べ長く続きます。この時期はシェア維持のためマーケティング費用は増加して、競合企業との価格競争のため利益率も下がります。多くの場合に製品の本質機能での差別化ができなくなるため、パッケージやプロモーションといった副次的な差別化が進みます。</a:t>
            </a:r>
          </a:p>
        </p:txBody>
      </p:sp>
      <p:sp>
        <p:nvSpPr>
          <p:cNvPr id="1963011" name="Rectangle 1027">
            <a:extLst>
              <a:ext uri="{FF2B5EF4-FFF2-40B4-BE49-F238E27FC236}">
                <a16:creationId xmlns:a16="http://schemas.microsoft.com/office/drawing/2014/main" id="{862169A4-5AD4-F92A-0390-DEB58173C949}"/>
              </a:ext>
            </a:extLst>
          </p:cNvPr>
          <p:cNvSpPr>
            <a:spLocks noChangeArrowheads="1"/>
          </p:cNvSpPr>
          <p:nvPr/>
        </p:nvSpPr>
        <p:spPr bwMode="auto">
          <a:xfrm>
            <a:off x="533400" y="22098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en-US" altLang="ja-JP" sz="1200">
                <a:latin typeface="Century" panose="02040604050505020304" pitchFamily="18" charset="0"/>
              </a:rPr>
              <a:t>4P </a:t>
            </a:r>
            <a:r>
              <a:rPr lang="ja-JP" altLang="en-US" sz="1200">
                <a:latin typeface="Century" panose="02040604050505020304" pitchFamily="18" charset="0"/>
              </a:rPr>
              <a:t>（マーケティング・ミックス）の設定　①</a:t>
            </a:r>
            <a:r>
              <a:rPr lang="en-US" altLang="ja-JP" sz="1200">
                <a:latin typeface="Century" panose="02040604050505020304" pitchFamily="18" charset="0"/>
              </a:rPr>
              <a:t>Product</a:t>
            </a:r>
            <a:r>
              <a:rPr lang="ja-JP" altLang="en-US" sz="1200">
                <a:latin typeface="Century" panose="02040604050505020304" pitchFamily="18" charset="0"/>
              </a:rPr>
              <a:t>（商品戦略）</a:t>
            </a:r>
          </a:p>
        </p:txBody>
      </p:sp>
      <p:sp>
        <p:nvSpPr>
          <p:cNvPr id="1963012" name="Line 1028">
            <a:extLst>
              <a:ext uri="{FF2B5EF4-FFF2-40B4-BE49-F238E27FC236}">
                <a16:creationId xmlns:a16="http://schemas.microsoft.com/office/drawing/2014/main" id="{F0B2C1BB-57E9-C8C3-2ED1-6C229B36023B}"/>
              </a:ext>
            </a:extLst>
          </p:cNvPr>
          <p:cNvSpPr>
            <a:spLocks noChangeShapeType="1"/>
          </p:cNvSpPr>
          <p:nvPr/>
        </p:nvSpPr>
        <p:spPr bwMode="auto">
          <a:xfrm>
            <a:off x="533400" y="25146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3013" name="Rectangle 1029">
            <a:extLst>
              <a:ext uri="{FF2B5EF4-FFF2-40B4-BE49-F238E27FC236}">
                <a16:creationId xmlns:a16="http://schemas.microsoft.com/office/drawing/2014/main" id="{629C3C81-71F4-77E0-216C-FA0CE388001B}"/>
              </a:ext>
            </a:extLst>
          </p:cNvPr>
          <p:cNvSpPr>
            <a:spLocks noChangeArrowheads="1"/>
          </p:cNvSpPr>
          <p:nvPr/>
        </p:nvSpPr>
        <p:spPr bwMode="auto">
          <a:xfrm>
            <a:off x="914400" y="1219200"/>
            <a:ext cx="54102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前頁までで「ターゲット市場・顧客の選定」について説明しました。本節の以降では前に概説した４</a:t>
            </a:r>
            <a:r>
              <a:rPr lang="en-US" altLang="ja-JP" sz="1000">
                <a:latin typeface="ＭＳ Ｐ明朝" panose="02020600040205080304" pitchFamily="18" charset="-128"/>
                <a:ea typeface="ＭＳ Ｐ明朝" panose="02020600040205080304" pitchFamily="18" charset="-128"/>
              </a:rPr>
              <a:t>P</a:t>
            </a:r>
            <a:r>
              <a:rPr lang="ja-JP" altLang="en-US" sz="1000">
                <a:latin typeface="ＭＳ Ｐ明朝" panose="02020600040205080304" pitchFamily="18" charset="-128"/>
                <a:ea typeface="ＭＳ Ｐ明朝" panose="02020600040205080304" pitchFamily="18" charset="-128"/>
              </a:rPr>
              <a:t>（マーケティング・ミックス）のそれぞれについて、個別に説明します。</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4034" name="Rectangle 2">
            <a:extLst>
              <a:ext uri="{FF2B5EF4-FFF2-40B4-BE49-F238E27FC236}">
                <a16:creationId xmlns:a16="http://schemas.microsoft.com/office/drawing/2014/main" id="{11C19F64-14FF-B56B-BFE3-7A9979F832B3}"/>
              </a:ext>
            </a:extLst>
          </p:cNvPr>
          <p:cNvSpPr>
            <a:spLocks noChangeArrowheads="1"/>
          </p:cNvSpPr>
          <p:nvPr/>
        </p:nvSpPr>
        <p:spPr bwMode="auto">
          <a:xfrm>
            <a:off x="533400" y="3482975"/>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3-1-7</a:t>
            </a:r>
          </a:p>
        </p:txBody>
      </p:sp>
      <p:sp>
        <p:nvSpPr>
          <p:cNvPr id="1964035" name="Rectangle 3">
            <a:extLst>
              <a:ext uri="{FF2B5EF4-FFF2-40B4-BE49-F238E27FC236}">
                <a16:creationId xmlns:a16="http://schemas.microsoft.com/office/drawing/2014/main" id="{3FF1AB94-EB02-7873-004D-C92CCAB6EB07}"/>
              </a:ext>
            </a:extLst>
          </p:cNvPr>
          <p:cNvSpPr>
            <a:spLocks noChangeArrowheads="1"/>
          </p:cNvSpPr>
          <p:nvPr/>
        </p:nvSpPr>
        <p:spPr bwMode="auto">
          <a:xfrm>
            <a:off x="1482725" y="3482975"/>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プロダクトライフサイクルの４つの期間</a:t>
            </a:r>
          </a:p>
        </p:txBody>
      </p:sp>
      <p:sp>
        <p:nvSpPr>
          <p:cNvPr id="1964036" name="Line 4">
            <a:extLst>
              <a:ext uri="{FF2B5EF4-FFF2-40B4-BE49-F238E27FC236}">
                <a16:creationId xmlns:a16="http://schemas.microsoft.com/office/drawing/2014/main" id="{22F0CE4B-8C79-CA4A-D05F-DB74E7A8D6FB}"/>
              </a:ext>
            </a:extLst>
          </p:cNvPr>
          <p:cNvSpPr>
            <a:spLocks noChangeShapeType="1"/>
          </p:cNvSpPr>
          <p:nvPr/>
        </p:nvSpPr>
        <p:spPr bwMode="auto">
          <a:xfrm flipV="1">
            <a:off x="1395413" y="3763963"/>
            <a:ext cx="0" cy="2057400"/>
          </a:xfrm>
          <a:prstGeom prst="line">
            <a:avLst/>
          </a:prstGeom>
          <a:noFill/>
          <a:ln w="63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4037" name="Line 5">
            <a:extLst>
              <a:ext uri="{FF2B5EF4-FFF2-40B4-BE49-F238E27FC236}">
                <a16:creationId xmlns:a16="http://schemas.microsoft.com/office/drawing/2014/main" id="{D8063865-1A31-5C98-682A-5CFD9502A265}"/>
              </a:ext>
            </a:extLst>
          </p:cNvPr>
          <p:cNvSpPr>
            <a:spLocks noChangeShapeType="1"/>
          </p:cNvSpPr>
          <p:nvPr/>
        </p:nvSpPr>
        <p:spPr bwMode="auto">
          <a:xfrm>
            <a:off x="1395413" y="5821363"/>
            <a:ext cx="4038600" cy="0"/>
          </a:xfrm>
          <a:prstGeom prst="line">
            <a:avLst/>
          </a:prstGeom>
          <a:noFill/>
          <a:ln w="63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4038" name="Line 6">
            <a:extLst>
              <a:ext uri="{FF2B5EF4-FFF2-40B4-BE49-F238E27FC236}">
                <a16:creationId xmlns:a16="http://schemas.microsoft.com/office/drawing/2014/main" id="{CD514209-A6B6-90D8-A9C7-1C8D4EC53A6F}"/>
              </a:ext>
            </a:extLst>
          </p:cNvPr>
          <p:cNvSpPr>
            <a:spLocks noChangeShapeType="1"/>
          </p:cNvSpPr>
          <p:nvPr/>
        </p:nvSpPr>
        <p:spPr bwMode="auto">
          <a:xfrm>
            <a:off x="2462213" y="3763963"/>
            <a:ext cx="0" cy="2057400"/>
          </a:xfrm>
          <a:prstGeom prst="line">
            <a:avLst/>
          </a:prstGeom>
          <a:noFill/>
          <a:ln w="63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4039" name="Rectangle 7">
            <a:extLst>
              <a:ext uri="{FF2B5EF4-FFF2-40B4-BE49-F238E27FC236}">
                <a16:creationId xmlns:a16="http://schemas.microsoft.com/office/drawing/2014/main" id="{318F17D7-3855-0067-95B0-B8BDB6569F95}"/>
              </a:ext>
            </a:extLst>
          </p:cNvPr>
          <p:cNvSpPr>
            <a:spLocks noChangeArrowheads="1"/>
          </p:cNvSpPr>
          <p:nvPr/>
        </p:nvSpPr>
        <p:spPr bwMode="auto">
          <a:xfrm flipH="1">
            <a:off x="1547813" y="3752850"/>
            <a:ext cx="838200" cy="250825"/>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solidFill>
                  <a:schemeClr val="bg1"/>
                </a:solidFill>
                <a:latin typeface="ＭＳ Ｐゴシック" panose="020B0600070205080204" pitchFamily="50" charset="-128"/>
              </a:rPr>
              <a:t>導入期</a:t>
            </a:r>
          </a:p>
        </p:txBody>
      </p:sp>
      <p:sp>
        <p:nvSpPr>
          <p:cNvPr id="1964040" name="Line 8">
            <a:extLst>
              <a:ext uri="{FF2B5EF4-FFF2-40B4-BE49-F238E27FC236}">
                <a16:creationId xmlns:a16="http://schemas.microsoft.com/office/drawing/2014/main" id="{90FA6621-2E0A-324D-F60A-9949CB465CF7}"/>
              </a:ext>
            </a:extLst>
          </p:cNvPr>
          <p:cNvSpPr>
            <a:spLocks noChangeShapeType="1"/>
          </p:cNvSpPr>
          <p:nvPr/>
        </p:nvSpPr>
        <p:spPr bwMode="auto">
          <a:xfrm>
            <a:off x="3414713" y="3763963"/>
            <a:ext cx="0" cy="2057400"/>
          </a:xfrm>
          <a:prstGeom prst="line">
            <a:avLst/>
          </a:prstGeom>
          <a:noFill/>
          <a:ln w="63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4041" name="Line 9">
            <a:extLst>
              <a:ext uri="{FF2B5EF4-FFF2-40B4-BE49-F238E27FC236}">
                <a16:creationId xmlns:a16="http://schemas.microsoft.com/office/drawing/2014/main" id="{E809E5A5-73EB-48D8-303E-372C126CA392}"/>
              </a:ext>
            </a:extLst>
          </p:cNvPr>
          <p:cNvSpPr>
            <a:spLocks noChangeShapeType="1"/>
          </p:cNvSpPr>
          <p:nvPr/>
        </p:nvSpPr>
        <p:spPr bwMode="auto">
          <a:xfrm>
            <a:off x="4367213" y="3763963"/>
            <a:ext cx="0" cy="2057400"/>
          </a:xfrm>
          <a:prstGeom prst="line">
            <a:avLst/>
          </a:prstGeom>
          <a:noFill/>
          <a:ln w="63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4042" name="Rectangle 10">
            <a:extLst>
              <a:ext uri="{FF2B5EF4-FFF2-40B4-BE49-F238E27FC236}">
                <a16:creationId xmlns:a16="http://schemas.microsoft.com/office/drawing/2014/main" id="{8B527DA3-516C-A9B5-2C46-6BF0E12BAF4D}"/>
              </a:ext>
            </a:extLst>
          </p:cNvPr>
          <p:cNvSpPr>
            <a:spLocks noChangeArrowheads="1"/>
          </p:cNvSpPr>
          <p:nvPr/>
        </p:nvSpPr>
        <p:spPr bwMode="auto">
          <a:xfrm flipH="1">
            <a:off x="2538413" y="3752850"/>
            <a:ext cx="838200" cy="250825"/>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solidFill>
                  <a:schemeClr val="bg1"/>
                </a:solidFill>
                <a:latin typeface="ＭＳ Ｐゴシック" panose="020B0600070205080204" pitchFamily="50" charset="-128"/>
              </a:rPr>
              <a:t>成長期</a:t>
            </a:r>
          </a:p>
        </p:txBody>
      </p:sp>
      <p:sp>
        <p:nvSpPr>
          <p:cNvPr id="1964043" name="Rectangle 11">
            <a:extLst>
              <a:ext uri="{FF2B5EF4-FFF2-40B4-BE49-F238E27FC236}">
                <a16:creationId xmlns:a16="http://schemas.microsoft.com/office/drawing/2014/main" id="{950B7B8B-0F5F-5A7A-82A8-1EB1C2F4C39C}"/>
              </a:ext>
            </a:extLst>
          </p:cNvPr>
          <p:cNvSpPr>
            <a:spLocks noChangeArrowheads="1"/>
          </p:cNvSpPr>
          <p:nvPr/>
        </p:nvSpPr>
        <p:spPr bwMode="auto">
          <a:xfrm flipH="1">
            <a:off x="3490913" y="3752850"/>
            <a:ext cx="838200" cy="250825"/>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solidFill>
                  <a:schemeClr val="bg1"/>
                </a:solidFill>
                <a:latin typeface="ＭＳ Ｐゴシック" panose="020B0600070205080204" pitchFamily="50" charset="-128"/>
              </a:rPr>
              <a:t>成熟期</a:t>
            </a:r>
          </a:p>
        </p:txBody>
      </p:sp>
      <p:sp>
        <p:nvSpPr>
          <p:cNvPr id="1964044" name="Rectangle 12">
            <a:extLst>
              <a:ext uri="{FF2B5EF4-FFF2-40B4-BE49-F238E27FC236}">
                <a16:creationId xmlns:a16="http://schemas.microsoft.com/office/drawing/2014/main" id="{B1F4FC06-4B22-AA89-458E-68F699FD7E80}"/>
              </a:ext>
            </a:extLst>
          </p:cNvPr>
          <p:cNvSpPr>
            <a:spLocks noChangeArrowheads="1"/>
          </p:cNvSpPr>
          <p:nvPr/>
        </p:nvSpPr>
        <p:spPr bwMode="auto">
          <a:xfrm flipH="1">
            <a:off x="4519613" y="3752850"/>
            <a:ext cx="838200" cy="250825"/>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solidFill>
                  <a:schemeClr val="bg1"/>
                </a:solidFill>
                <a:latin typeface="ＭＳ Ｐゴシック" panose="020B0600070205080204" pitchFamily="50" charset="-128"/>
              </a:rPr>
              <a:t>衰退期</a:t>
            </a:r>
          </a:p>
        </p:txBody>
      </p:sp>
      <p:sp>
        <p:nvSpPr>
          <p:cNvPr id="1964045" name="Rectangle 13">
            <a:extLst>
              <a:ext uri="{FF2B5EF4-FFF2-40B4-BE49-F238E27FC236}">
                <a16:creationId xmlns:a16="http://schemas.microsoft.com/office/drawing/2014/main" id="{BFF00464-EBC9-054D-F96B-250FA5CC8E27}"/>
              </a:ext>
            </a:extLst>
          </p:cNvPr>
          <p:cNvSpPr>
            <a:spLocks noChangeArrowheads="1"/>
          </p:cNvSpPr>
          <p:nvPr/>
        </p:nvSpPr>
        <p:spPr bwMode="auto">
          <a:xfrm flipH="1">
            <a:off x="1160463" y="3535363"/>
            <a:ext cx="152400" cy="885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市場規模</a:t>
            </a:r>
          </a:p>
        </p:txBody>
      </p:sp>
      <p:sp>
        <p:nvSpPr>
          <p:cNvPr id="1964046" name="Freeform 14">
            <a:extLst>
              <a:ext uri="{FF2B5EF4-FFF2-40B4-BE49-F238E27FC236}">
                <a16:creationId xmlns:a16="http://schemas.microsoft.com/office/drawing/2014/main" id="{B9BBDCB4-F089-DA85-8440-329DB915D4C5}"/>
              </a:ext>
            </a:extLst>
          </p:cNvPr>
          <p:cNvSpPr>
            <a:spLocks/>
          </p:cNvSpPr>
          <p:nvPr/>
        </p:nvSpPr>
        <p:spPr bwMode="auto">
          <a:xfrm>
            <a:off x="1395413" y="4233863"/>
            <a:ext cx="4114800" cy="1587500"/>
          </a:xfrm>
          <a:custGeom>
            <a:avLst/>
            <a:gdLst>
              <a:gd name="T0" fmla="*/ 0 w 2592"/>
              <a:gd name="T1" fmla="*/ 1000 h 1000"/>
              <a:gd name="T2" fmla="*/ 112 w 2592"/>
              <a:gd name="T3" fmla="*/ 976 h 1000"/>
              <a:gd name="T4" fmla="*/ 392 w 2592"/>
              <a:gd name="T5" fmla="*/ 936 h 1000"/>
              <a:gd name="T6" fmla="*/ 624 w 2592"/>
              <a:gd name="T7" fmla="*/ 856 h 1000"/>
              <a:gd name="T8" fmla="*/ 720 w 2592"/>
              <a:gd name="T9" fmla="*/ 760 h 1000"/>
              <a:gd name="T10" fmla="*/ 864 w 2592"/>
              <a:gd name="T11" fmla="*/ 520 h 1000"/>
              <a:gd name="T12" fmla="*/ 1056 w 2592"/>
              <a:gd name="T13" fmla="*/ 328 h 1000"/>
              <a:gd name="T14" fmla="*/ 1248 w 2592"/>
              <a:gd name="T15" fmla="*/ 184 h 1000"/>
              <a:gd name="T16" fmla="*/ 1536 w 2592"/>
              <a:gd name="T17" fmla="*/ 88 h 1000"/>
              <a:gd name="T18" fmla="*/ 1776 w 2592"/>
              <a:gd name="T19" fmla="*/ 40 h 1000"/>
              <a:gd name="T20" fmla="*/ 2008 w 2592"/>
              <a:gd name="T21" fmla="*/ 8 h 1000"/>
              <a:gd name="T22" fmla="*/ 2352 w 2592"/>
              <a:gd name="T23" fmla="*/ 88 h 1000"/>
              <a:gd name="T24" fmla="*/ 2592 w 2592"/>
              <a:gd name="T25" fmla="*/ 328 h 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92" h="1000">
                <a:moveTo>
                  <a:pt x="0" y="1000"/>
                </a:moveTo>
                <a:cubicBezTo>
                  <a:pt x="19" y="996"/>
                  <a:pt x="47" y="987"/>
                  <a:pt x="112" y="976"/>
                </a:cubicBezTo>
                <a:cubicBezTo>
                  <a:pt x="177" y="965"/>
                  <a:pt x="307" y="956"/>
                  <a:pt x="392" y="936"/>
                </a:cubicBezTo>
                <a:cubicBezTo>
                  <a:pt x="477" y="916"/>
                  <a:pt x="569" y="885"/>
                  <a:pt x="624" y="856"/>
                </a:cubicBezTo>
                <a:cubicBezTo>
                  <a:pt x="679" y="827"/>
                  <a:pt x="680" y="816"/>
                  <a:pt x="720" y="760"/>
                </a:cubicBezTo>
                <a:cubicBezTo>
                  <a:pt x="760" y="704"/>
                  <a:pt x="808" y="592"/>
                  <a:pt x="864" y="520"/>
                </a:cubicBezTo>
                <a:cubicBezTo>
                  <a:pt x="920" y="448"/>
                  <a:pt x="992" y="384"/>
                  <a:pt x="1056" y="328"/>
                </a:cubicBezTo>
                <a:cubicBezTo>
                  <a:pt x="1120" y="272"/>
                  <a:pt x="1168" y="224"/>
                  <a:pt x="1248" y="184"/>
                </a:cubicBezTo>
                <a:cubicBezTo>
                  <a:pt x="1328" y="144"/>
                  <a:pt x="1448" y="112"/>
                  <a:pt x="1536" y="88"/>
                </a:cubicBezTo>
                <a:cubicBezTo>
                  <a:pt x="1624" y="64"/>
                  <a:pt x="1697" y="53"/>
                  <a:pt x="1776" y="40"/>
                </a:cubicBezTo>
                <a:cubicBezTo>
                  <a:pt x="1855" y="27"/>
                  <a:pt x="1912" y="0"/>
                  <a:pt x="2008" y="8"/>
                </a:cubicBezTo>
                <a:cubicBezTo>
                  <a:pt x="2104" y="16"/>
                  <a:pt x="2255" y="35"/>
                  <a:pt x="2352" y="88"/>
                </a:cubicBezTo>
                <a:cubicBezTo>
                  <a:pt x="2449" y="141"/>
                  <a:pt x="2524" y="236"/>
                  <a:pt x="2592" y="328"/>
                </a:cubicBezTo>
              </a:path>
            </a:pathLst>
          </a:custGeom>
          <a:noFill/>
          <a:ln w="6350" cap="flat" cmpd="sng">
            <a:solidFill>
              <a:schemeClr val="tx1"/>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4047" name="AutoShape 15">
            <a:extLst>
              <a:ext uri="{FF2B5EF4-FFF2-40B4-BE49-F238E27FC236}">
                <a16:creationId xmlns:a16="http://schemas.microsoft.com/office/drawing/2014/main" id="{AFCBAFC9-41BE-0851-5B2F-567D8F3530F8}"/>
              </a:ext>
            </a:extLst>
          </p:cNvPr>
          <p:cNvSpPr>
            <a:spLocks noChangeArrowheads="1"/>
          </p:cNvSpPr>
          <p:nvPr/>
        </p:nvSpPr>
        <p:spPr bwMode="auto">
          <a:xfrm>
            <a:off x="1209675" y="5997575"/>
            <a:ext cx="1152525" cy="609600"/>
          </a:xfrm>
          <a:prstGeom prst="wedgeRectCallout">
            <a:avLst>
              <a:gd name="adj1" fmla="val 22866"/>
              <a:gd name="adj2" fmla="val -99741"/>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nchor="ctr" anchorCtr="1"/>
          <a:lstStyle/>
          <a:p>
            <a:pPr algn="l"/>
            <a:r>
              <a:rPr lang="ja-JP" altLang="en-US" sz="900">
                <a:latin typeface="ＭＳ Ｐゴシック" panose="020B0600070205080204" pitchFamily="50" charset="-128"/>
              </a:rPr>
              <a:t>いかに顧客に製品・サービスを知ってもらうかに重点を置く</a:t>
            </a:r>
          </a:p>
        </p:txBody>
      </p:sp>
      <p:sp>
        <p:nvSpPr>
          <p:cNvPr id="1964048" name="AutoShape 16">
            <a:extLst>
              <a:ext uri="{FF2B5EF4-FFF2-40B4-BE49-F238E27FC236}">
                <a16:creationId xmlns:a16="http://schemas.microsoft.com/office/drawing/2014/main" id="{C821810D-588A-EE82-4E21-47D268B1F47C}"/>
              </a:ext>
            </a:extLst>
          </p:cNvPr>
          <p:cNvSpPr>
            <a:spLocks noChangeArrowheads="1"/>
          </p:cNvSpPr>
          <p:nvPr/>
        </p:nvSpPr>
        <p:spPr bwMode="auto">
          <a:xfrm>
            <a:off x="2403475" y="5997575"/>
            <a:ext cx="1152525" cy="609600"/>
          </a:xfrm>
          <a:prstGeom prst="wedgeRectCallout">
            <a:avLst>
              <a:gd name="adj1" fmla="val 8542"/>
              <a:gd name="adj2" fmla="val -135157"/>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nchor="ctr" anchorCtr="1"/>
          <a:lstStyle/>
          <a:p>
            <a:pPr algn="l"/>
            <a:r>
              <a:rPr lang="ja-JP" altLang="en-US" sz="900">
                <a:latin typeface="ＭＳ Ｐゴシック" panose="020B0600070205080204" pitchFamily="50" charset="-128"/>
              </a:rPr>
              <a:t>競合他社の参入に対抗するさらなるシェア拡大</a:t>
            </a:r>
          </a:p>
        </p:txBody>
      </p:sp>
      <p:sp>
        <p:nvSpPr>
          <p:cNvPr id="1964049" name="AutoShape 17">
            <a:extLst>
              <a:ext uri="{FF2B5EF4-FFF2-40B4-BE49-F238E27FC236}">
                <a16:creationId xmlns:a16="http://schemas.microsoft.com/office/drawing/2014/main" id="{C22B58CF-53A9-86E9-F63B-7BD76831AAE6}"/>
              </a:ext>
            </a:extLst>
          </p:cNvPr>
          <p:cNvSpPr>
            <a:spLocks noChangeArrowheads="1"/>
          </p:cNvSpPr>
          <p:nvPr/>
        </p:nvSpPr>
        <p:spPr bwMode="auto">
          <a:xfrm>
            <a:off x="3597275" y="5997575"/>
            <a:ext cx="1152525" cy="609600"/>
          </a:xfrm>
          <a:prstGeom prst="wedgeRectCallout">
            <a:avLst>
              <a:gd name="adj1" fmla="val -9093"/>
              <a:gd name="adj2" fmla="val -137241"/>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nchor="ctr" anchorCtr="1"/>
          <a:lstStyle/>
          <a:p>
            <a:pPr algn="l"/>
            <a:r>
              <a:rPr lang="ja-JP" altLang="en-US" sz="900">
                <a:latin typeface="ＭＳ Ｐゴシック" panose="020B0600070205080204" pitchFamily="50" charset="-128"/>
              </a:rPr>
              <a:t>パッケージやプロモーション等の副次的差別化</a:t>
            </a:r>
          </a:p>
        </p:txBody>
      </p:sp>
      <p:sp>
        <p:nvSpPr>
          <p:cNvPr id="1964050" name="AutoShape 18">
            <a:extLst>
              <a:ext uri="{FF2B5EF4-FFF2-40B4-BE49-F238E27FC236}">
                <a16:creationId xmlns:a16="http://schemas.microsoft.com/office/drawing/2014/main" id="{68CFFFAF-8070-332A-58A9-9623714FB96E}"/>
              </a:ext>
            </a:extLst>
          </p:cNvPr>
          <p:cNvSpPr>
            <a:spLocks noChangeArrowheads="1"/>
          </p:cNvSpPr>
          <p:nvPr/>
        </p:nvSpPr>
        <p:spPr bwMode="auto">
          <a:xfrm>
            <a:off x="4791075" y="5997575"/>
            <a:ext cx="1152525" cy="609600"/>
          </a:xfrm>
          <a:prstGeom prst="wedgeRectCallout">
            <a:avLst>
              <a:gd name="adj1" fmla="val -44352"/>
              <a:gd name="adj2" fmla="val -133074"/>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nchor="ctr" anchorCtr="1"/>
          <a:lstStyle/>
          <a:p>
            <a:pPr algn="l"/>
            <a:r>
              <a:rPr lang="ja-JP" altLang="en-US" sz="900">
                <a:latin typeface="ＭＳ Ｐゴシック" panose="020B0600070205080204" pitchFamily="50" charset="-128"/>
              </a:rPr>
              <a:t>撤退準備、あるいは製品・サービス改良による延命かの意思決定</a:t>
            </a:r>
          </a:p>
        </p:txBody>
      </p:sp>
      <p:sp>
        <p:nvSpPr>
          <p:cNvPr id="1964051" name="Rectangle 19">
            <a:extLst>
              <a:ext uri="{FF2B5EF4-FFF2-40B4-BE49-F238E27FC236}">
                <a16:creationId xmlns:a16="http://schemas.microsoft.com/office/drawing/2014/main" id="{3693F76A-DDC1-FB5A-FE12-EC20BD810A24}"/>
              </a:ext>
            </a:extLst>
          </p:cNvPr>
          <p:cNvSpPr>
            <a:spLocks noChangeArrowheads="1"/>
          </p:cNvSpPr>
          <p:nvPr/>
        </p:nvSpPr>
        <p:spPr bwMode="auto">
          <a:xfrm flipH="1">
            <a:off x="5486400" y="5745163"/>
            <a:ext cx="304800" cy="152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時間</a:t>
            </a:r>
          </a:p>
        </p:txBody>
      </p:sp>
      <p:sp>
        <p:nvSpPr>
          <p:cNvPr id="1964052" name="Rectangle 20">
            <a:extLst>
              <a:ext uri="{FF2B5EF4-FFF2-40B4-BE49-F238E27FC236}">
                <a16:creationId xmlns:a16="http://schemas.microsoft.com/office/drawing/2014/main" id="{1E7443CD-E5C4-8C43-941C-C4229BDE476A}"/>
              </a:ext>
            </a:extLst>
          </p:cNvPr>
          <p:cNvSpPr>
            <a:spLocks noChangeArrowheads="1"/>
          </p:cNvSpPr>
          <p:nvPr/>
        </p:nvSpPr>
        <p:spPr bwMode="auto">
          <a:xfrm flipH="1">
            <a:off x="685800" y="5984875"/>
            <a:ext cx="457200" cy="644525"/>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spAutoFit/>
          </a:bodyP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chemeClr val="bg1"/>
                </a:solidFill>
                <a:latin typeface="ＭＳ Ｐゴシック" panose="020B0600070205080204" pitchFamily="50" charset="-128"/>
              </a:rPr>
              <a:t>各段階で採用すべき戦略</a:t>
            </a:r>
          </a:p>
        </p:txBody>
      </p:sp>
      <p:sp>
        <p:nvSpPr>
          <p:cNvPr id="1964053" name="Text Box 21">
            <a:extLst>
              <a:ext uri="{FF2B5EF4-FFF2-40B4-BE49-F238E27FC236}">
                <a16:creationId xmlns:a16="http://schemas.microsoft.com/office/drawing/2014/main" id="{C9819CDB-BA19-092E-5DD5-D775EC7B820F}"/>
              </a:ext>
            </a:extLst>
          </p:cNvPr>
          <p:cNvSpPr txBox="1">
            <a:spLocks noChangeArrowheads="1"/>
          </p:cNvSpPr>
          <p:nvPr/>
        </p:nvSpPr>
        <p:spPr bwMode="auto">
          <a:xfrm>
            <a:off x="609600" y="9372600"/>
            <a:ext cx="3435350" cy="1524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lstStyle/>
          <a:p>
            <a:pPr algn="l"/>
            <a:r>
              <a:rPr lang="ja-JP" altLang="en-US" sz="800">
                <a:latin typeface="ＭＳ Ｐゴシック" panose="020B0600070205080204" pitchFamily="50" charset="-128"/>
              </a:rPr>
              <a:t>出典：フィリップ・コトラー他著、和田充夫他訳「新版　マーケティング原理」（ダイヤモンド社）を参考に作成</a:t>
            </a:r>
          </a:p>
        </p:txBody>
      </p:sp>
      <p:sp>
        <p:nvSpPr>
          <p:cNvPr id="1964054" name="Rectangle 22">
            <a:extLst>
              <a:ext uri="{FF2B5EF4-FFF2-40B4-BE49-F238E27FC236}">
                <a16:creationId xmlns:a16="http://schemas.microsoft.com/office/drawing/2014/main" id="{DB511CAC-FFA2-83AB-59A3-F5415C14BDE4}"/>
              </a:ext>
            </a:extLst>
          </p:cNvPr>
          <p:cNvSpPr>
            <a:spLocks noChangeArrowheads="1"/>
          </p:cNvSpPr>
          <p:nvPr/>
        </p:nvSpPr>
        <p:spPr bwMode="auto">
          <a:xfrm>
            <a:off x="533400" y="67818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3-1-8</a:t>
            </a:r>
          </a:p>
        </p:txBody>
      </p:sp>
      <p:sp>
        <p:nvSpPr>
          <p:cNvPr id="1964055" name="Rectangle 23">
            <a:extLst>
              <a:ext uri="{FF2B5EF4-FFF2-40B4-BE49-F238E27FC236}">
                <a16:creationId xmlns:a16="http://schemas.microsoft.com/office/drawing/2014/main" id="{017BC125-21D3-C64E-13DF-333514D6155A}"/>
              </a:ext>
            </a:extLst>
          </p:cNvPr>
          <p:cNvSpPr>
            <a:spLocks noChangeArrowheads="1"/>
          </p:cNvSpPr>
          <p:nvPr/>
        </p:nvSpPr>
        <p:spPr bwMode="auto">
          <a:xfrm>
            <a:off x="1482725" y="67818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プロダクトライフサイクルの各期間における企業戦略</a:t>
            </a:r>
          </a:p>
        </p:txBody>
      </p:sp>
      <p:sp>
        <p:nvSpPr>
          <p:cNvPr id="1964056" name="Rectangle 24">
            <a:extLst>
              <a:ext uri="{FF2B5EF4-FFF2-40B4-BE49-F238E27FC236}">
                <a16:creationId xmlns:a16="http://schemas.microsoft.com/office/drawing/2014/main" id="{D4EB8EFA-1B21-71C3-1E1C-2F7390F4D0B2}"/>
              </a:ext>
            </a:extLst>
          </p:cNvPr>
          <p:cNvSpPr>
            <a:spLocks noChangeArrowheads="1"/>
          </p:cNvSpPr>
          <p:nvPr/>
        </p:nvSpPr>
        <p:spPr bwMode="auto">
          <a:xfrm>
            <a:off x="914400" y="1219200"/>
            <a:ext cx="5410200" cy="1981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en-US" altLang="ja-JP" sz="1000">
                <a:latin typeface="ＭＳ Ｐ明朝" panose="02020600040205080304" pitchFamily="18" charset="-128"/>
                <a:ea typeface="ＭＳ Ｐ明朝" panose="02020600040205080304" pitchFamily="18" charset="-128"/>
              </a:rPr>
              <a:t>④</a:t>
            </a:r>
            <a:r>
              <a:rPr lang="ja-JP" altLang="en-US" sz="1000">
                <a:latin typeface="ＭＳ Ｐ明朝" panose="02020600040205080304" pitchFamily="18" charset="-128"/>
                <a:ea typeface="ＭＳ Ｐ明朝" panose="02020600040205080304" pitchFamily="18" charset="-128"/>
              </a:rPr>
              <a:t>衰退期：</a:t>
            </a:r>
          </a:p>
          <a:p>
            <a:pPr>
              <a:lnSpc>
                <a:spcPct val="120000"/>
              </a:lnSpc>
            </a:pPr>
            <a:r>
              <a:rPr lang="ja-JP" altLang="en-US" sz="1000">
                <a:latin typeface="ＭＳ Ｐ明朝" panose="02020600040205080304" pitchFamily="18" charset="-128"/>
                <a:ea typeface="ＭＳ Ｐ明朝" panose="02020600040205080304" pitchFamily="18" charset="-128"/>
              </a:rPr>
              <a:t>市場の売上と利益が急速に減少します。撤退かイノベーション戦略により新規価値創造を行うかの検討をして次期戦略への移行を目標とする期間です。撤退しない企業も、製品数を縮小させたり、弱小な市場セグメントからの撤退や効果の低い流通チャネルの整理、マーケティング費用の削減、価格の削減等を行います。事業継続の場合は、製品の中心顧客を維持し、売上高の水準をできるだけ維持しながら、製品や事業にかけるコストを低減することが必要です。事業撤退の場合は、売却という選択肢も考えられ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こうしたプロダクトライフサイクルの考え方を活用して、市場や製品がどのようなステージにあるかを確認し、ライフサイクルの変化を見越しながら必要な施策を行うことが必要になります。</a:t>
            </a:r>
          </a:p>
        </p:txBody>
      </p:sp>
      <p:sp>
        <p:nvSpPr>
          <p:cNvPr id="1964057" name="AutoShape 25">
            <a:extLst>
              <a:ext uri="{FF2B5EF4-FFF2-40B4-BE49-F238E27FC236}">
                <a16:creationId xmlns:a16="http://schemas.microsoft.com/office/drawing/2014/main" id="{6F99F9EC-FCF1-A5B6-28F4-AE0F1CF1410C}"/>
              </a:ext>
            </a:extLst>
          </p:cNvPr>
          <p:cNvSpPr>
            <a:spLocks noChangeArrowheads="1"/>
          </p:cNvSpPr>
          <p:nvPr/>
        </p:nvSpPr>
        <p:spPr bwMode="auto">
          <a:xfrm flipH="1">
            <a:off x="685800" y="7335838"/>
            <a:ext cx="550863" cy="395287"/>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製品</a:t>
            </a:r>
          </a:p>
        </p:txBody>
      </p:sp>
      <p:sp>
        <p:nvSpPr>
          <p:cNvPr id="1964058" name="Rectangle 26">
            <a:extLst>
              <a:ext uri="{FF2B5EF4-FFF2-40B4-BE49-F238E27FC236}">
                <a16:creationId xmlns:a16="http://schemas.microsoft.com/office/drawing/2014/main" id="{F82CE684-E116-F50B-1A80-3A506C29D8F3}"/>
              </a:ext>
            </a:extLst>
          </p:cNvPr>
          <p:cNvSpPr>
            <a:spLocks noChangeArrowheads="1"/>
          </p:cNvSpPr>
          <p:nvPr/>
        </p:nvSpPr>
        <p:spPr bwMode="auto">
          <a:xfrm flipH="1">
            <a:off x="1327150" y="7334250"/>
            <a:ext cx="1100138"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基本製品</a:t>
            </a:r>
          </a:p>
        </p:txBody>
      </p:sp>
      <p:sp>
        <p:nvSpPr>
          <p:cNvPr id="1964059" name="Rectangle 27">
            <a:extLst>
              <a:ext uri="{FF2B5EF4-FFF2-40B4-BE49-F238E27FC236}">
                <a16:creationId xmlns:a16="http://schemas.microsoft.com/office/drawing/2014/main" id="{CCEA988C-DCB3-9F15-1EA5-20A0BB1C8A62}"/>
              </a:ext>
            </a:extLst>
          </p:cNvPr>
          <p:cNvSpPr>
            <a:spLocks noChangeArrowheads="1"/>
          </p:cNvSpPr>
          <p:nvPr/>
        </p:nvSpPr>
        <p:spPr bwMode="auto">
          <a:xfrm flipH="1">
            <a:off x="1327150" y="7086600"/>
            <a:ext cx="1100138" cy="182563"/>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chemeClr val="bg1"/>
                </a:solidFill>
                <a:latin typeface="ＭＳ Ｐゴシック" panose="020B0600070205080204" pitchFamily="50" charset="-128"/>
              </a:rPr>
              <a:t>導入期</a:t>
            </a:r>
          </a:p>
        </p:txBody>
      </p:sp>
      <p:sp>
        <p:nvSpPr>
          <p:cNvPr id="1964060" name="Rectangle 28">
            <a:extLst>
              <a:ext uri="{FF2B5EF4-FFF2-40B4-BE49-F238E27FC236}">
                <a16:creationId xmlns:a16="http://schemas.microsoft.com/office/drawing/2014/main" id="{A6056B84-9AC6-E408-2156-BD8736854264}"/>
              </a:ext>
            </a:extLst>
          </p:cNvPr>
          <p:cNvSpPr>
            <a:spLocks noChangeArrowheads="1"/>
          </p:cNvSpPr>
          <p:nvPr/>
        </p:nvSpPr>
        <p:spPr bwMode="auto">
          <a:xfrm flipH="1">
            <a:off x="2551113" y="7086600"/>
            <a:ext cx="1100137" cy="182563"/>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chemeClr val="bg1"/>
                </a:solidFill>
                <a:latin typeface="ＭＳ Ｐゴシック" panose="020B0600070205080204" pitchFamily="50" charset="-128"/>
              </a:rPr>
              <a:t>成長期</a:t>
            </a:r>
          </a:p>
        </p:txBody>
      </p:sp>
      <p:sp>
        <p:nvSpPr>
          <p:cNvPr id="1964061" name="Rectangle 29">
            <a:extLst>
              <a:ext uri="{FF2B5EF4-FFF2-40B4-BE49-F238E27FC236}">
                <a16:creationId xmlns:a16="http://schemas.microsoft.com/office/drawing/2014/main" id="{673A0A07-A971-747D-7819-8141E5A11B21}"/>
              </a:ext>
            </a:extLst>
          </p:cNvPr>
          <p:cNvSpPr>
            <a:spLocks noChangeArrowheads="1"/>
          </p:cNvSpPr>
          <p:nvPr/>
        </p:nvSpPr>
        <p:spPr bwMode="auto">
          <a:xfrm flipH="1">
            <a:off x="3773488" y="7086600"/>
            <a:ext cx="1100137" cy="182563"/>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chemeClr val="bg1"/>
                </a:solidFill>
                <a:latin typeface="ＭＳ Ｐゴシック" panose="020B0600070205080204" pitchFamily="50" charset="-128"/>
              </a:rPr>
              <a:t>成熟期</a:t>
            </a:r>
          </a:p>
        </p:txBody>
      </p:sp>
      <p:sp>
        <p:nvSpPr>
          <p:cNvPr id="1964062" name="Rectangle 30">
            <a:extLst>
              <a:ext uri="{FF2B5EF4-FFF2-40B4-BE49-F238E27FC236}">
                <a16:creationId xmlns:a16="http://schemas.microsoft.com/office/drawing/2014/main" id="{082AD101-2A65-F0D6-896B-2E0C66C0FDE9}"/>
              </a:ext>
            </a:extLst>
          </p:cNvPr>
          <p:cNvSpPr>
            <a:spLocks noChangeArrowheads="1"/>
          </p:cNvSpPr>
          <p:nvPr/>
        </p:nvSpPr>
        <p:spPr bwMode="auto">
          <a:xfrm flipH="1">
            <a:off x="4995863" y="7086600"/>
            <a:ext cx="1100137" cy="182563"/>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chemeClr val="bg1"/>
                </a:solidFill>
                <a:latin typeface="ＭＳ Ｐゴシック" panose="020B0600070205080204" pitchFamily="50" charset="-128"/>
              </a:rPr>
              <a:t>衰退期</a:t>
            </a:r>
          </a:p>
        </p:txBody>
      </p:sp>
      <p:sp>
        <p:nvSpPr>
          <p:cNvPr id="1964063" name="Rectangle 31">
            <a:extLst>
              <a:ext uri="{FF2B5EF4-FFF2-40B4-BE49-F238E27FC236}">
                <a16:creationId xmlns:a16="http://schemas.microsoft.com/office/drawing/2014/main" id="{12F9E6E9-C1B7-845F-F369-A7710D611672}"/>
              </a:ext>
            </a:extLst>
          </p:cNvPr>
          <p:cNvSpPr>
            <a:spLocks noChangeArrowheads="1"/>
          </p:cNvSpPr>
          <p:nvPr/>
        </p:nvSpPr>
        <p:spPr bwMode="auto">
          <a:xfrm flipH="1">
            <a:off x="2551113" y="7334250"/>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ライン拡張、改良</a:t>
            </a:r>
          </a:p>
        </p:txBody>
      </p:sp>
      <p:sp>
        <p:nvSpPr>
          <p:cNvPr id="1964064" name="Rectangle 32">
            <a:extLst>
              <a:ext uri="{FF2B5EF4-FFF2-40B4-BE49-F238E27FC236}">
                <a16:creationId xmlns:a16="http://schemas.microsoft.com/office/drawing/2014/main" id="{426AD787-94F0-4D5B-DE80-11EE208ACF1F}"/>
              </a:ext>
            </a:extLst>
          </p:cNvPr>
          <p:cNvSpPr>
            <a:spLocks noChangeArrowheads="1"/>
          </p:cNvSpPr>
          <p:nvPr/>
        </p:nvSpPr>
        <p:spPr bwMode="auto">
          <a:xfrm flipH="1">
            <a:off x="3773488" y="7334250"/>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ブランド・モデルの多様化・差別化</a:t>
            </a:r>
          </a:p>
        </p:txBody>
      </p:sp>
      <p:sp>
        <p:nvSpPr>
          <p:cNvPr id="1964065" name="Rectangle 33">
            <a:extLst>
              <a:ext uri="{FF2B5EF4-FFF2-40B4-BE49-F238E27FC236}">
                <a16:creationId xmlns:a16="http://schemas.microsoft.com/office/drawing/2014/main" id="{09C63CAD-CFC7-0F28-5E63-0EE351D8A143}"/>
              </a:ext>
            </a:extLst>
          </p:cNvPr>
          <p:cNvSpPr>
            <a:spLocks noChangeArrowheads="1"/>
          </p:cNvSpPr>
          <p:nvPr/>
        </p:nvSpPr>
        <p:spPr bwMode="auto">
          <a:xfrm flipH="1">
            <a:off x="4995863" y="7334250"/>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弱小製品の削減</a:t>
            </a:r>
          </a:p>
        </p:txBody>
      </p:sp>
      <p:sp>
        <p:nvSpPr>
          <p:cNvPr id="1964066" name="AutoShape 34">
            <a:extLst>
              <a:ext uri="{FF2B5EF4-FFF2-40B4-BE49-F238E27FC236}">
                <a16:creationId xmlns:a16="http://schemas.microsoft.com/office/drawing/2014/main" id="{81F948CD-FDC9-35C8-8618-5B14B364FF4E}"/>
              </a:ext>
            </a:extLst>
          </p:cNvPr>
          <p:cNvSpPr>
            <a:spLocks noChangeArrowheads="1"/>
          </p:cNvSpPr>
          <p:nvPr/>
        </p:nvSpPr>
        <p:spPr bwMode="auto">
          <a:xfrm flipH="1">
            <a:off x="685800" y="7831138"/>
            <a:ext cx="550863" cy="396875"/>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価格</a:t>
            </a:r>
          </a:p>
        </p:txBody>
      </p:sp>
      <p:sp>
        <p:nvSpPr>
          <p:cNvPr id="1964067" name="Rectangle 35">
            <a:extLst>
              <a:ext uri="{FF2B5EF4-FFF2-40B4-BE49-F238E27FC236}">
                <a16:creationId xmlns:a16="http://schemas.microsoft.com/office/drawing/2014/main" id="{E93166B1-2C0C-80E4-0B3B-C3B3184E8CD9}"/>
              </a:ext>
            </a:extLst>
          </p:cNvPr>
          <p:cNvSpPr>
            <a:spLocks noChangeArrowheads="1"/>
          </p:cNvSpPr>
          <p:nvPr/>
        </p:nvSpPr>
        <p:spPr bwMode="auto">
          <a:xfrm flipH="1">
            <a:off x="1327150" y="7831138"/>
            <a:ext cx="1100138"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高い</a:t>
            </a:r>
          </a:p>
        </p:txBody>
      </p:sp>
      <p:sp>
        <p:nvSpPr>
          <p:cNvPr id="1964068" name="Rectangle 36">
            <a:extLst>
              <a:ext uri="{FF2B5EF4-FFF2-40B4-BE49-F238E27FC236}">
                <a16:creationId xmlns:a16="http://schemas.microsoft.com/office/drawing/2014/main" id="{1235CB1B-4319-F89D-2071-90D6D7970F58}"/>
              </a:ext>
            </a:extLst>
          </p:cNvPr>
          <p:cNvSpPr>
            <a:spLocks noChangeArrowheads="1"/>
          </p:cNvSpPr>
          <p:nvPr/>
        </p:nvSpPr>
        <p:spPr bwMode="auto">
          <a:xfrm flipH="1">
            <a:off x="2551113" y="7831138"/>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やや定価</a:t>
            </a:r>
          </a:p>
        </p:txBody>
      </p:sp>
      <p:sp>
        <p:nvSpPr>
          <p:cNvPr id="1964069" name="Rectangle 37">
            <a:extLst>
              <a:ext uri="{FF2B5EF4-FFF2-40B4-BE49-F238E27FC236}">
                <a16:creationId xmlns:a16="http://schemas.microsoft.com/office/drawing/2014/main" id="{B31F23CE-D17D-67B6-2885-8911CDBCB3A0}"/>
              </a:ext>
            </a:extLst>
          </p:cNvPr>
          <p:cNvSpPr>
            <a:spLocks noChangeArrowheads="1"/>
          </p:cNvSpPr>
          <p:nvPr/>
        </p:nvSpPr>
        <p:spPr bwMode="auto">
          <a:xfrm flipH="1">
            <a:off x="3773488" y="7831138"/>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低い</a:t>
            </a:r>
          </a:p>
        </p:txBody>
      </p:sp>
      <p:sp>
        <p:nvSpPr>
          <p:cNvPr id="1964070" name="Rectangle 38">
            <a:extLst>
              <a:ext uri="{FF2B5EF4-FFF2-40B4-BE49-F238E27FC236}">
                <a16:creationId xmlns:a16="http://schemas.microsoft.com/office/drawing/2014/main" id="{B626E57D-F650-F51B-FBA2-8CDA100038D5}"/>
              </a:ext>
            </a:extLst>
          </p:cNvPr>
          <p:cNvSpPr>
            <a:spLocks noChangeArrowheads="1"/>
          </p:cNvSpPr>
          <p:nvPr/>
        </p:nvSpPr>
        <p:spPr bwMode="auto">
          <a:xfrm flipH="1">
            <a:off x="4995863" y="7831138"/>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価格の引き下げ</a:t>
            </a:r>
          </a:p>
        </p:txBody>
      </p:sp>
      <p:sp>
        <p:nvSpPr>
          <p:cNvPr id="1964071" name="AutoShape 39">
            <a:extLst>
              <a:ext uri="{FF2B5EF4-FFF2-40B4-BE49-F238E27FC236}">
                <a16:creationId xmlns:a16="http://schemas.microsoft.com/office/drawing/2014/main" id="{EDA01224-CC86-44A8-3B22-CB901A73E289}"/>
              </a:ext>
            </a:extLst>
          </p:cNvPr>
          <p:cNvSpPr>
            <a:spLocks noChangeArrowheads="1"/>
          </p:cNvSpPr>
          <p:nvPr/>
        </p:nvSpPr>
        <p:spPr bwMode="auto">
          <a:xfrm flipH="1">
            <a:off x="685800" y="8328025"/>
            <a:ext cx="550863" cy="395288"/>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流通</a:t>
            </a:r>
          </a:p>
        </p:txBody>
      </p:sp>
      <p:sp>
        <p:nvSpPr>
          <p:cNvPr id="1964072" name="Rectangle 40">
            <a:extLst>
              <a:ext uri="{FF2B5EF4-FFF2-40B4-BE49-F238E27FC236}">
                <a16:creationId xmlns:a16="http://schemas.microsoft.com/office/drawing/2014/main" id="{1A9FA154-9E95-9125-3199-876ED9A16960}"/>
              </a:ext>
            </a:extLst>
          </p:cNvPr>
          <p:cNvSpPr>
            <a:spLocks noChangeArrowheads="1"/>
          </p:cNvSpPr>
          <p:nvPr/>
        </p:nvSpPr>
        <p:spPr bwMode="auto">
          <a:xfrm flipH="1">
            <a:off x="1327150" y="8326438"/>
            <a:ext cx="1100138"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選択的</a:t>
            </a:r>
          </a:p>
        </p:txBody>
      </p:sp>
      <p:sp>
        <p:nvSpPr>
          <p:cNvPr id="1964073" name="Rectangle 41">
            <a:extLst>
              <a:ext uri="{FF2B5EF4-FFF2-40B4-BE49-F238E27FC236}">
                <a16:creationId xmlns:a16="http://schemas.microsoft.com/office/drawing/2014/main" id="{62EBBB8D-AA90-B0B7-9463-A66C2086DD99}"/>
              </a:ext>
            </a:extLst>
          </p:cNvPr>
          <p:cNvSpPr>
            <a:spLocks noChangeArrowheads="1"/>
          </p:cNvSpPr>
          <p:nvPr/>
        </p:nvSpPr>
        <p:spPr bwMode="auto">
          <a:xfrm flipH="1">
            <a:off x="2551113" y="8326438"/>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拡張的・集中的</a:t>
            </a:r>
          </a:p>
        </p:txBody>
      </p:sp>
      <p:sp>
        <p:nvSpPr>
          <p:cNvPr id="1964074" name="Rectangle 42">
            <a:extLst>
              <a:ext uri="{FF2B5EF4-FFF2-40B4-BE49-F238E27FC236}">
                <a16:creationId xmlns:a16="http://schemas.microsoft.com/office/drawing/2014/main" id="{3E9DC8C7-B9A8-EF8E-3CC8-D711F58D80F9}"/>
              </a:ext>
            </a:extLst>
          </p:cNvPr>
          <p:cNvSpPr>
            <a:spLocks noChangeArrowheads="1"/>
          </p:cNvSpPr>
          <p:nvPr/>
        </p:nvSpPr>
        <p:spPr bwMode="auto">
          <a:xfrm flipH="1">
            <a:off x="3773488" y="8326438"/>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一層の拡張</a:t>
            </a:r>
          </a:p>
        </p:txBody>
      </p:sp>
      <p:sp>
        <p:nvSpPr>
          <p:cNvPr id="1964075" name="Rectangle 43">
            <a:extLst>
              <a:ext uri="{FF2B5EF4-FFF2-40B4-BE49-F238E27FC236}">
                <a16:creationId xmlns:a16="http://schemas.microsoft.com/office/drawing/2014/main" id="{3535C9F7-9BE9-4001-F3C1-5F5DA694DED7}"/>
              </a:ext>
            </a:extLst>
          </p:cNvPr>
          <p:cNvSpPr>
            <a:spLocks noChangeArrowheads="1"/>
          </p:cNvSpPr>
          <p:nvPr/>
        </p:nvSpPr>
        <p:spPr bwMode="auto">
          <a:xfrm flipH="1">
            <a:off x="4995863" y="8326438"/>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選択的</a:t>
            </a:r>
          </a:p>
        </p:txBody>
      </p:sp>
      <p:sp>
        <p:nvSpPr>
          <p:cNvPr id="1964076" name="AutoShape 44">
            <a:extLst>
              <a:ext uri="{FF2B5EF4-FFF2-40B4-BE49-F238E27FC236}">
                <a16:creationId xmlns:a16="http://schemas.microsoft.com/office/drawing/2014/main" id="{9DADE34C-A4E1-0681-4563-B330E711DB22}"/>
              </a:ext>
            </a:extLst>
          </p:cNvPr>
          <p:cNvSpPr>
            <a:spLocks noChangeArrowheads="1"/>
          </p:cNvSpPr>
          <p:nvPr/>
        </p:nvSpPr>
        <p:spPr bwMode="auto">
          <a:xfrm flipH="1">
            <a:off x="685800" y="8824913"/>
            <a:ext cx="550863" cy="395287"/>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プロ</a:t>
            </a:r>
          </a:p>
          <a:p>
            <a:pPr algn="ctr"/>
            <a:r>
              <a:rPr lang="ja-JP" altLang="en-US" sz="900">
                <a:latin typeface="ＭＳ Ｐゴシック" panose="020B0600070205080204" pitchFamily="50" charset="-128"/>
              </a:rPr>
              <a:t>モーション</a:t>
            </a:r>
          </a:p>
        </p:txBody>
      </p:sp>
      <p:sp>
        <p:nvSpPr>
          <p:cNvPr id="1964077" name="Rectangle 45">
            <a:extLst>
              <a:ext uri="{FF2B5EF4-FFF2-40B4-BE49-F238E27FC236}">
                <a16:creationId xmlns:a16="http://schemas.microsoft.com/office/drawing/2014/main" id="{A34C55E9-302A-B633-8D22-6A67F481B704}"/>
              </a:ext>
            </a:extLst>
          </p:cNvPr>
          <p:cNvSpPr>
            <a:spLocks noChangeArrowheads="1"/>
          </p:cNvSpPr>
          <p:nvPr/>
        </p:nvSpPr>
        <p:spPr bwMode="auto">
          <a:xfrm flipH="1">
            <a:off x="1327150" y="8823325"/>
            <a:ext cx="1100138"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製品知名</a:t>
            </a:r>
          </a:p>
        </p:txBody>
      </p:sp>
      <p:sp>
        <p:nvSpPr>
          <p:cNvPr id="1964078" name="Rectangle 46">
            <a:extLst>
              <a:ext uri="{FF2B5EF4-FFF2-40B4-BE49-F238E27FC236}">
                <a16:creationId xmlns:a16="http://schemas.microsoft.com/office/drawing/2014/main" id="{D6D7F160-3789-7EED-90D5-81707BBB5B91}"/>
              </a:ext>
            </a:extLst>
          </p:cNvPr>
          <p:cNvSpPr>
            <a:spLocks noChangeArrowheads="1"/>
          </p:cNvSpPr>
          <p:nvPr/>
        </p:nvSpPr>
        <p:spPr bwMode="auto">
          <a:xfrm flipH="1">
            <a:off x="2551113" y="8823325"/>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マス市場での認知と関心</a:t>
            </a:r>
          </a:p>
        </p:txBody>
      </p:sp>
      <p:sp>
        <p:nvSpPr>
          <p:cNvPr id="1964079" name="Rectangle 47">
            <a:extLst>
              <a:ext uri="{FF2B5EF4-FFF2-40B4-BE49-F238E27FC236}">
                <a16:creationId xmlns:a16="http://schemas.microsoft.com/office/drawing/2014/main" id="{1DEC3117-D0A6-E4A2-2D75-973ED1047369}"/>
              </a:ext>
            </a:extLst>
          </p:cNvPr>
          <p:cNvSpPr>
            <a:spLocks noChangeArrowheads="1"/>
          </p:cNvSpPr>
          <p:nvPr/>
        </p:nvSpPr>
        <p:spPr bwMode="auto">
          <a:xfrm flipH="1">
            <a:off x="3773488" y="8823325"/>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ブランドの差別化とベネフィット強調</a:t>
            </a:r>
          </a:p>
        </p:txBody>
      </p:sp>
      <p:sp>
        <p:nvSpPr>
          <p:cNvPr id="1964080" name="Rectangle 48">
            <a:extLst>
              <a:ext uri="{FF2B5EF4-FFF2-40B4-BE49-F238E27FC236}">
                <a16:creationId xmlns:a16="http://schemas.microsoft.com/office/drawing/2014/main" id="{35AC53B3-DFBB-49CD-C820-FFF37F3A6491}"/>
              </a:ext>
            </a:extLst>
          </p:cNvPr>
          <p:cNvSpPr>
            <a:spLocks noChangeArrowheads="1"/>
          </p:cNvSpPr>
          <p:nvPr/>
        </p:nvSpPr>
        <p:spPr bwMode="auto">
          <a:xfrm flipH="1">
            <a:off x="4995863" y="8823325"/>
            <a:ext cx="1100137" cy="396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中核的顧客の維持</a:t>
            </a:r>
          </a:p>
        </p:txBody>
      </p:sp>
      <p:grpSp>
        <p:nvGrpSpPr>
          <p:cNvPr id="1964081" name="Group 49">
            <a:extLst>
              <a:ext uri="{FF2B5EF4-FFF2-40B4-BE49-F238E27FC236}">
                <a16:creationId xmlns:a16="http://schemas.microsoft.com/office/drawing/2014/main" id="{B073A296-313D-CD86-710A-0139CB4CD434}"/>
              </a:ext>
            </a:extLst>
          </p:cNvPr>
          <p:cNvGrpSpPr>
            <a:grpSpLocks/>
          </p:cNvGrpSpPr>
          <p:nvPr/>
        </p:nvGrpSpPr>
        <p:grpSpPr bwMode="auto">
          <a:xfrm>
            <a:off x="4267200" y="0"/>
            <a:ext cx="2286000" cy="228600"/>
            <a:chOff x="2928" y="-48"/>
            <a:chExt cx="1392" cy="192"/>
          </a:xfrm>
        </p:grpSpPr>
        <p:sp>
          <p:nvSpPr>
            <p:cNvPr id="1964082" name="Line 50">
              <a:extLst>
                <a:ext uri="{FF2B5EF4-FFF2-40B4-BE49-F238E27FC236}">
                  <a16:creationId xmlns:a16="http://schemas.microsoft.com/office/drawing/2014/main" id="{FB964859-0CBD-404C-9076-FE7721C8DD10}"/>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4083" name="Rectangle 51">
              <a:extLst>
                <a:ext uri="{FF2B5EF4-FFF2-40B4-BE49-F238E27FC236}">
                  <a16:creationId xmlns:a16="http://schemas.microsoft.com/office/drawing/2014/main" id="{713F0D7F-727F-C3CB-C364-D671D5B8F2B8}"/>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ＭＳ Ｐゴシック" panose="020B0600070205080204" pitchFamily="50" charset="-128"/>
                </a:rPr>
                <a:t>Ⅲ</a:t>
              </a:r>
              <a:r>
                <a:rPr lang="ja-JP" altLang="en-US" sz="1000">
                  <a:latin typeface="ＭＳ Ｐゴシック" panose="020B0600070205080204" pitchFamily="50" charset="-128"/>
                </a:rPr>
                <a:t>　経営助言の実践に関する論点</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5058" name="Rectangle 2">
            <a:extLst>
              <a:ext uri="{FF2B5EF4-FFF2-40B4-BE49-F238E27FC236}">
                <a16:creationId xmlns:a16="http://schemas.microsoft.com/office/drawing/2014/main" id="{18D04E99-F3FE-34F5-1412-99E932C01399}"/>
              </a:ext>
            </a:extLst>
          </p:cNvPr>
          <p:cNvSpPr>
            <a:spLocks noChangeArrowheads="1"/>
          </p:cNvSpPr>
          <p:nvPr/>
        </p:nvSpPr>
        <p:spPr bwMode="auto">
          <a:xfrm>
            <a:off x="914400" y="1600200"/>
            <a:ext cx="5410200" cy="3581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マーケティング戦略における価格の問題は、企業の利益の創出に直接的に結びついているため、極めて重要な位置を占めています。価格の高低によって自社の商品やサービスの売れ行きが変化するうえ競合する商品やサービスの価格が見直されることも頻繁にあるため、自社の戦略に適合した明確な論理から価格に関する意思決定は行われなければなりません。</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価格設定の手法としては、「コスト志向型価格設定」、「需要志向型価格設定」 、「競争志向型価格設定」の３類型が考えられます。「コスト志向型」と「競争志向型」は企業本位、「受容志向型」は顧客本位の考え方と言えるでしょう。現実には、これらの視点をすべて統合して価格設定が行われることになります（図表</a:t>
            </a:r>
            <a:r>
              <a:rPr lang="en-US" altLang="ja-JP" sz="1000">
                <a:latin typeface="ＭＳ Ｐ明朝" panose="02020600040205080304" pitchFamily="18" charset="-128"/>
                <a:ea typeface="ＭＳ Ｐ明朝" panose="02020600040205080304" pitchFamily="18" charset="-128"/>
              </a:rPr>
              <a:t>3-1-9</a:t>
            </a:r>
            <a:r>
              <a:rPr lang="ja-JP" altLang="en-US" sz="1000">
                <a:latin typeface="ＭＳ Ｐ明朝" panose="02020600040205080304" pitchFamily="18" charset="-128"/>
                <a:ea typeface="ＭＳ Ｐ明朝" panose="02020600040205080304" pitchFamily="18" charset="-128"/>
              </a:rPr>
              <a:t>参照）。</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会計の専門家としての財務管理サービス人材にとって、「コスト志向型価格設定」の考え方は馴染みやすいものかと思われますが、事業計画等を検討するときには他の考え方についても意識して検討することも有意義でしょう。</a:t>
            </a:r>
          </a:p>
          <a:p>
            <a:pPr>
              <a:lnSpc>
                <a:spcPct val="120000"/>
              </a:lnSpc>
            </a:pPr>
            <a:endParaRPr lang="en-US" altLang="ja-JP" sz="1000">
              <a:latin typeface="ＭＳ Ｐ明朝" panose="02020600040205080304" pitchFamily="18" charset="-128"/>
              <a:ea typeface="ＭＳ Ｐ明朝" panose="02020600040205080304" pitchFamily="18" charset="-128"/>
            </a:endParaRPr>
          </a:p>
        </p:txBody>
      </p:sp>
      <p:sp>
        <p:nvSpPr>
          <p:cNvPr id="1965059" name="Rectangle 3">
            <a:extLst>
              <a:ext uri="{FF2B5EF4-FFF2-40B4-BE49-F238E27FC236}">
                <a16:creationId xmlns:a16="http://schemas.microsoft.com/office/drawing/2014/main" id="{21AAA7FA-2B47-740C-9124-4FDF68C62A7E}"/>
              </a:ext>
            </a:extLst>
          </p:cNvPr>
          <p:cNvSpPr>
            <a:spLocks noChangeArrowheads="1"/>
          </p:cNvSpPr>
          <p:nvPr/>
        </p:nvSpPr>
        <p:spPr bwMode="auto">
          <a:xfrm>
            <a:off x="533400" y="12192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en-US" altLang="ja-JP" sz="1200">
                <a:latin typeface="Century" panose="02040604050505020304" pitchFamily="18" charset="0"/>
              </a:rPr>
              <a:t>4P </a:t>
            </a:r>
            <a:r>
              <a:rPr lang="ja-JP" altLang="en-US" sz="1200">
                <a:latin typeface="Century" panose="02040604050505020304" pitchFamily="18" charset="0"/>
              </a:rPr>
              <a:t>（マーケティング・ミックス）の設定　②</a:t>
            </a:r>
            <a:r>
              <a:rPr lang="en-US" altLang="ja-JP" sz="1200">
                <a:latin typeface="Century" panose="02040604050505020304" pitchFamily="18" charset="0"/>
              </a:rPr>
              <a:t>Price</a:t>
            </a:r>
            <a:r>
              <a:rPr lang="ja-JP" altLang="en-US" sz="1200">
                <a:latin typeface="Century" panose="02040604050505020304" pitchFamily="18" charset="0"/>
              </a:rPr>
              <a:t>（価格戦略）</a:t>
            </a:r>
          </a:p>
        </p:txBody>
      </p:sp>
      <p:sp>
        <p:nvSpPr>
          <p:cNvPr id="1965060" name="Line 4">
            <a:extLst>
              <a:ext uri="{FF2B5EF4-FFF2-40B4-BE49-F238E27FC236}">
                <a16:creationId xmlns:a16="http://schemas.microsoft.com/office/drawing/2014/main" id="{EC8F2C33-C311-0A17-308C-9F00BB3666CB}"/>
              </a:ext>
            </a:extLst>
          </p:cNvPr>
          <p:cNvSpPr>
            <a:spLocks noChangeShapeType="1"/>
          </p:cNvSpPr>
          <p:nvPr/>
        </p:nvSpPr>
        <p:spPr bwMode="auto">
          <a:xfrm>
            <a:off x="533400" y="15240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5061" name="Rectangle 5">
            <a:extLst>
              <a:ext uri="{FF2B5EF4-FFF2-40B4-BE49-F238E27FC236}">
                <a16:creationId xmlns:a16="http://schemas.microsoft.com/office/drawing/2014/main" id="{92F8FC19-7FEF-190B-096D-FD2197B4A4DC}"/>
              </a:ext>
            </a:extLst>
          </p:cNvPr>
          <p:cNvSpPr>
            <a:spLocks noChangeArrowheads="1"/>
          </p:cNvSpPr>
          <p:nvPr/>
        </p:nvSpPr>
        <p:spPr bwMode="auto">
          <a:xfrm>
            <a:off x="533400" y="51054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3-1-9</a:t>
            </a:r>
          </a:p>
        </p:txBody>
      </p:sp>
      <p:sp>
        <p:nvSpPr>
          <p:cNvPr id="1965062" name="Rectangle 6">
            <a:extLst>
              <a:ext uri="{FF2B5EF4-FFF2-40B4-BE49-F238E27FC236}">
                <a16:creationId xmlns:a16="http://schemas.microsoft.com/office/drawing/2014/main" id="{C851E555-106C-B965-2BFB-46C0443E086C}"/>
              </a:ext>
            </a:extLst>
          </p:cNvPr>
          <p:cNvSpPr>
            <a:spLocks noChangeArrowheads="1"/>
          </p:cNvSpPr>
          <p:nvPr/>
        </p:nvSpPr>
        <p:spPr bwMode="auto">
          <a:xfrm>
            <a:off x="1482725" y="51054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価格の設定方法</a:t>
            </a:r>
          </a:p>
        </p:txBody>
      </p:sp>
      <p:sp>
        <p:nvSpPr>
          <p:cNvPr id="1965063" name="Rectangle 7">
            <a:extLst>
              <a:ext uri="{FF2B5EF4-FFF2-40B4-BE49-F238E27FC236}">
                <a16:creationId xmlns:a16="http://schemas.microsoft.com/office/drawing/2014/main" id="{10320F1B-FE99-08DE-2504-10989A1C7009}"/>
              </a:ext>
            </a:extLst>
          </p:cNvPr>
          <p:cNvSpPr>
            <a:spLocks noChangeArrowheads="1"/>
          </p:cNvSpPr>
          <p:nvPr/>
        </p:nvSpPr>
        <p:spPr bwMode="auto">
          <a:xfrm flipH="1">
            <a:off x="1830388" y="8269288"/>
            <a:ext cx="4494212" cy="4921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144000" tIns="10800" rIns="0" bIns="10800" anchor="ctr"/>
          <a:lstStyle>
            <a:lvl1pPr marL="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競合相手の価格と比較して、製品の価格を設定する方法。</a:t>
            </a:r>
          </a:p>
          <a:p>
            <a:pPr>
              <a:buFont typeface="Wingdings" panose="05000000000000000000" pitchFamily="2" charset="2"/>
              <a:buNone/>
            </a:pPr>
            <a:r>
              <a:rPr lang="ja-JP" altLang="en-US" sz="900">
                <a:latin typeface="ＭＳ Ｐゴシック" panose="020B0600070205080204" pitchFamily="50" charset="-128"/>
              </a:rPr>
              <a:t>多くの業界で採用されている一般的な価格設定手法。</a:t>
            </a:r>
          </a:p>
        </p:txBody>
      </p:sp>
      <p:sp>
        <p:nvSpPr>
          <p:cNvPr id="1965064" name="AutoShape 8">
            <a:extLst>
              <a:ext uri="{FF2B5EF4-FFF2-40B4-BE49-F238E27FC236}">
                <a16:creationId xmlns:a16="http://schemas.microsoft.com/office/drawing/2014/main" id="{2CD6E832-94F3-BF5A-84E5-AE3CB089A978}"/>
              </a:ext>
            </a:extLst>
          </p:cNvPr>
          <p:cNvSpPr>
            <a:spLocks noChangeArrowheads="1"/>
          </p:cNvSpPr>
          <p:nvPr/>
        </p:nvSpPr>
        <p:spPr bwMode="auto">
          <a:xfrm flipH="1">
            <a:off x="1143000" y="8269288"/>
            <a:ext cx="612775" cy="493712"/>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実勢型</a:t>
            </a:r>
          </a:p>
          <a:p>
            <a:pPr algn="ctr"/>
            <a:r>
              <a:rPr lang="ja-JP" altLang="en-US" sz="900">
                <a:latin typeface="ＭＳ Ｐゴシック" panose="020B0600070205080204" pitchFamily="50" charset="-128"/>
              </a:rPr>
              <a:t>価格設定</a:t>
            </a:r>
          </a:p>
        </p:txBody>
      </p:sp>
      <p:sp>
        <p:nvSpPr>
          <p:cNvPr id="1965065" name="AutoShape 9">
            <a:extLst>
              <a:ext uri="{FF2B5EF4-FFF2-40B4-BE49-F238E27FC236}">
                <a16:creationId xmlns:a16="http://schemas.microsoft.com/office/drawing/2014/main" id="{F0FA7672-2F2E-BC51-F7AE-B1639E9EA686}"/>
              </a:ext>
            </a:extLst>
          </p:cNvPr>
          <p:cNvSpPr>
            <a:spLocks noChangeArrowheads="1"/>
          </p:cNvSpPr>
          <p:nvPr/>
        </p:nvSpPr>
        <p:spPr bwMode="auto">
          <a:xfrm flipH="1">
            <a:off x="1143000" y="8839200"/>
            <a:ext cx="612775" cy="431800"/>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入札型</a:t>
            </a:r>
          </a:p>
          <a:p>
            <a:pPr algn="ctr"/>
            <a:r>
              <a:rPr lang="ja-JP" altLang="en-US" sz="900">
                <a:latin typeface="ＭＳ Ｐゴシック" panose="020B0600070205080204" pitchFamily="50" charset="-128"/>
              </a:rPr>
              <a:t>価格設定</a:t>
            </a:r>
          </a:p>
        </p:txBody>
      </p:sp>
      <p:sp>
        <p:nvSpPr>
          <p:cNvPr id="1965066" name="Rectangle 10">
            <a:extLst>
              <a:ext uri="{FF2B5EF4-FFF2-40B4-BE49-F238E27FC236}">
                <a16:creationId xmlns:a16="http://schemas.microsoft.com/office/drawing/2014/main" id="{3FB52728-9545-035A-7925-C5C8D2DE772C}"/>
              </a:ext>
            </a:extLst>
          </p:cNvPr>
          <p:cNvSpPr>
            <a:spLocks noChangeArrowheads="1"/>
          </p:cNvSpPr>
          <p:nvPr/>
        </p:nvSpPr>
        <p:spPr bwMode="auto">
          <a:xfrm flipH="1">
            <a:off x="1830388" y="8840788"/>
            <a:ext cx="4494212" cy="430212"/>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144000" tIns="10800" rIns="0" bIns="10800" anchor="ctr"/>
          <a:lstStyle>
            <a:lvl1pPr marL="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自社にとって一番有利な価格条件を提示した相手と取引を行う。</a:t>
            </a:r>
          </a:p>
        </p:txBody>
      </p:sp>
      <p:sp>
        <p:nvSpPr>
          <p:cNvPr id="1965067" name="AutoShape 11">
            <a:extLst>
              <a:ext uri="{FF2B5EF4-FFF2-40B4-BE49-F238E27FC236}">
                <a16:creationId xmlns:a16="http://schemas.microsoft.com/office/drawing/2014/main" id="{89CC889D-68A6-126A-3B72-91D057629CBA}"/>
              </a:ext>
            </a:extLst>
          </p:cNvPr>
          <p:cNvSpPr>
            <a:spLocks noChangeArrowheads="1"/>
          </p:cNvSpPr>
          <p:nvPr/>
        </p:nvSpPr>
        <p:spPr bwMode="auto">
          <a:xfrm flipH="1">
            <a:off x="533400" y="5410200"/>
            <a:ext cx="514350" cy="1219200"/>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vert="eaVert"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コスト志向型価格設定</a:t>
            </a:r>
          </a:p>
        </p:txBody>
      </p:sp>
      <p:sp>
        <p:nvSpPr>
          <p:cNvPr id="1965068" name="AutoShape 12">
            <a:extLst>
              <a:ext uri="{FF2B5EF4-FFF2-40B4-BE49-F238E27FC236}">
                <a16:creationId xmlns:a16="http://schemas.microsoft.com/office/drawing/2014/main" id="{6C1F677F-4CE5-AE58-842D-8616F67CA1FE}"/>
              </a:ext>
            </a:extLst>
          </p:cNvPr>
          <p:cNvSpPr>
            <a:spLocks noChangeArrowheads="1"/>
          </p:cNvSpPr>
          <p:nvPr/>
        </p:nvSpPr>
        <p:spPr bwMode="auto">
          <a:xfrm flipH="1">
            <a:off x="533400" y="6781800"/>
            <a:ext cx="514350" cy="1295400"/>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vert="eaVert"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需要志向型価格設定</a:t>
            </a:r>
          </a:p>
        </p:txBody>
      </p:sp>
      <p:sp>
        <p:nvSpPr>
          <p:cNvPr id="1965069" name="AutoShape 13">
            <a:extLst>
              <a:ext uri="{FF2B5EF4-FFF2-40B4-BE49-F238E27FC236}">
                <a16:creationId xmlns:a16="http://schemas.microsoft.com/office/drawing/2014/main" id="{A33E820F-081E-BFEF-6569-F2C77F643FB8}"/>
              </a:ext>
            </a:extLst>
          </p:cNvPr>
          <p:cNvSpPr>
            <a:spLocks noChangeArrowheads="1"/>
          </p:cNvSpPr>
          <p:nvPr/>
        </p:nvSpPr>
        <p:spPr bwMode="auto">
          <a:xfrm flipH="1">
            <a:off x="533400" y="8255000"/>
            <a:ext cx="514350" cy="1041400"/>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vert="eaVert"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競争志向型</a:t>
            </a:r>
          </a:p>
          <a:p>
            <a:pPr algn="ctr"/>
            <a:r>
              <a:rPr lang="ja-JP" altLang="en-US" sz="900">
                <a:latin typeface="ＭＳ Ｐゴシック" panose="020B0600070205080204" pitchFamily="50" charset="-128"/>
              </a:rPr>
              <a:t>価格設定</a:t>
            </a:r>
          </a:p>
        </p:txBody>
      </p:sp>
      <p:sp>
        <p:nvSpPr>
          <p:cNvPr id="1965070" name="Rectangle 14">
            <a:extLst>
              <a:ext uri="{FF2B5EF4-FFF2-40B4-BE49-F238E27FC236}">
                <a16:creationId xmlns:a16="http://schemas.microsoft.com/office/drawing/2014/main" id="{C8B3340B-7E8E-FA11-C420-BDF191A4EB0A}"/>
              </a:ext>
            </a:extLst>
          </p:cNvPr>
          <p:cNvSpPr>
            <a:spLocks noChangeArrowheads="1"/>
          </p:cNvSpPr>
          <p:nvPr/>
        </p:nvSpPr>
        <p:spPr bwMode="auto">
          <a:xfrm flipH="1">
            <a:off x="1828800" y="5410200"/>
            <a:ext cx="4495800" cy="608013"/>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144000" tIns="10800" rIns="0" bIns="10800" anchor="ctr"/>
          <a:lstStyle>
            <a:lvl1pPr marL="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製品にかかった費用に、目標とする利益を加えた価格設定。</a:t>
            </a:r>
          </a:p>
          <a:p>
            <a:pPr>
              <a:buFont typeface="Wingdings" panose="05000000000000000000" pitchFamily="2" charset="2"/>
              <a:buNone/>
            </a:pPr>
            <a:r>
              <a:rPr lang="ja-JP" altLang="en-US" sz="900">
                <a:latin typeface="ＭＳ Ｐゴシック" panose="020B0600070205080204" pitchFamily="50" charset="-128"/>
              </a:rPr>
              <a:t>最も単純な方法である一方で、売り手側にコストダウンの意識が働きにくい問題点がある。</a:t>
            </a:r>
          </a:p>
        </p:txBody>
      </p:sp>
      <p:sp>
        <p:nvSpPr>
          <p:cNvPr id="1965071" name="AutoShape 15">
            <a:extLst>
              <a:ext uri="{FF2B5EF4-FFF2-40B4-BE49-F238E27FC236}">
                <a16:creationId xmlns:a16="http://schemas.microsoft.com/office/drawing/2014/main" id="{7427FC5D-3028-2B12-9CAA-591E91EDAEDE}"/>
              </a:ext>
            </a:extLst>
          </p:cNvPr>
          <p:cNvSpPr>
            <a:spLocks noChangeArrowheads="1"/>
          </p:cNvSpPr>
          <p:nvPr/>
        </p:nvSpPr>
        <p:spPr bwMode="auto">
          <a:xfrm flipH="1">
            <a:off x="1143000" y="5410200"/>
            <a:ext cx="611188" cy="609600"/>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コスト</a:t>
            </a:r>
          </a:p>
          <a:p>
            <a:pPr algn="ctr"/>
            <a:r>
              <a:rPr lang="ja-JP" altLang="en-US" sz="900">
                <a:latin typeface="ＭＳ Ｐゴシック" panose="020B0600070205080204" pitchFamily="50" charset="-128"/>
              </a:rPr>
              <a:t>プラス</a:t>
            </a:r>
          </a:p>
          <a:p>
            <a:pPr algn="ctr"/>
            <a:r>
              <a:rPr lang="ja-JP" altLang="en-US" sz="900">
                <a:latin typeface="ＭＳ Ｐゴシック" panose="020B0600070205080204" pitchFamily="50" charset="-128"/>
              </a:rPr>
              <a:t>価格設定</a:t>
            </a:r>
          </a:p>
        </p:txBody>
      </p:sp>
      <p:sp>
        <p:nvSpPr>
          <p:cNvPr id="1965072" name="AutoShape 16">
            <a:extLst>
              <a:ext uri="{FF2B5EF4-FFF2-40B4-BE49-F238E27FC236}">
                <a16:creationId xmlns:a16="http://schemas.microsoft.com/office/drawing/2014/main" id="{55CCC033-7A7B-134A-3F8E-1B71E09195E9}"/>
              </a:ext>
            </a:extLst>
          </p:cNvPr>
          <p:cNvSpPr>
            <a:spLocks noChangeArrowheads="1"/>
          </p:cNvSpPr>
          <p:nvPr/>
        </p:nvSpPr>
        <p:spPr bwMode="auto">
          <a:xfrm flipH="1">
            <a:off x="1143000" y="6096000"/>
            <a:ext cx="611188" cy="533400"/>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目標</a:t>
            </a:r>
          </a:p>
          <a:p>
            <a:pPr algn="ctr"/>
            <a:r>
              <a:rPr lang="ja-JP" altLang="en-US" sz="900">
                <a:latin typeface="ＭＳ Ｐゴシック" panose="020B0600070205080204" pitchFamily="50" charset="-128"/>
              </a:rPr>
              <a:t>価格設定</a:t>
            </a:r>
          </a:p>
        </p:txBody>
      </p:sp>
      <p:sp>
        <p:nvSpPr>
          <p:cNvPr id="1965073" name="Rectangle 17">
            <a:extLst>
              <a:ext uri="{FF2B5EF4-FFF2-40B4-BE49-F238E27FC236}">
                <a16:creationId xmlns:a16="http://schemas.microsoft.com/office/drawing/2014/main" id="{5646467B-8A6D-D7B7-E069-38D520801DD3}"/>
              </a:ext>
            </a:extLst>
          </p:cNvPr>
          <p:cNvSpPr>
            <a:spLocks noChangeArrowheads="1"/>
          </p:cNvSpPr>
          <p:nvPr/>
        </p:nvSpPr>
        <p:spPr bwMode="auto">
          <a:xfrm flipH="1">
            <a:off x="1828800" y="6097588"/>
            <a:ext cx="4495800" cy="531812"/>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144000" tIns="10800" rIns="0" bIns="10800" anchor="ctr"/>
          <a:lstStyle>
            <a:lvl1pPr marL="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想定される事業規模をもとに損益分岐点を計算し、一定の利益が確保できるような価格設定。設備稼働率が問題となる業界で多く採用されている。</a:t>
            </a:r>
          </a:p>
        </p:txBody>
      </p:sp>
      <p:sp>
        <p:nvSpPr>
          <p:cNvPr id="1965074" name="Rectangle 18">
            <a:extLst>
              <a:ext uri="{FF2B5EF4-FFF2-40B4-BE49-F238E27FC236}">
                <a16:creationId xmlns:a16="http://schemas.microsoft.com/office/drawing/2014/main" id="{7C5CD1C9-1FFE-10B9-5154-392794FA90F9}"/>
              </a:ext>
            </a:extLst>
          </p:cNvPr>
          <p:cNvSpPr>
            <a:spLocks noChangeArrowheads="1"/>
          </p:cNvSpPr>
          <p:nvPr/>
        </p:nvSpPr>
        <p:spPr bwMode="auto">
          <a:xfrm flipH="1">
            <a:off x="1830388" y="6781800"/>
            <a:ext cx="4494212" cy="722313"/>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144000" tIns="10800" rIns="0" bIns="10800" anchor="ctr"/>
          <a:lstStyle>
            <a:lvl1pPr marL="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顧客の価格への認識を重視した価格設定。</a:t>
            </a:r>
            <a:r>
              <a:rPr lang="en-US" altLang="ja-JP" sz="900">
                <a:latin typeface="ＭＳ Ｐゴシック" panose="020B0600070205080204" pitchFamily="50" charset="-128"/>
              </a:rPr>
              <a:t>PSM</a:t>
            </a:r>
            <a:r>
              <a:rPr lang="ja-JP" altLang="en-US" sz="900">
                <a:latin typeface="ＭＳ Ｐゴシック" panose="020B0600070205080204" pitchFamily="50" charset="-128"/>
              </a:rPr>
              <a:t>分析</a:t>
            </a:r>
            <a:r>
              <a:rPr lang="en-US" altLang="ja-JP" sz="900" baseline="30000">
                <a:latin typeface="ＭＳ Ｐゴシック" panose="020B0600070205080204" pitchFamily="50" charset="-128"/>
              </a:rPr>
              <a:t>※</a:t>
            </a:r>
            <a:r>
              <a:rPr lang="en-US" altLang="ja-JP" sz="900">
                <a:latin typeface="ＭＳ Ｐゴシック" panose="020B0600070205080204" pitchFamily="50" charset="-128"/>
              </a:rPr>
              <a:t> </a:t>
            </a:r>
            <a:r>
              <a:rPr lang="ja-JP" altLang="en-US" sz="900">
                <a:latin typeface="ＭＳ Ｐゴシック" panose="020B0600070205080204" pitchFamily="50" charset="-128"/>
              </a:rPr>
              <a:t>（プライス・センシティビティ分析）などにより、</a:t>
            </a:r>
            <a:r>
              <a:rPr lang="en-US" altLang="ja-JP" sz="900">
                <a:latin typeface="ＭＳ Ｐゴシック" panose="020B0600070205080204" pitchFamily="50" charset="-128"/>
              </a:rPr>
              <a:t>『</a:t>
            </a:r>
            <a:r>
              <a:rPr lang="ja-JP" altLang="en-US" sz="900">
                <a:latin typeface="ＭＳ Ｐゴシック" panose="020B0600070205080204" pitchFamily="50" charset="-128"/>
              </a:rPr>
              <a:t>売れる価格帯</a:t>
            </a:r>
            <a:r>
              <a:rPr lang="en-US" altLang="ja-JP" sz="900">
                <a:latin typeface="ＭＳ Ｐゴシック" panose="020B0600070205080204" pitchFamily="50" charset="-128"/>
              </a:rPr>
              <a:t>』</a:t>
            </a:r>
            <a:r>
              <a:rPr lang="ja-JP" altLang="en-US" sz="900">
                <a:latin typeface="ＭＳ Ｐゴシック" panose="020B0600070205080204" pitchFamily="50" charset="-128"/>
              </a:rPr>
              <a:t>を発見して価格を設定する。</a:t>
            </a:r>
          </a:p>
          <a:p>
            <a:pPr>
              <a:spcBef>
                <a:spcPct val="20000"/>
              </a:spcBef>
              <a:buFont typeface="Wingdings" panose="05000000000000000000" pitchFamily="2" charset="2"/>
              <a:buNone/>
            </a:pPr>
            <a:r>
              <a:rPr lang="en-US" altLang="ja-JP" sz="800">
                <a:latin typeface="ＭＳ Ｐゴシック" panose="020B0600070205080204" pitchFamily="50" charset="-128"/>
              </a:rPr>
              <a:t>※</a:t>
            </a:r>
            <a:r>
              <a:rPr lang="ja-JP" altLang="en-US" sz="800">
                <a:latin typeface="ＭＳ Ｐゴシック" panose="020B0600070205080204" pitchFamily="50" charset="-128"/>
              </a:rPr>
              <a:t>顧客の製品に対する認識を分析したもの。高い、安いと感じ始める価格／高すぎて買えないと　　　感じる価格／安すぎて問題があると感じる価格を調査し分析するもの。</a:t>
            </a:r>
          </a:p>
        </p:txBody>
      </p:sp>
      <p:sp>
        <p:nvSpPr>
          <p:cNvPr id="1965075" name="AutoShape 19">
            <a:extLst>
              <a:ext uri="{FF2B5EF4-FFF2-40B4-BE49-F238E27FC236}">
                <a16:creationId xmlns:a16="http://schemas.microsoft.com/office/drawing/2014/main" id="{06881537-6E29-962C-FDEB-A09681AEB6CF}"/>
              </a:ext>
            </a:extLst>
          </p:cNvPr>
          <p:cNvSpPr>
            <a:spLocks noChangeArrowheads="1"/>
          </p:cNvSpPr>
          <p:nvPr/>
        </p:nvSpPr>
        <p:spPr bwMode="auto">
          <a:xfrm flipH="1">
            <a:off x="1143000" y="6781800"/>
            <a:ext cx="612775" cy="723900"/>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知覚価値</a:t>
            </a:r>
          </a:p>
          <a:p>
            <a:pPr algn="ctr"/>
            <a:r>
              <a:rPr lang="ja-JP" altLang="en-US" sz="900">
                <a:latin typeface="ＭＳ Ｐゴシック" panose="020B0600070205080204" pitchFamily="50" charset="-128"/>
              </a:rPr>
              <a:t>価格設定</a:t>
            </a:r>
          </a:p>
        </p:txBody>
      </p:sp>
      <p:sp>
        <p:nvSpPr>
          <p:cNvPr id="1965076" name="AutoShape 20">
            <a:extLst>
              <a:ext uri="{FF2B5EF4-FFF2-40B4-BE49-F238E27FC236}">
                <a16:creationId xmlns:a16="http://schemas.microsoft.com/office/drawing/2014/main" id="{295341C6-B42F-4C39-BA92-C3A236FDB2B5}"/>
              </a:ext>
            </a:extLst>
          </p:cNvPr>
          <p:cNvSpPr>
            <a:spLocks noChangeArrowheads="1"/>
          </p:cNvSpPr>
          <p:nvPr/>
        </p:nvSpPr>
        <p:spPr bwMode="auto">
          <a:xfrm flipH="1">
            <a:off x="1143000" y="7583488"/>
            <a:ext cx="612775" cy="493712"/>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需要</a:t>
            </a:r>
          </a:p>
          <a:p>
            <a:pPr algn="ctr"/>
            <a:r>
              <a:rPr lang="ja-JP" altLang="en-US" sz="900">
                <a:latin typeface="ＭＳ Ｐゴシック" panose="020B0600070205080204" pitchFamily="50" charset="-128"/>
              </a:rPr>
              <a:t>価格設定</a:t>
            </a:r>
          </a:p>
        </p:txBody>
      </p:sp>
      <p:sp>
        <p:nvSpPr>
          <p:cNvPr id="1965077" name="Rectangle 21">
            <a:extLst>
              <a:ext uri="{FF2B5EF4-FFF2-40B4-BE49-F238E27FC236}">
                <a16:creationId xmlns:a16="http://schemas.microsoft.com/office/drawing/2014/main" id="{4C145F57-579C-A548-A01F-8332139AC38E}"/>
              </a:ext>
            </a:extLst>
          </p:cNvPr>
          <p:cNvSpPr>
            <a:spLocks noChangeArrowheads="1"/>
          </p:cNvSpPr>
          <p:nvPr/>
        </p:nvSpPr>
        <p:spPr bwMode="auto">
          <a:xfrm flipH="1">
            <a:off x="1830388" y="7585075"/>
            <a:ext cx="4494212" cy="4921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144000" tIns="10800" rIns="0" bIns="10800" anchor="ctr"/>
          <a:lstStyle>
            <a:lvl1pPr marL="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市場セグメントごとに価格を変化させる方法。</a:t>
            </a:r>
          </a:p>
          <a:p>
            <a:pPr>
              <a:buFont typeface="Wingdings" panose="05000000000000000000" pitchFamily="2" charset="2"/>
              <a:buNone/>
            </a:pPr>
            <a:r>
              <a:rPr lang="ja-JP" altLang="en-US" sz="900">
                <a:latin typeface="ＭＳ Ｐゴシック" panose="020B0600070205080204" pitchFamily="50" charset="-128"/>
              </a:rPr>
              <a:t>顧客層（学割、シルバー割引等）／時間帯（早朝、深夜料金等）／曜日（平日割引等）等。</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82" name="AutoShape 2">
            <a:extLst>
              <a:ext uri="{FF2B5EF4-FFF2-40B4-BE49-F238E27FC236}">
                <a16:creationId xmlns:a16="http://schemas.microsoft.com/office/drawing/2014/main" id="{A8D725BF-F491-2A8C-980A-042ACC1E00F8}"/>
              </a:ext>
            </a:extLst>
          </p:cNvPr>
          <p:cNvSpPr>
            <a:spLocks noChangeArrowheads="1"/>
          </p:cNvSpPr>
          <p:nvPr/>
        </p:nvSpPr>
        <p:spPr bwMode="auto">
          <a:xfrm>
            <a:off x="3124200" y="7467600"/>
            <a:ext cx="3048000" cy="1371600"/>
          </a:xfrm>
          <a:prstGeom prst="roundRect">
            <a:avLst>
              <a:gd name="adj" fmla="val 16667"/>
            </a:avLst>
          </a:prstGeom>
          <a:noFill/>
          <a:ln w="12700">
            <a:solidFill>
              <a:schemeClr val="fo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6083" name="AutoShape 3">
            <a:extLst>
              <a:ext uri="{FF2B5EF4-FFF2-40B4-BE49-F238E27FC236}">
                <a16:creationId xmlns:a16="http://schemas.microsoft.com/office/drawing/2014/main" id="{105F1EC0-ED6A-18A5-5D0D-10A86E19A0E2}"/>
              </a:ext>
            </a:extLst>
          </p:cNvPr>
          <p:cNvSpPr>
            <a:spLocks noChangeArrowheads="1"/>
          </p:cNvSpPr>
          <p:nvPr/>
        </p:nvSpPr>
        <p:spPr bwMode="auto">
          <a:xfrm>
            <a:off x="3124200" y="5410200"/>
            <a:ext cx="3048000" cy="1905000"/>
          </a:xfrm>
          <a:prstGeom prst="roundRect">
            <a:avLst>
              <a:gd name="adj" fmla="val 16667"/>
            </a:avLst>
          </a:prstGeom>
          <a:noFill/>
          <a:ln w="12700">
            <a:solidFill>
              <a:schemeClr val="fo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6084" name="Rectangle 4">
            <a:extLst>
              <a:ext uri="{FF2B5EF4-FFF2-40B4-BE49-F238E27FC236}">
                <a16:creationId xmlns:a16="http://schemas.microsoft.com/office/drawing/2014/main" id="{553CBD04-9CD7-AC8A-8E28-C1FC77012A1A}"/>
              </a:ext>
            </a:extLst>
          </p:cNvPr>
          <p:cNvSpPr>
            <a:spLocks noChangeArrowheads="1"/>
          </p:cNvSpPr>
          <p:nvPr/>
        </p:nvSpPr>
        <p:spPr bwMode="auto">
          <a:xfrm>
            <a:off x="914400" y="1600200"/>
            <a:ext cx="5410200" cy="3276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流通戦略はチャネル戦略とも言われ、製品・サービスが提供する側から受け手まで流れる仕組み、つまり流通経路（流通チャネル）を自社にとって最適な形に構築する戦略です。ここでは、ターゲット顧客に対する製品・サービスの提供ルートの選択肢として、流通チャネルのタイプを紹介します。（図表</a:t>
            </a:r>
            <a:r>
              <a:rPr lang="en-US" altLang="ja-JP" sz="1000">
                <a:latin typeface="ＭＳ Ｐ明朝" panose="02020600040205080304" pitchFamily="18" charset="-128"/>
                <a:ea typeface="ＭＳ Ｐ明朝" panose="02020600040205080304" pitchFamily="18" charset="-128"/>
              </a:rPr>
              <a:t>3-1-10</a:t>
            </a:r>
            <a:r>
              <a:rPr lang="ja-JP" altLang="en-US" sz="1000">
                <a:latin typeface="ＭＳ Ｐ明朝" panose="02020600040205080304" pitchFamily="18" charset="-128"/>
                <a:ea typeface="ＭＳ Ｐ明朝" panose="02020600040205080304" pitchFamily="18" charset="-128"/>
              </a:rPr>
              <a:t>参照）</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「直接型」は企業自らが直販を行うので、流通コストの削減と顧客接点の強化を図ることができます。この場合は、あらゆる種類の商品について対応可能となります。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「間接型」では卸や小売業者を通して販売を行います。「間接型」はさらに「開放型」と「閉鎖型：選択型」、「閉鎖型：排他型」に分類されます。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開放型」では流通業者は制限されずに様々な小売で販売されるため、商品の露出度を高め市場拡大を図ることができます。扱う商品として、最寄品（食料品や日用品といった消費財で幅広く大量に販売する商品の場合）が適しています。「閉鎖型」のうち「閉鎖型：選択型」では、流通業者をある程度絞り込んで売上の安定化を図ります。扱う商品としては、衣料品・家電製品といった買回り品が適しています。選択型からさらに絞り込んだ「閉鎖型：排他型」は販売業者の範囲を制限することで、製品イメージを高めます。扱う商品としてブランド商品等が挙げられます。</a:t>
            </a:r>
          </a:p>
        </p:txBody>
      </p:sp>
      <p:sp>
        <p:nvSpPr>
          <p:cNvPr id="1966085" name="Rectangle 5">
            <a:extLst>
              <a:ext uri="{FF2B5EF4-FFF2-40B4-BE49-F238E27FC236}">
                <a16:creationId xmlns:a16="http://schemas.microsoft.com/office/drawing/2014/main" id="{D44B9C8F-5012-28B5-2FA4-A055E9A80CB3}"/>
              </a:ext>
            </a:extLst>
          </p:cNvPr>
          <p:cNvSpPr>
            <a:spLocks noChangeArrowheads="1"/>
          </p:cNvSpPr>
          <p:nvPr/>
        </p:nvSpPr>
        <p:spPr bwMode="auto">
          <a:xfrm>
            <a:off x="533400" y="12192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en-US" altLang="ja-JP" sz="1200">
                <a:latin typeface="Century" panose="02040604050505020304" pitchFamily="18" charset="0"/>
              </a:rPr>
              <a:t>4P </a:t>
            </a:r>
            <a:r>
              <a:rPr lang="ja-JP" altLang="en-US" sz="1200">
                <a:latin typeface="Century" panose="02040604050505020304" pitchFamily="18" charset="0"/>
              </a:rPr>
              <a:t>（マーケティング・ミックス）の設定　③</a:t>
            </a:r>
            <a:r>
              <a:rPr lang="en-US" altLang="ja-JP" sz="1200">
                <a:latin typeface="Century" panose="02040604050505020304" pitchFamily="18" charset="0"/>
              </a:rPr>
              <a:t>Place</a:t>
            </a:r>
            <a:r>
              <a:rPr lang="ja-JP" altLang="en-US" sz="1200">
                <a:latin typeface="Century" panose="02040604050505020304" pitchFamily="18" charset="0"/>
              </a:rPr>
              <a:t>流通（チャネル）戦略</a:t>
            </a:r>
          </a:p>
        </p:txBody>
      </p:sp>
      <p:sp>
        <p:nvSpPr>
          <p:cNvPr id="1966086" name="Line 6">
            <a:extLst>
              <a:ext uri="{FF2B5EF4-FFF2-40B4-BE49-F238E27FC236}">
                <a16:creationId xmlns:a16="http://schemas.microsoft.com/office/drawing/2014/main" id="{D59FED45-9B5E-1E07-9A1E-24CE16DD850D}"/>
              </a:ext>
            </a:extLst>
          </p:cNvPr>
          <p:cNvSpPr>
            <a:spLocks noChangeShapeType="1"/>
          </p:cNvSpPr>
          <p:nvPr/>
        </p:nvSpPr>
        <p:spPr bwMode="auto">
          <a:xfrm>
            <a:off x="533400" y="15240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6087" name="Rectangle 7">
            <a:extLst>
              <a:ext uri="{FF2B5EF4-FFF2-40B4-BE49-F238E27FC236}">
                <a16:creationId xmlns:a16="http://schemas.microsoft.com/office/drawing/2014/main" id="{E6570560-EC4D-6E32-64C8-E277FF8AA585}"/>
              </a:ext>
            </a:extLst>
          </p:cNvPr>
          <p:cNvSpPr>
            <a:spLocks noChangeArrowheads="1"/>
          </p:cNvSpPr>
          <p:nvPr/>
        </p:nvSpPr>
        <p:spPr bwMode="auto">
          <a:xfrm>
            <a:off x="533400" y="51054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3-1-10</a:t>
            </a:r>
          </a:p>
        </p:txBody>
      </p:sp>
      <p:sp>
        <p:nvSpPr>
          <p:cNvPr id="1966088" name="Rectangle 8">
            <a:extLst>
              <a:ext uri="{FF2B5EF4-FFF2-40B4-BE49-F238E27FC236}">
                <a16:creationId xmlns:a16="http://schemas.microsoft.com/office/drawing/2014/main" id="{F2B8529E-7FB0-6E25-CE5C-94F9554FB6EE}"/>
              </a:ext>
            </a:extLst>
          </p:cNvPr>
          <p:cNvSpPr>
            <a:spLocks noChangeArrowheads="1"/>
          </p:cNvSpPr>
          <p:nvPr/>
        </p:nvSpPr>
        <p:spPr bwMode="auto">
          <a:xfrm>
            <a:off x="1482725" y="51054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流通チャネルの種類</a:t>
            </a:r>
          </a:p>
        </p:txBody>
      </p:sp>
      <p:sp>
        <p:nvSpPr>
          <p:cNvPr id="1966089" name="AutoShape 9">
            <a:extLst>
              <a:ext uri="{FF2B5EF4-FFF2-40B4-BE49-F238E27FC236}">
                <a16:creationId xmlns:a16="http://schemas.microsoft.com/office/drawing/2014/main" id="{B5451CF4-92A9-FC4A-55EE-6071197CC50C}"/>
              </a:ext>
            </a:extLst>
          </p:cNvPr>
          <p:cNvSpPr>
            <a:spLocks noChangeAspect="1" noChangeArrowheads="1"/>
          </p:cNvSpPr>
          <p:nvPr/>
        </p:nvSpPr>
        <p:spPr bwMode="auto">
          <a:xfrm flipH="1">
            <a:off x="533400" y="5335588"/>
            <a:ext cx="581025" cy="647700"/>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直接型</a:t>
            </a:r>
          </a:p>
        </p:txBody>
      </p:sp>
      <p:sp>
        <p:nvSpPr>
          <p:cNvPr id="1966090" name="Rectangle 10">
            <a:extLst>
              <a:ext uri="{FF2B5EF4-FFF2-40B4-BE49-F238E27FC236}">
                <a16:creationId xmlns:a16="http://schemas.microsoft.com/office/drawing/2014/main" id="{18B69986-928B-DBE8-BDD2-4990DD40B562}"/>
              </a:ext>
            </a:extLst>
          </p:cNvPr>
          <p:cNvSpPr>
            <a:spLocks noChangeAspect="1" noChangeArrowheads="1"/>
          </p:cNvSpPr>
          <p:nvPr/>
        </p:nvSpPr>
        <p:spPr bwMode="auto">
          <a:xfrm flipH="1">
            <a:off x="1220788" y="5334000"/>
            <a:ext cx="1612900" cy="65087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lstStyle>
            <a:lvl1pPr marL="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1000">
                <a:latin typeface="ＭＳ Ｐゴシック" panose="020B0600070205080204" pitchFamily="50" charset="-128"/>
              </a:rPr>
              <a:t>訪問販売</a:t>
            </a:r>
          </a:p>
          <a:p>
            <a:pPr>
              <a:buFont typeface="Wingdings" panose="05000000000000000000" pitchFamily="2" charset="2"/>
              <a:buNone/>
            </a:pPr>
            <a:r>
              <a:rPr lang="ja-JP" altLang="en-US" sz="1000">
                <a:latin typeface="ＭＳ Ｐゴシック" panose="020B0600070205080204" pitchFamily="50" charset="-128"/>
              </a:rPr>
              <a:t>インターネット販売</a:t>
            </a:r>
          </a:p>
          <a:p>
            <a:pPr>
              <a:buFont typeface="Wingdings" panose="05000000000000000000" pitchFamily="2" charset="2"/>
              <a:buNone/>
            </a:pPr>
            <a:r>
              <a:rPr lang="ja-JP" altLang="en-US" sz="1000">
                <a:latin typeface="ＭＳ Ｐゴシック" panose="020B0600070205080204" pitchFamily="50" charset="-128"/>
              </a:rPr>
              <a:t>カタログ通販　等　</a:t>
            </a:r>
          </a:p>
        </p:txBody>
      </p:sp>
      <p:sp>
        <p:nvSpPr>
          <p:cNvPr id="1966091" name="AutoShape 11">
            <a:extLst>
              <a:ext uri="{FF2B5EF4-FFF2-40B4-BE49-F238E27FC236}">
                <a16:creationId xmlns:a16="http://schemas.microsoft.com/office/drawing/2014/main" id="{87A1E518-5D4F-FB45-C846-87EF39BBF2C7}"/>
              </a:ext>
            </a:extLst>
          </p:cNvPr>
          <p:cNvSpPr>
            <a:spLocks noChangeAspect="1" noChangeArrowheads="1"/>
          </p:cNvSpPr>
          <p:nvPr/>
        </p:nvSpPr>
        <p:spPr bwMode="auto">
          <a:xfrm flipH="1">
            <a:off x="533400" y="6096000"/>
            <a:ext cx="290513" cy="2146300"/>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vert="eaVert"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en-US" altLang="ja-JP" sz="1000" baseline="30000">
                <a:latin typeface="ＭＳ Ｐゴシック" panose="020B0600070205080204" pitchFamily="50" charset="-128"/>
              </a:rPr>
              <a:t>※</a:t>
            </a:r>
            <a:r>
              <a:rPr lang="ja-JP" altLang="en-US" sz="1000">
                <a:latin typeface="ＭＳ Ｐゴシック" panose="020B0600070205080204" pitchFamily="50" charset="-128"/>
              </a:rPr>
              <a:t>間接型</a:t>
            </a:r>
          </a:p>
        </p:txBody>
      </p:sp>
      <p:sp>
        <p:nvSpPr>
          <p:cNvPr id="1966092" name="AutoShape 12">
            <a:extLst>
              <a:ext uri="{FF2B5EF4-FFF2-40B4-BE49-F238E27FC236}">
                <a16:creationId xmlns:a16="http://schemas.microsoft.com/office/drawing/2014/main" id="{61781618-800B-2C04-02E3-DBCE49456848}"/>
              </a:ext>
            </a:extLst>
          </p:cNvPr>
          <p:cNvSpPr>
            <a:spLocks noChangeAspect="1" noChangeArrowheads="1"/>
          </p:cNvSpPr>
          <p:nvPr/>
        </p:nvSpPr>
        <p:spPr bwMode="auto">
          <a:xfrm flipH="1">
            <a:off x="882650" y="6096000"/>
            <a:ext cx="231775" cy="649288"/>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vert="eaVert"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開放型</a:t>
            </a:r>
          </a:p>
        </p:txBody>
      </p:sp>
      <p:sp>
        <p:nvSpPr>
          <p:cNvPr id="1966093" name="Rectangle 13">
            <a:extLst>
              <a:ext uri="{FF2B5EF4-FFF2-40B4-BE49-F238E27FC236}">
                <a16:creationId xmlns:a16="http://schemas.microsoft.com/office/drawing/2014/main" id="{29B95844-1C80-EDAC-BE76-50AA59FD65CC}"/>
              </a:ext>
            </a:extLst>
          </p:cNvPr>
          <p:cNvSpPr>
            <a:spLocks noChangeAspect="1" noChangeArrowheads="1"/>
          </p:cNvSpPr>
          <p:nvPr/>
        </p:nvSpPr>
        <p:spPr bwMode="auto">
          <a:xfrm flipH="1">
            <a:off x="1220788" y="6096000"/>
            <a:ext cx="1612900" cy="649288"/>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lstStyle>
            <a:lvl1pPr marL="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1000">
                <a:latin typeface="ＭＳ Ｐゴシック" panose="020B0600070205080204" pitchFamily="50" charset="-128"/>
              </a:rPr>
              <a:t>流通業者を制限しない</a:t>
            </a:r>
          </a:p>
        </p:txBody>
      </p:sp>
      <p:sp>
        <p:nvSpPr>
          <p:cNvPr id="1966094" name="AutoShape 14">
            <a:extLst>
              <a:ext uri="{FF2B5EF4-FFF2-40B4-BE49-F238E27FC236}">
                <a16:creationId xmlns:a16="http://schemas.microsoft.com/office/drawing/2014/main" id="{319874FA-7157-F0FA-3651-B8423D666DC5}"/>
              </a:ext>
            </a:extLst>
          </p:cNvPr>
          <p:cNvSpPr>
            <a:spLocks noChangeAspect="1" noChangeArrowheads="1"/>
          </p:cNvSpPr>
          <p:nvPr/>
        </p:nvSpPr>
        <p:spPr bwMode="auto">
          <a:xfrm flipH="1">
            <a:off x="882650" y="6838950"/>
            <a:ext cx="231775" cy="1403350"/>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vert="eaVert"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1000">
                <a:latin typeface="ＭＳ Ｐゴシック" panose="020B0600070205080204" pitchFamily="50" charset="-128"/>
              </a:rPr>
              <a:t>閉鎖型</a:t>
            </a:r>
          </a:p>
        </p:txBody>
      </p:sp>
      <p:sp>
        <p:nvSpPr>
          <p:cNvPr id="1966095" name="Rectangle 15">
            <a:extLst>
              <a:ext uri="{FF2B5EF4-FFF2-40B4-BE49-F238E27FC236}">
                <a16:creationId xmlns:a16="http://schemas.microsoft.com/office/drawing/2014/main" id="{93900D65-C796-6707-14BF-47369F19533D}"/>
              </a:ext>
            </a:extLst>
          </p:cNvPr>
          <p:cNvSpPr>
            <a:spLocks noChangeAspect="1" noChangeArrowheads="1"/>
          </p:cNvSpPr>
          <p:nvPr/>
        </p:nvSpPr>
        <p:spPr bwMode="auto">
          <a:xfrm flipH="1">
            <a:off x="1220788" y="7593013"/>
            <a:ext cx="1612900" cy="649287"/>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lstStyle>
            <a:lvl1pPr marL="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endParaRPr lang="en-US" altLang="ja-JP" sz="1000">
              <a:latin typeface="ＭＳ Ｐゴシック" panose="020B0600070205080204" pitchFamily="50" charset="-128"/>
            </a:endParaRPr>
          </a:p>
          <a:p>
            <a:pPr>
              <a:buFont typeface="Wingdings" panose="05000000000000000000" pitchFamily="2" charset="2"/>
              <a:buNone/>
            </a:pPr>
            <a:r>
              <a:rPr lang="ja-JP" altLang="en-US" sz="1000">
                <a:latin typeface="ＭＳ Ｐゴシック" panose="020B0600070205080204" pitchFamily="50" charset="-128"/>
              </a:rPr>
              <a:t>流通業者を制限し、コントロールする</a:t>
            </a:r>
          </a:p>
        </p:txBody>
      </p:sp>
      <p:sp>
        <p:nvSpPr>
          <p:cNvPr id="1966096" name="Text Box 16">
            <a:extLst>
              <a:ext uri="{FF2B5EF4-FFF2-40B4-BE49-F238E27FC236}">
                <a16:creationId xmlns:a16="http://schemas.microsoft.com/office/drawing/2014/main" id="{2E307793-C8D7-DD57-FBB7-CE896AB065C1}"/>
              </a:ext>
            </a:extLst>
          </p:cNvPr>
          <p:cNvSpPr txBox="1">
            <a:spLocks noChangeAspect="1" noChangeArrowheads="1"/>
          </p:cNvSpPr>
          <p:nvPr/>
        </p:nvSpPr>
        <p:spPr bwMode="auto">
          <a:xfrm>
            <a:off x="1195388" y="7585075"/>
            <a:ext cx="1395412"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50000"/>
              </a:spcBef>
            </a:pPr>
            <a:r>
              <a:rPr lang="ja-JP" altLang="en-US" sz="1000" b="1" u="sng">
                <a:latin typeface="ＭＳ Ｐゴシック" panose="020B0600070205080204" pitchFamily="50" charset="-128"/>
              </a:rPr>
              <a:t>排他型</a:t>
            </a:r>
          </a:p>
        </p:txBody>
      </p:sp>
      <p:sp>
        <p:nvSpPr>
          <p:cNvPr id="1966097" name="Rectangle 17">
            <a:extLst>
              <a:ext uri="{FF2B5EF4-FFF2-40B4-BE49-F238E27FC236}">
                <a16:creationId xmlns:a16="http://schemas.microsoft.com/office/drawing/2014/main" id="{D5D4A74B-2D17-856B-666B-8F87CA4D8F3F}"/>
              </a:ext>
            </a:extLst>
          </p:cNvPr>
          <p:cNvSpPr>
            <a:spLocks noChangeAspect="1" noChangeArrowheads="1"/>
          </p:cNvSpPr>
          <p:nvPr/>
        </p:nvSpPr>
        <p:spPr bwMode="auto">
          <a:xfrm flipH="1">
            <a:off x="1231900" y="6838950"/>
            <a:ext cx="1612900" cy="649288"/>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lstStyle>
            <a:lvl1pPr marL="101600"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endParaRPr lang="en-US" altLang="ja-JP" sz="1000">
              <a:latin typeface="ＭＳ Ｐゴシック" panose="020B0600070205080204" pitchFamily="50" charset="-128"/>
            </a:endParaRPr>
          </a:p>
          <a:p>
            <a:pPr>
              <a:buFont typeface="Wingdings" panose="05000000000000000000" pitchFamily="2" charset="2"/>
              <a:buNone/>
            </a:pPr>
            <a:r>
              <a:rPr lang="ja-JP" altLang="en-US" sz="1000">
                <a:latin typeface="ＭＳ Ｐゴシック" panose="020B0600070205080204" pitchFamily="50" charset="-128"/>
              </a:rPr>
              <a:t>流通業者をある程度絞り込む</a:t>
            </a:r>
          </a:p>
        </p:txBody>
      </p:sp>
      <p:sp>
        <p:nvSpPr>
          <p:cNvPr id="1966098" name="Text Box 18">
            <a:extLst>
              <a:ext uri="{FF2B5EF4-FFF2-40B4-BE49-F238E27FC236}">
                <a16:creationId xmlns:a16="http://schemas.microsoft.com/office/drawing/2014/main" id="{4E97C316-EF5F-8C8A-C6A8-B0F104805B3A}"/>
              </a:ext>
            </a:extLst>
          </p:cNvPr>
          <p:cNvSpPr txBox="1">
            <a:spLocks noChangeAspect="1" noChangeArrowheads="1"/>
          </p:cNvSpPr>
          <p:nvPr/>
        </p:nvSpPr>
        <p:spPr bwMode="auto">
          <a:xfrm>
            <a:off x="1195388" y="6862763"/>
            <a:ext cx="1395412"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50000"/>
              </a:spcBef>
            </a:pPr>
            <a:r>
              <a:rPr lang="ja-JP" altLang="en-US" sz="1000" b="1" u="sng">
                <a:latin typeface="ＭＳ Ｐゴシック" panose="020B0600070205080204" pitchFamily="50" charset="-128"/>
              </a:rPr>
              <a:t>選択型</a:t>
            </a:r>
          </a:p>
        </p:txBody>
      </p:sp>
      <p:sp>
        <p:nvSpPr>
          <p:cNvPr id="1966099" name="Text Box 19">
            <a:extLst>
              <a:ext uri="{FF2B5EF4-FFF2-40B4-BE49-F238E27FC236}">
                <a16:creationId xmlns:a16="http://schemas.microsoft.com/office/drawing/2014/main" id="{D9BC22AE-E5C5-3BDA-A174-9428A29A9EBA}"/>
              </a:ext>
            </a:extLst>
          </p:cNvPr>
          <p:cNvSpPr txBox="1">
            <a:spLocks noChangeArrowheads="1"/>
          </p:cNvSpPr>
          <p:nvPr/>
        </p:nvSpPr>
        <p:spPr bwMode="auto">
          <a:xfrm>
            <a:off x="533400" y="8915400"/>
            <a:ext cx="5867400" cy="2143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46800" rIns="90000" bIns="46800">
            <a:spAutoFit/>
          </a:bodyPr>
          <a:lstStyle/>
          <a:p>
            <a:pPr algn="l">
              <a:spcBef>
                <a:spcPct val="50000"/>
              </a:spcBef>
              <a:buFont typeface="Wingdings" panose="05000000000000000000" pitchFamily="2" charset="2"/>
              <a:buNone/>
            </a:pPr>
            <a:r>
              <a:rPr lang="ja-JP" altLang="en-US" sz="800">
                <a:solidFill>
                  <a:srgbClr val="000000"/>
                </a:solidFill>
                <a:latin typeface="ＭＳ Ｐゴシック" panose="020B0600070205080204" pitchFamily="50" charset="-128"/>
              </a:rPr>
              <a:t>出典：重田修治著</a:t>
            </a:r>
            <a:r>
              <a:rPr lang="en-US" altLang="ja-JP" sz="800">
                <a:solidFill>
                  <a:srgbClr val="000000"/>
                </a:solidFill>
                <a:latin typeface="ＭＳ Ｐゴシック" panose="020B0600070205080204" pitchFamily="50" charset="-128"/>
              </a:rPr>
              <a:t>『</a:t>
            </a:r>
            <a:r>
              <a:rPr lang="ja-JP" altLang="en-US" sz="800">
                <a:solidFill>
                  <a:srgbClr val="000000"/>
                </a:solidFill>
                <a:latin typeface="ＭＳ Ｐゴシック" panose="020B0600070205080204" pitchFamily="50" charset="-128"/>
              </a:rPr>
              <a:t>マーケティングを学ぶヒトが最初に読む本</a:t>
            </a:r>
            <a:r>
              <a:rPr lang="en-US" altLang="ja-JP" sz="800">
                <a:solidFill>
                  <a:srgbClr val="000000"/>
                </a:solidFill>
                <a:latin typeface="ＭＳ Ｐゴシック" panose="020B0600070205080204" pitchFamily="50" charset="-128"/>
              </a:rPr>
              <a:t>』</a:t>
            </a:r>
            <a:r>
              <a:rPr lang="ja-JP" altLang="en-US" sz="800">
                <a:solidFill>
                  <a:srgbClr val="000000"/>
                </a:solidFill>
                <a:latin typeface="ＭＳ Ｐゴシック" panose="020B0600070205080204" pitchFamily="50" charset="-128"/>
              </a:rPr>
              <a:t>（総合法令）を参考に作成</a:t>
            </a:r>
          </a:p>
        </p:txBody>
      </p:sp>
      <p:sp>
        <p:nvSpPr>
          <p:cNvPr id="1966100" name="Text Box 20">
            <a:extLst>
              <a:ext uri="{FF2B5EF4-FFF2-40B4-BE49-F238E27FC236}">
                <a16:creationId xmlns:a16="http://schemas.microsoft.com/office/drawing/2014/main" id="{F16EE698-67D4-F975-FFBD-259CBD8EABAF}"/>
              </a:ext>
            </a:extLst>
          </p:cNvPr>
          <p:cNvSpPr txBox="1">
            <a:spLocks noChangeArrowheads="1"/>
          </p:cNvSpPr>
          <p:nvPr/>
        </p:nvSpPr>
        <p:spPr bwMode="auto">
          <a:xfrm>
            <a:off x="533400" y="8334375"/>
            <a:ext cx="2438400" cy="5810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46800" rIns="90000" bIns="46800">
            <a:spAutoFit/>
          </a:bodyPr>
          <a:lstStyle>
            <a:lvl1pPr marL="95250" indent="-9525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spcBef>
                <a:spcPct val="50000"/>
              </a:spcBef>
              <a:buFont typeface="Wingdings" panose="05000000000000000000" pitchFamily="2" charset="2"/>
              <a:buNone/>
            </a:pPr>
            <a:r>
              <a:rPr lang="en-US" altLang="ja-JP" sz="800">
                <a:solidFill>
                  <a:srgbClr val="000000"/>
                </a:solidFill>
                <a:latin typeface="ＭＳ Ｐゴシック" panose="020B0600070205080204" pitchFamily="50" charset="-128"/>
              </a:rPr>
              <a:t>※</a:t>
            </a:r>
            <a:r>
              <a:rPr lang="ja-JP" altLang="en-US" sz="800">
                <a:solidFill>
                  <a:srgbClr val="000000"/>
                </a:solidFill>
                <a:latin typeface="ＭＳ Ｐゴシック" panose="020B0600070205080204" pitchFamily="50" charset="-128"/>
              </a:rPr>
              <a:t>間接型の場合、メーカーと小売業者の取引（卸を通さず）、メーカーから卸を通した小売業者との取引、メーカーから卸、二次卸を通した小売業者との取引の</a:t>
            </a:r>
            <a:r>
              <a:rPr lang="en-US" altLang="ja-JP" sz="800">
                <a:solidFill>
                  <a:srgbClr val="000000"/>
                </a:solidFill>
                <a:latin typeface="ＭＳ Ｐゴシック" panose="020B0600070205080204" pitchFamily="50" charset="-128"/>
              </a:rPr>
              <a:t>3</a:t>
            </a:r>
            <a:r>
              <a:rPr lang="ja-JP" altLang="en-US" sz="800">
                <a:solidFill>
                  <a:srgbClr val="000000"/>
                </a:solidFill>
                <a:latin typeface="ＭＳ Ｐゴシック" panose="020B0600070205080204" pitchFamily="50" charset="-128"/>
              </a:rPr>
              <a:t>類型がある。</a:t>
            </a:r>
          </a:p>
        </p:txBody>
      </p:sp>
      <p:grpSp>
        <p:nvGrpSpPr>
          <p:cNvPr id="1966101" name="Group 21">
            <a:extLst>
              <a:ext uri="{FF2B5EF4-FFF2-40B4-BE49-F238E27FC236}">
                <a16:creationId xmlns:a16="http://schemas.microsoft.com/office/drawing/2014/main" id="{C1E68F3E-D9A2-15A7-5077-CCDBB856BEF4}"/>
              </a:ext>
            </a:extLst>
          </p:cNvPr>
          <p:cNvGrpSpPr>
            <a:grpSpLocks noChangeAspect="1"/>
          </p:cNvGrpSpPr>
          <p:nvPr/>
        </p:nvGrpSpPr>
        <p:grpSpPr bwMode="auto">
          <a:xfrm>
            <a:off x="3228975" y="5915025"/>
            <a:ext cx="757238" cy="392113"/>
            <a:chOff x="2176" y="1744"/>
            <a:chExt cx="2483" cy="1285"/>
          </a:xfrm>
        </p:grpSpPr>
        <p:pic>
          <p:nvPicPr>
            <p:cNvPr id="1966102" name="Picture 22">
              <a:extLst>
                <a:ext uri="{FF2B5EF4-FFF2-40B4-BE49-F238E27FC236}">
                  <a16:creationId xmlns:a16="http://schemas.microsoft.com/office/drawing/2014/main" id="{D270EEB3-753E-2BEF-B771-2EFF7691C7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969" t="36191"/>
            <a:stretch>
              <a:fillRect/>
            </a:stretch>
          </p:blipFill>
          <p:spPr bwMode="auto">
            <a:xfrm>
              <a:off x="2288" y="1920"/>
              <a:ext cx="2371" cy="1109"/>
            </a:xfrm>
            <a:prstGeom prst="rect">
              <a:avLst/>
            </a:prstGeom>
            <a:noFill/>
            <a:extLst>
              <a:ext uri="{909E8E84-426E-40DD-AFC4-6F175D3DCCD1}">
                <a14:hiddenFill xmlns:a14="http://schemas.microsoft.com/office/drawing/2010/main">
                  <a:solidFill>
                    <a:srgbClr val="FFFFFF"/>
                  </a:solidFill>
                </a14:hiddenFill>
              </a:ext>
            </a:extLst>
          </p:spPr>
        </p:pic>
        <p:sp>
          <p:nvSpPr>
            <p:cNvPr id="1966103" name="Rectangle 23">
              <a:extLst>
                <a:ext uri="{FF2B5EF4-FFF2-40B4-BE49-F238E27FC236}">
                  <a16:creationId xmlns:a16="http://schemas.microsoft.com/office/drawing/2014/main" id="{5190F40E-0046-B97A-9853-60E3C0CA8476}"/>
                </a:ext>
              </a:extLst>
            </p:cNvPr>
            <p:cNvSpPr>
              <a:spLocks noChangeAspect="1" noChangeArrowheads="1"/>
            </p:cNvSpPr>
            <p:nvPr/>
          </p:nvSpPr>
          <p:spPr bwMode="auto">
            <a:xfrm>
              <a:off x="2176" y="1744"/>
              <a:ext cx="432" cy="480"/>
            </a:xfrm>
            <a:prstGeom prst="rect">
              <a:avLst/>
            </a:prstGeom>
            <a:solidFill>
              <a:schemeClr val="bg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6104" name="AutoShape 24">
              <a:extLst>
                <a:ext uri="{FF2B5EF4-FFF2-40B4-BE49-F238E27FC236}">
                  <a16:creationId xmlns:a16="http://schemas.microsoft.com/office/drawing/2014/main" id="{D4FB38A4-1BB5-91EE-F537-EC81BA8E4E8F}"/>
                </a:ext>
              </a:extLst>
            </p:cNvPr>
            <p:cNvSpPr>
              <a:spLocks noChangeAspect="1" noChangeArrowheads="1"/>
            </p:cNvSpPr>
            <p:nvPr/>
          </p:nvSpPr>
          <p:spPr bwMode="auto">
            <a:xfrm rot="62795" flipV="1">
              <a:off x="2254" y="2215"/>
              <a:ext cx="336" cy="225"/>
            </a:xfrm>
            <a:prstGeom prst="rtTriangle">
              <a:avLst/>
            </a:prstGeom>
            <a:solidFill>
              <a:schemeClr val="bg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endParaRPr lang="ja-JP" altLang="ja-JP" sz="900">
                <a:latin typeface="ＭＳ Ｐゴシック" panose="020B0600070205080204" pitchFamily="50" charset="-128"/>
              </a:endParaRPr>
            </a:p>
          </p:txBody>
        </p:sp>
      </p:grpSp>
      <p:pic>
        <p:nvPicPr>
          <p:cNvPr id="1966105" name="Picture 25">
            <a:extLst>
              <a:ext uri="{FF2B5EF4-FFF2-40B4-BE49-F238E27FC236}">
                <a16:creationId xmlns:a16="http://schemas.microsoft.com/office/drawing/2014/main" id="{109439F5-B441-F154-1180-8BD3FA42AB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1738" y="5594350"/>
            <a:ext cx="301625" cy="374650"/>
          </a:xfrm>
          <a:prstGeom prst="rect">
            <a:avLst/>
          </a:prstGeom>
          <a:noFill/>
          <a:extLst>
            <a:ext uri="{909E8E84-426E-40DD-AFC4-6F175D3DCCD1}">
              <a14:hiddenFill xmlns:a14="http://schemas.microsoft.com/office/drawing/2010/main">
                <a:solidFill>
                  <a:srgbClr val="FFFFFF"/>
                </a:solidFill>
              </a14:hiddenFill>
            </a:ext>
          </a:extLst>
        </p:spPr>
      </p:pic>
      <p:pic>
        <p:nvPicPr>
          <p:cNvPr id="1966106" name="Picture 26">
            <a:extLst>
              <a:ext uri="{FF2B5EF4-FFF2-40B4-BE49-F238E27FC236}">
                <a16:creationId xmlns:a16="http://schemas.microsoft.com/office/drawing/2014/main" id="{D3624EC2-B94F-23FD-5BD3-72DAD786D0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3138" y="6005513"/>
            <a:ext cx="280987" cy="236537"/>
          </a:xfrm>
          <a:prstGeom prst="rect">
            <a:avLst/>
          </a:prstGeom>
          <a:noFill/>
          <a:extLst>
            <a:ext uri="{909E8E84-426E-40DD-AFC4-6F175D3DCCD1}">
              <a14:hiddenFill xmlns:a14="http://schemas.microsoft.com/office/drawing/2010/main">
                <a:solidFill>
                  <a:srgbClr val="FFFFFF"/>
                </a:solidFill>
              </a14:hiddenFill>
            </a:ext>
          </a:extLst>
        </p:spPr>
      </p:pic>
      <p:pic>
        <p:nvPicPr>
          <p:cNvPr id="1966107" name="Picture 27">
            <a:extLst>
              <a:ext uri="{FF2B5EF4-FFF2-40B4-BE49-F238E27FC236}">
                <a16:creationId xmlns:a16="http://schemas.microsoft.com/office/drawing/2014/main" id="{A2F1E564-DA86-ED79-C233-B1005D587E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2463" y="5732463"/>
            <a:ext cx="312737" cy="271462"/>
          </a:xfrm>
          <a:prstGeom prst="rect">
            <a:avLst/>
          </a:prstGeom>
          <a:noFill/>
          <a:extLst>
            <a:ext uri="{909E8E84-426E-40DD-AFC4-6F175D3DCCD1}">
              <a14:hiddenFill xmlns:a14="http://schemas.microsoft.com/office/drawing/2010/main">
                <a:solidFill>
                  <a:srgbClr val="FFFFFF"/>
                </a:solidFill>
              </a14:hiddenFill>
            </a:ext>
          </a:extLst>
        </p:spPr>
      </p:pic>
      <p:pic>
        <p:nvPicPr>
          <p:cNvPr id="1966108" name="Picture 28">
            <a:extLst>
              <a:ext uri="{FF2B5EF4-FFF2-40B4-BE49-F238E27FC236}">
                <a16:creationId xmlns:a16="http://schemas.microsoft.com/office/drawing/2014/main" id="{8DFA415E-7487-3B2E-BDEE-E194EDCF98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5713" y="6097588"/>
            <a:ext cx="300037" cy="254000"/>
          </a:xfrm>
          <a:prstGeom prst="rect">
            <a:avLst/>
          </a:prstGeom>
          <a:noFill/>
          <a:extLst>
            <a:ext uri="{909E8E84-426E-40DD-AFC4-6F175D3DCCD1}">
              <a14:hiddenFill xmlns:a14="http://schemas.microsoft.com/office/drawing/2010/main">
                <a:solidFill>
                  <a:srgbClr val="FFFFFF"/>
                </a:solidFill>
              </a14:hiddenFill>
            </a:ext>
          </a:extLst>
        </p:spPr>
      </p:pic>
      <p:pic>
        <p:nvPicPr>
          <p:cNvPr id="1966109" name="Picture 29">
            <a:extLst>
              <a:ext uri="{FF2B5EF4-FFF2-40B4-BE49-F238E27FC236}">
                <a16:creationId xmlns:a16="http://schemas.microsoft.com/office/drawing/2014/main" id="{828C0FF3-AE22-8055-13D0-C1CE600BDD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94338" y="5778500"/>
            <a:ext cx="361950" cy="268288"/>
          </a:xfrm>
          <a:prstGeom prst="rect">
            <a:avLst/>
          </a:prstGeom>
          <a:noFill/>
          <a:extLst>
            <a:ext uri="{909E8E84-426E-40DD-AFC4-6F175D3DCCD1}">
              <a14:hiddenFill xmlns:a14="http://schemas.microsoft.com/office/drawing/2010/main">
                <a:solidFill>
                  <a:srgbClr val="FFFFFF"/>
                </a:solidFill>
              </a14:hiddenFill>
            </a:ext>
          </a:extLst>
        </p:spPr>
      </p:pic>
      <p:pic>
        <p:nvPicPr>
          <p:cNvPr id="1966110" name="Picture 30">
            <a:extLst>
              <a:ext uri="{FF2B5EF4-FFF2-40B4-BE49-F238E27FC236}">
                <a16:creationId xmlns:a16="http://schemas.microsoft.com/office/drawing/2014/main" id="{44AF86FB-1E25-8C9B-9215-A0765AE21A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7063" y="6094413"/>
            <a:ext cx="301625" cy="374650"/>
          </a:xfrm>
          <a:prstGeom prst="rect">
            <a:avLst/>
          </a:prstGeom>
          <a:noFill/>
          <a:extLst>
            <a:ext uri="{909E8E84-426E-40DD-AFC4-6F175D3DCCD1}">
              <a14:hiddenFill xmlns:a14="http://schemas.microsoft.com/office/drawing/2010/main">
                <a:solidFill>
                  <a:srgbClr val="FFFFFF"/>
                </a:solidFill>
              </a14:hiddenFill>
            </a:ext>
          </a:extLst>
        </p:spPr>
      </p:pic>
      <p:pic>
        <p:nvPicPr>
          <p:cNvPr id="1966111" name="Picture 31">
            <a:extLst>
              <a:ext uri="{FF2B5EF4-FFF2-40B4-BE49-F238E27FC236}">
                <a16:creationId xmlns:a16="http://schemas.microsoft.com/office/drawing/2014/main" id="{F6868D2A-B4DF-9C97-D24B-B9B6E5C3B2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2188" y="6376988"/>
            <a:ext cx="312737" cy="271462"/>
          </a:xfrm>
          <a:prstGeom prst="rect">
            <a:avLst/>
          </a:prstGeom>
          <a:noFill/>
          <a:extLst>
            <a:ext uri="{909E8E84-426E-40DD-AFC4-6F175D3DCCD1}">
              <a14:hiddenFill xmlns:a14="http://schemas.microsoft.com/office/drawing/2010/main">
                <a:solidFill>
                  <a:srgbClr val="FFFFFF"/>
                </a:solidFill>
              </a14:hiddenFill>
            </a:ext>
          </a:extLst>
        </p:spPr>
      </p:pic>
      <p:pic>
        <p:nvPicPr>
          <p:cNvPr id="1966112" name="Picture 32">
            <a:extLst>
              <a:ext uri="{FF2B5EF4-FFF2-40B4-BE49-F238E27FC236}">
                <a16:creationId xmlns:a16="http://schemas.microsoft.com/office/drawing/2014/main" id="{FE4E6303-58A3-FDB4-7C0F-663A52B242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48263" y="6423025"/>
            <a:ext cx="361950" cy="268288"/>
          </a:xfrm>
          <a:prstGeom prst="rect">
            <a:avLst/>
          </a:prstGeom>
          <a:noFill/>
          <a:extLst>
            <a:ext uri="{909E8E84-426E-40DD-AFC4-6F175D3DCCD1}">
              <a14:hiddenFill xmlns:a14="http://schemas.microsoft.com/office/drawing/2010/main">
                <a:solidFill>
                  <a:srgbClr val="FFFFFF"/>
                </a:solidFill>
              </a14:hiddenFill>
            </a:ext>
          </a:extLst>
        </p:spPr>
      </p:pic>
      <p:pic>
        <p:nvPicPr>
          <p:cNvPr id="1966113" name="Picture 33">
            <a:extLst>
              <a:ext uri="{FF2B5EF4-FFF2-40B4-BE49-F238E27FC236}">
                <a16:creationId xmlns:a16="http://schemas.microsoft.com/office/drawing/2014/main" id="{C683045B-42E8-0FAB-9AD7-441CBAE4CF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0825" y="6034088"/>
            <a:ext cx="280988" cy="236537"/>
          </a:xfrm>
          <a:prstGeom prst="rect">
            <a:avLst/>
          </a:prstGeom>
          <a:noFill/>
          <a:extLst>
            <a:ext uri="{909E8E84-426E-40DD-AFC4-6F175D3DCCD1}">
              <a14:hiddenFill xmlns:a14="http://schemas.microsoft.com/office/drawing/2010/main">
                <a:solidFill>
                  <a:srgbClr val="FFFFFF"/>
                </a:solidFill>
              </a14:hiddenFill>
            </a:ext>
          </a:extLst>
        </p:spPr>
      </p:pic>
      <p:sp>
        <p:nvSpPr>
          <p:cNvPr id="1966114" name="Rectangle 34">
            <a:extLst>
              <a:ext uri="{FF2B5EF4-FFF2-40B4-BE49-F238E27FC236}">
                <a16:creationId xmlns:a16="http://schemas.microsoft.com/office/drawing/2014/main" id="{37B95F26-BD19-5B13-47C1-D822FAFCAE9F}"/>
              </a:ext>
            </a:extLst>
          </p:cNvPr>
          <p:cNvSpPr>
            <a:spLocks noChangeAspect="1" noChangeArrowheads="1"/>
          </p:cNvSpPr>
          <p:nvPr/>
        </p:nvSpPr>
        <p:spPr bwMode="auto">
          <a:xfrm flipH="1">
            <a:off x="3276600" y="5334000"/>
            <a:ext cx="2741613" cy="168275"/>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chemeClr val="bg1"/>
                </a:solidFill>
                <a:latin typeface="ＭＳ Ｐゴシック" panose="020B0600070205080204" pitchFamily="50" charset="-128"/>
              </a:rPr>
              <a:t>開放型の流通</a:t>
            </a:r>
          </a:p>
        </p:txBody>
      </p:sp>
      <p:grpSp>
        <p:nvGrpSpPr>
          <p:cNvPr id="1966115" name="Group 35">
            <a:extLst>
              <a:ext uri="{FF2B5EF4-FFF2-40B4-BE49-F238E27FC236}">
                <a16:creationId xmlns:a16="http://schemas.microsoft.com/office/drawing/2014/main" id="{4478DEB2-FEDB-6112-0B78-70FA7B2B479B}"/>
              </a:ext>
            </a:extLst>
          </p:cNvPr>
          <p:cNvGrpSpPr>
            <a:grpSpLocks noChangeAspect="1"/>
          </p:cNvGrpSpPr>
          <p:nvPr/>
        </p:nvGrpSpPr>
        <p:grpSpPr bwMode="auto">
          <a:xfrm>
            <a:off x="3568700" y="7777163"/>
            <a:ext cx="758825" cy="392112"/>
            <a:chOff x="2176" y="1744"/>
            <a:chExt cx="2483" cy="1285"/>
          </a:xfrm>
        </p:grpSpPr>
        <p:pic>
          <p:nvPicPr>
            <p:cNvPr id="1966116" name="Picture 36">
              <a:extLst>
                <a:ext uri="{FF2B5EF4-FFF2-40B4-BE49-F238E27FC236}">
                  <a16:creationId xmlns:a16="http://schemas.microsoft.com/office/drawing/2014/main" id="{D08428DE-A756-8EE9-D116-E11DBF0CAD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969" t="36191"/>
            <a:stretch>
              <a:fillRect/>
            </a:stretch>
          </p:blipFill>
          <p:spPr bwMode="auto">
            <a:xfrm>
              <a:off x="2288" y="1920"/>
              <a:ext cx="2371" cy="1109"/>
            </a:xfrm>
            <a:prstGeom prst="rect">
              <a:avLst/>
            </a:prstGeom>
            <a:noFill/>
            <a:extLst>
              <a:ext uri="{909E8E84-426E-40DD-AFC4-6F175D3DCCD1}">
                <a14:hiddenFill xmlns:a14="http://schemas.microsoft.com/office/drawing/2010/main">
                  <a:solidFill>
                    <a:srgbClr val="FFFFFF"/>
                  </a:solidFill>
                </a14:hiddenFill>
              </a:ext>
            </a:extLst>
          </p:spPr>
        </p:pic>
        <p:sp>
          <p:nvSpPr>
            <p:cNvPr id="1966117" name="Rectangle 37">
              <a:extLst>
                <a:ext uri="{FF2B5EF4-FFF2-40B4-BE49-F238E27FC236}">
                  <a16:creationId xmlns:a16="http://schemas.microsoft.com/office/drawing/2014/main" id="{77206B81-741F-2F36-BA7C-088CF449F64C}"/>
                </a:ext>
              </a:extLst>
            </p:cNvPr>
            <p:cNvSpPr>
              <a:spLocks noChangeAspect="1" noChangeArrowheads="1"/>
            </p:cNvSpPr>
            <p:nvPr/>
          </p:nvSpPr>
          <p:spPr bwMode="auto">
            <a:xfrm>
              <a:off x="2176" y="1744"/>
              <a:ext cx="432" cy="480"/>
            </a:xfrm>
            <a:prstGeom prst="rect">
              <a:avLst/>
            </a:prstGeom>
            <a:solidFill>
              <a:schemeClr val="bg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6118" name="AutoShape 38">
              <a:extLst>
                <a:ext uri="{FF2B5EF4-FFF2-40B4-BE49-F238E27FC236}">
                  <a16:creationId xmlns:a16="http://schemas.microsoft.com/office/drawing/2014/main" id="{BC336476-7AD9-B854-2C75-268272209AD7}"/>
                </a:ext>
              </a:extLst>
            </p:cNvPr>
            <p:cNvSpPr>
              <a:spLocks noChangeAspect="1" noChangeArrowheads="1"/>
            </p:cNvSpPr>
            <p:nvPr/>
          </p:nvSpPr>
          <p:spPr bwMode="auto">
            <a:xfrm rot="62795" flipV="1">
              <a:off x="2254" y="2215"/>
              <a:ext cx="336" cy="225"/>
            </a:xfrm>
            <a:prstGeom prst="rtTriangle">
              <a:avLst/>
            </a:prstGeom>
            <a:solidFill>
              <a:schemeClr val="bg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54000" tIns="46800" rIns="54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endParaRPr lang="ja-JP" altLang="ja-JP" sz="900">
                <a:latin typeface="ＭＳ Ｐゴシック" panose="020B0600070205080204" pitchFamily="50" charset="-128"/>
              </a:endParaRPr>
            </a:p>
          </p:txBody>
        </p:sp>
      </p:grpSp>
      <p:pic>
        <p:nvPicPr>
          <p:cNvPr id="1966119" name="Picture 39">
            <a:extLst>
              <a:ext uri="{FF2B5EF4-FFF2-40B4-BE49-F238E27FC236}">
                <a16:creationId xmlns:a16="http://schemas.microsoft.com/office/drawing/2014/main" id="{3F2A3D8B-C486-1224-D1A0-ACFA1F0E64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3775" y="7620000"/>
            <a:ext cx="312738" cy="271463"/>
          </a:xfrm>
          <a:prstGeom prst="rect">
            <a:avLst/>
          </a:prstGeom>
          <a:noFill/>
          <a:extLst>
            <a:ext uri="{909E8E84-426E-40DD-AFC4-6F175D3DCCD1}">
              <a14:hiddenFill xmlns:a14="http://schemas.microsoft.com/office/drawing/2010/main">
                <a:solidFill>
                  <a:srgbClr val="FFFFFF"/>
                </a:solidFill>
              </a14:hiddenFill>
            </a:ext>
          </a:extLst>
        </p:spPr>
      </p:pic>
      <p:pic>
        <p:nvPicPr>
          <p:cNvPr id="1966120" name="Picture 40">
            <a:extLst>
              <a:ext uri="{FF2B5EF4-FFF2-40B4-BE49-F238E27FC236}">
                <a16:creationId xmlns:a16="http://schemas.microsoft.com/office/drawing/2014/main" id="{785CE5B8-969A-1382-91F4-A000092B40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3500" y="7864475"/>
            <a:ext cx="312738" cy="271463"/>
          </a:xfrm>
          <a:prstGeom prst="rect">
            <a:avLst/>
          </a:prstGeom>
          <a:noFill/>
          <a:extLst>
            <a:ext uri="{909E8E84-426E-40DD-AFC4-6F175D3DCCD1}">
              <a14:hiddenFill xmlns:a14="http://schemas.microsoft.com/office/drawing/2010/main">
                <a:solidFill>
                  <a:srgbClr val="FFFFFF"/>
                </a:solidFill>
              </a14:hiddenFill>
            </a:ext>
          </a:extLst>
        </p:spPr>
      </p:pic>
      <p:sp>
        <p:nvSpPr>
          <p:cNvPr id="1966121" name="Rectangle 41">
            <a:extLst>
              <a:ext uri="{FF2B5EF4-FFF2-40B4-BE49-F238E27FC236}">
                <a16:creationId xmlns:a16="http://schemas.microsoft.com/office/drawing/2014/main" id="{BA703E92-428A-2A1E-4C74-4EA4F4AB8970}"/>
              </a:ext>
            </a:extLst>
          </p:cNvPr>
          <p:cNvSpPr>
            <a:spLocks noChangeAspect="1" noChangeArrowheads="1"/>
          </p:cNvSpPr>
          <p:nvPr/>
        </p:nvSpPr>
        <p:spPr bwMode="auto">
          <a:xfrm flipH="1">
            <a:off x="3276600" y="7391400"/>
            <a:ext cx="2741613" cy="169863"/>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chemeClr val="bg1"/>
                </a:solidFill>
                <a:latin typeface="ＭＳ Ｐゴシック" panose="020B0600070205080204" pitchFamily="50" charset="-128"/>
              </a:rPr>
              <a:t>閉鎖型の流通</a:t>
            </a:r>
          </a:p>
        </p:txBody>
      </p:sp>
      <p:cxnSp>
        <p:nvCxnSpPr>
          <p:cNvPr id="1966122" name="AutoShape 42">
            <a:extLst>
              <a:ext uri="{FF2B5EF4-FFF2-40B4-BE49-F238E27FC236}">
                <a16:creationId xmlns:a16="http://schemas.microsoft.com/office/drawing/2014/main" id="{CF3A9111-221A-E32D-B4D7-0F191A26FD53}"/>
              </a:ext>
            </a:extLst>
          </p:cNvPr>
          <p:cNvCxnSpPr>
            <a:cxnSpLocks noChangeAspect="1" noChangeShapeType="1"/>
            <a:stCxn id="1966116" idx="3"/>
            <a:endCxn id="1966119" idx="1"/>
          </p:cNvCxnSpPr>
          <p:nvPr/>
        </p:nvCxnSpPr>
        <p:spPr bwMode="auto">
          <a:xfrm flipV="1">
            <a:off x="4327525" y="7756525"/>
            <a:ext cx="476250" cy="244475"/>
          </a:xfrm>
          <a:prstGeom prst="straightConnector1">
            <a:avLst/>
          </a:prstGeom>
          <a:noFill/>
          <a:ln w="63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6123" name="AutoShape 43">
            <a:extLst>
              <a:ext uri="{FF2B5EF4-FFF2-40B4-BE49-F238E27FC236}">
                <a16:creationId xmlns:a16="http://schemas.microsoft.com/office/drawing/2014/main" id="{1D1AE1E3-3D74-0189-1ECF-6175FC0EBFC6}"/>
              </a:ext>
            </a:extLst>
          </p:cNvPr>
          <p:cNvCxnSpPr>
            <a:cxnSpLocks noChangeAspect="1" noChangeShapeType="1"/>
            <a:stCxn id="1966116" idx="3"/>
            <a:endCxn id="1966120" idx="1"/>
          </p:cNvCxnSpPr>
          <p:nvPr/>
        </p:nvCxnSpPr>
        <p:spPr bwMode="auto">
          <a:xfrm>
            <a:off x="4327525" y="8001000"/>
            <a:ext cx="815975" cy="0"/>
          </a:xfrm>
          <a:prstGeom prst="straightConnector1">
            <a:avLst/>
          </a:prstGeom>
          <a:noFill/>
          <a:ln w="63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6124" name="Text Box 44">
            <a:extLst>
              <a:ext uri="{FF2B5EF4-FFF2-40B4-BE49-F238E27FC236}">
                <a16:creationId xmlns:a16="http://schemas.microsoft.com/office/drawing/2014/main" id="{75F41F45-0408-6D4B-3689-74A68FEA27A1}"/>
              </a:ext>
            </a:extLst>
          </p:cNvPr>
          <p:cNvSpPr txBox="1">
            <a:spLocks noChangeAspect="1" noChangeArrowheads="1"/>
          </p:cNvSpPr>
          <p:nvPr/>
        </p:nvSpPr>
        <p:spPr bwMode="auto">
          <a:xfrm>
            <a:off x="4527550" y="8159750"/>
            <a:ext cx="1339850" cy="2286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46800" rIns="90000" bIns="46800">
            <a:spAutoFit/>
          </a:bodyPr>
          <a:lstStyle/>
          <a:p>
            <a:pPr algn="l">
              <a:spcBef>
                <a:spcPct val="50000"/>
              </a:spcBef>
              <a:buFont typeface="Wingdings" panose="05000000000000000000" pitchFamily="2" charset="2"/>
              <a:buNone/>
            </a:pPr>
            <a:r>
              <a:rPr lang="ja-JP" altLang="en-US" sz="900">
                <a:solidFill>
                  <a:srgbClr val="000000"/>
                </a:solidFill>
                <a:latin typeface="ＭＳ Ｐゴシック" panose="020B0600070205080204" pitchFamily="50" charset="-128"/>
              </a:rPr>
              <a:t>特定の小売のみで販売</a:t>
            </a:r>
          </a:p>
        </p:txBody>
      </p:sp>
      <p:sp>
        <p:nvSpPr>
          <p:cNvPr id="1966125" name="Text Box 45">
            <a:extLst>
              <a:ext uri="{FF2B5EF4-FFF2-40B4-BE49-F238E27FC236}">
                <a16:creationId xmlns:a16="http://schemas.microsoft.com/office/drawing/2014/main" id="{250693F0-0DC1-3F05-50A7-97A0BF2A6F90}"/>
              </a:ext>
            </a:extLst>
          </p:cNvPr>
          <p:cNvSpPr txBox="1">
            <a:spLocks noChangeAspect="1" noChangeArrowheads="1"/>
          </p:cNvSpPr>
          <p:nvPr/>
        </p:nvSpPr>
        <p:spPr bwMode="auto">
          <a:xfrm>
            <a:off x="4295775" y="6691313"/>
            <a:ext cx="1263650" cy="2286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46800" rIns="90000" bIns="46800">
            <a:spAutoFit/>
          </a:bodyPr>
          <a:lstStyle/>
          <a:p>
            <a:pPr algn="l">
              <a:spcBef>
                <a:spcPct val="50000"/>
              </a:spcBef>
              <a:buFont typeface="Wingdings" panose="05000000000000000000" pitchFamily="2" charset="2"/>
              <a:buNone/>
            </a:pPr>
            <a:r>
              <a:rPr lang="ja-JP" altLang="en-US" sz="900">
                <a:solidFill>
                  <a:srgbClr val="000000"/>
                </a:solidFill>
                <a:latin typeface="ＭＳ Ｐゴシック" panose="020B0600070205080204" pitchFamily="50" charset="-128"/>
              </a:rPr>
              <a:t>様々な小売で販売</a:t>
            </a:r>
          </a:p>
        </p:txBody>
      </p:sp>
      <p:sp>
        <p:nvSpPr>
          <p:cNvPr id="1966126" name="Text Box 46">
            <a:extLst>
              <a:ext uri="{FF2B5EF4-FFF2-40B4-BE49-F238E27FC236}">
                <a16:creationId xmlns:a16="http://schemas.microsoft.com/office/drawing/2014/main" id="{A26F122A-36D1-AFB1-4571-F959AA6CB073}"/>
              </a:ext>
            </a:extLst>
          </p:cNvPr>
          <p:cNvSpPr txBox="1">
            <a:spLocks noChangeAspect="1" noChangeArrowheads="1"/>
          </p:cNvSpPr>
          <p:nvPr/>
        </p:nvSpPr>
        <p:spPr bwMode="auto">
          <a:xfrm>
            <a:off x="3275013" y="6318250"/>
            <a:ext cx="776287" cy="51117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spAutoFit/>
          </a:bodyPr>
          <a:lstStyle/>
          <a:p>
            <a:pPr algn="l">
              <a:spcBef>
                <a:spcPct val="50000"/>
              </a:spcBef>
              <a:buFont typeface="Wingdings" panose="05000000000000000000" pitchFamily="2" charset="2"/>
              <a:buNone/>
            </a:pPr>
            <a:r>
              <a:rPr lang="en-US" altLang="ja-JP" sz="800">
                <a:solidFill>
                  <a:srgbClr val="000000"/>
                </a:solidFill>
                <a:latin typeface="ＭＳ Ｐゴシック" panose="020B0600070205080204" pitchFamily="50" charset="-128"/>
              </a:rPr>
              <a:t>※</a:t>
            </a:r>
            <a:r>
              <a:rPr lang="ja-JP" altLang="en-US" sz="800">
                <a:solidFill>
                  <a:srgbClr val="000000"/>
                </a:solidFill>
                <a:latin typeface="ＭＳ Ｐゴシック" panose="020B0600070205080204" pitchFamily="50" charset="-128"/>
              </a:rPr>
              <a:t>本来はメーカーと小売の取引に卸業者が加わることが多い。</a:t>
            </a:r>
          </a:p>
        </p:txBody>
      </p:sp>
      <p:sp>
        <p:nvSpPr>
          <p:cNvPr id="1966127" name="Text Box 47">
            <a:extLst>
              <a:ext uri="{FF2B5EF4-FFF2-40B4-BE49-F238E27FC236}">
                <a16:creationId xmlns:a16="http://schemas.microsoft.com/office/drawing/2014/main" id="{29587560-BABA-6927-8A26-5AEF2F77E232}"/>
              </a:ext>
            </a:extLst>
          </p:cNvPr>
          <p:cNvSpPr txBox="1">
            <a:spLocks noChangeAspect="1" noChangeArrowheads="1"/>
          </p:cNvSpPr>
          <p:nvPr/>
        </p:nvSpPr>
        <p:spPr bwMode="auto">
          <a:xfrm>
            <a:off x="3582988" y="8153400"/>
            <a:ext cx="776287" cy="14446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spAutoFit/>
          </a:bodyPr>
          <a:lstStyle/>
          <a:p>
            <a:pPr algn="l">
              <a:spcBef>
                <a:spcPct val="50000"/>
              </a:spcBef>
              <a:buFont typeface="Wingdings" panose="05000000000000000000" pitchFamily="2" charset="2"/>
              <a:buNone/>
            </a:pPr>
            <a:r>
              <a:rPr lang="en-US" altLang="ja-JP" sz="800">
                <a:solidFill>
                  <a:srgbClr val="000000"/>
                </a:solidFill>
                <a:latin typeface="ＭＳ Ｐゴシック" panose="020B0600070205080204" pitchFamily="50" charset="-128"/>
              </a:rPr>
              <a:t>※</a:t>
            </a:r>
            <a:r>
              <a:rPr lang="ja-JP" altLang="en-US" sz="800">
                <a:solidFill>
                  <a:srgbClr val="000000"/>
                </a:solidFill>
                <a:latin typeface="ＭＳ Ｐゴシック" panose="020B0600070205080204" pitchFamily="50" charset="-128"/>
              </a:rPr>
              <a:t>（同上）</a:t>
            </a:r>
          </a:p>
        </p:txBody>
      </p:sp>
      <p:sp>
        <p:nvSpPr>
          <p:cNvPr id="1966128" name="AutoShape 48">
            <a:extLst>
              <a:ext uri="{FF2B5EF4-FFF2-40B4-BE49-F238E27FC236}">
                <a16:creationId xmlns:a16="http://schemas.microsoft.com/office/drawing/2014/main" id="{9A187390-D70A-E5CA-CDE6-33A4FDF33321}"/>
              </a:ext>
            </a:extLst>
          </p:cNvPr>
          <p:cNvSpPr>
            <a:spLocks noChangeAspect="1" noChangeArrowheads="1"/>
          </p:cNvSpPr>
          <p:nvPr/>
        </p:nvSpPr>
        <p:spPr bwMode="auto">
          <a:xfrm>
            <a:off x="4051300" y="5822950"/>
            <a:ext cx="274638" cy="639763"/>
          </a:xfrm>
          <a:prstGeom prst="rightArrow">
            <a:avLst>
              <a:gd name="adj1" fmla="val 47620"/>
              <a:gd name="adj2" fmla="val 38889"/>
            </a:avLst>
          </a:prstGeom>
          <a:solidFill>
            <a:srgbClr val="33339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46800" rIns="54000" bIns="46800" anchor="ctr"/>
          <a:lstStyle/>
          <a:p>
            <a:endParaRPr lang="ja-JP" altLang="en-US"/>
          </a:p>
        </p:txBody>
      </p:sp>
      <p:sp>
        <p:nvSpPr>
          <p:cNvPr id="1966129" name="Rectangle 49">
            <a:extLst>
              <a:ext uri="{FF2B5EF4-FFF2-40B4-BE49-F238E27FC236}">
                <a16:creationId xmlns:a16="http://schemas.microsoft.com/office/drawing/2014/main" id="{3B60AABE-0B14-ACBB-D734-A8033BC5ABD1}"/>
              </a:ext>
            </a:extLst>
          </p:cNvPr>
          <p:cNvSpPr>
            <a:spLocks noChangeAspect="1" noChangeArrowheads="1"/>
          </p:cNvSpPr>
          <p:nvPr/>
        </p:nvSpPr>
        <p:spPr bwMode="auto">
          <a:xfrm>
            <a:off x="3381375" y="8458200"/>
            <a:ext cx="2508250" cy="32385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nchor="ctr" anchorCtr="1"/>
          <a:lstStyle/>
          <a:p>
            <a:pPr algn="l"/>
            <a:r>
              <a:rPr lang="ja-JP" altLang="en-US" sz="800">
                <a:latin typeface="ＭＳ Ｐゴシック" panose="020B0600070205080204" pitchFamily="50" charset="-128"/>
              </a:rPr>
              <a:t>売り方をコントロールし、ブランドイメージを大切にする商品の場合</a:t>
            </a:r>
          </a:p>
        </p:txBody>
      </p:sp>
      <p:sp>
        <p:nvSpPr>
          <p:cNvPr id="1966130" name="Rectangle 50">
            <a:extLst>
              <a:ext uri="{FF2B5EF4-FFF2-40B4-BE49-F238E27FC236}">
                <a16:creationId xmlns:a16="http://schemas.microsoft.com/office/drawing/2014/main" id="{401DE9DD-BAA8-A5CC-6C2F-4931D6DD0554}"/>
              </a:ext>
            </a:extLst>
          </p:cNvPr>
          <p:cNvSpPr>
            <a:spLocks noChangeAspect="1" noChangeArrowheads="1"/>
          </p:cNvSpPr>
          <p:nvPr/>
        </p:nvSpPr>
        <p:spPr bwMode="auto">
          <a:xfrm>
            <a:off x="3381375" y="6915150"/>
            <a:ext cx="2508250" cy="3048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nchorCtr="1"/>
          <a:lstStyle/>
          <a:p>
            <a:pPr algn="l"/>
            <a:r>
              <a:rPr lang="ja-JP" altLang="en-US" sz="800">
                <a:latin typeface="ＭＳ Ｐゴシック" panose="020B0600070205080204" pitchFamily="50" charset="-128"/>
              </a:rPr>
              <a:t>消費財で、幅広く大量に販売する商品の場合</a:t>
            </a:r>
          </a:p>
        </p:txBody>
      </p:sp>
      <p:sp>
        <p:nvSpPr>
          <p:cNvPr id="1966131" name="Line 51">
            <a:extLst>
              <a:ext uri="{FF2B5EF4-FFF2-40B4-BE49-F238E27FC236}">
                <a16:creationId xmlns:a16="http://schemas.microsoft.com/office/drawing/2014/main" id="{89D2DAFA-6004-DCD4-3323-6A096C6F22E1}"/>
              </a:ext>
            </a:extLst>
          </p:cNvPr>
          <p:cNvSpPr>
            <a:spLocks noChangeShapeType="1"/>
          </p:cNvSpPr>
          <p:nvPr/>
        </p:nvSpPr>
        <p:spPr bwMode="auto">
          <a:xfrm flipH="1">
            <a:off x="2895600" y="6248400"/>
            <a:ext cx="228600" cy="152400"/>
          </a:xfrm>
          <a:prstGeom prst="line">
            <a:avLst/>
          </a:prstGeom>
          <a:noFill/>
          <a:ln w="38100">
            <a:solidFill>
              <a:srgbClr val="808080"/>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6132" name="Line 52">
            <a:extLst>
              <a:ext uri="{FF2B5EF4-FFF2-40B4-BE49-F238E27FC236}">
                <a16:creationId xmlns:a16="http://schemas.microsoft.com/office/drawing/2014/main" id="{FE7607FF-5FB7-EF74-1387-1F8F8F96F9CA}"/>
              </a:ext>
            </a:extLst>
          </p:cNvPr>
          <p:cNvSpPr>
            <a:spLocks noChangeShapeType="1"/>
          </p:cNvSpPr>
          <p:nvPr/>
        </p:nvSpPr>
        <p:spPr bwMode="auto">
          <a:xfrm flipH="1" flipV="1">
            <a:off x="2895600" y="7239000"/>
            <a:ext cx="228600" cy="685800"/>
          </a:xfrm>
          <a:prstGeom prst="line">
            <a:avLst/>
          </a:prstGeom>
          <a:noFill/>
          <a:ln w="38100">
            <a:solidFill>
              <a:srgbClr val="808080"/>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6133" name="Line 53">
            <a:extLst>
              <a:ext uri="{FF2B5EF4-FFF2-40B4-BE49-F238E27FC236}">
                <a16:creationId xmlns:a16="http://schemas.microsoft.com/office/drawing/2014/main" id="{F60EB074-409E-1E49-8CE8-DF2E7089FE70}"/>
              </a:ext>
            </a:extLst>
          </p:cNvPr>
          <p:cNvSpPr>
            <a:spLocks noChangeShapeType="1"/>
          </p:cNvSpPr>
          <p:nvPr/>
        </p:nvSpPr>
        <p:spPr bwMode="auto">
          <a:xfrm flipH="1" flipV="1">
            <a:off x="2895600" y="7924800"/>
            <a:ext cx="228600" cy="0"/>
          </a:xfrm>
          <a:prstGeom prst="line">
            <a:avLst/>
          </a:prstGeom>
          <a:noFill/>
          <a:ln w="38100">
            <a:solidFill>
              <a:srgbClr val="808080"/>
            </a:solidFill>
            <a:round/>
            <a:headEnd/>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grpSp>
        <p:nvGrpSpPr>
          <p:cNvPr id="1966134" name="Group 54">
            <a:extLst>
              <a:ext uri="{FF2B5EF4-FFF2-40B4-BE49-F238E27FC236}">
                <a16:creationId xmlns:a16="http://schemas.microsoft.com/office/drawing/2014/main" id="{77A0914C-D7A7-7C4C-E496-AA03A41F2296}"/>
              </a:ext>
            </a:extLst>
          </p:cNvPr>
          <p:cNvGrpSpPr>
            <a:grpSpLocks/>
          </p:cNvGrpSpPr>
          <p:nvPr/>
        </p:nvGrpSpPr>
        <p:grpSpPr bwMode="auto">
          <a:xfrm>
            <a:off x="4267200" y="0"/>
            <a:ext cx="2286000" cy="228600"/>
            <a:chOff x="2928" y="-48"/>
            <a:chExt cx="1392" cy="192"/>
          </a:xfrm>
        </p:grpSpPr>
        <p:sp>
          <p:nvSpPr>
            <p:cNvPr id="1966135" name="Line 55">
              <a:extLst>
                <a:ext uri="{FF2B5EF4-FFF2-40B4-BE49-F238E27FC236}">
                  <a16:creationId xmlns:a16="http://schemas.microsoft.com/office/drawing/2014/main" id="{A6129F5A-3796-B585-838E-700E78FD25B8}"/>
                </a:ext>
              </a:extLst>
            </p:cNvPr>
            <p:cNvSpPr>
              <a:spLocks noChangeShapeType="1"/>
            </p:cNvSpPr>
            <p:nvPr/>
          </p:nvSpPr>
          <p:spPr bwMode="auto">
            <a:xfrm>
              <a:off x="2928" y="144"/>
              <a:ext cx="1392"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6136" name="Rectangle 56">
              <a:extLst>
                <a:ext uri="{FF2B5EF4-FFF2-40B4-BE49-F238E27FC236}">
                  <a16:creationId xmlns:a16="http://schemas.microsoft.com/office/drawing/2014/main" id="{5B1CEF4F-7394-F7E6-DCA9-DFE9EE8E6682}"/>
                </a:ext>
              </a:extLst>
            </p:cNvPr>
            <p:cNvSpPr>
              <a:spLocks noChangeArrowheads="1"/>
            </p:cNvSpPr>
            <p:nvPr/>
          </p:nvSpPr>
          <p:spPr bwMode="auto">
            <a:xfrm>
              <a:off x="2928" y="-48"/>
              <a:ext cx="1392"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en-US" altLang="ja-JP" sz="1000">
                  <a:latin typeface="ＭＳ Ｐゴシック" panose="020B0600070205080204" pitchFamily="50" charset="-128"/>
                </a:rPr>
                <a:t>Ⅲ</a:t>
              </a:r>
              <a:r>
                <a:rPr lang="ja-JP" altLang="en-US" sz="1000">
                  <a:latin typeface="ＭＳ Ｐゴシック" panose="020B0600070205080204" pitchFamily="50" charset="-128"/>
                </a:rPr>
                <a:t>　経営助言の実践に関する論点</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7106" name="Rectangle 2">
            <a:extLst>
              <a:ext uri="{FF2B5EF4-FFF2-40B4-BE49-F238E27FC236}">
                <a16:creationId xmlns:a16="http://schemas.microsoft.com/office/drawing/2014/main" id="{D3798CE2-E4CF-F985-27E7-2D5F831E9D02}"/>
              </a:ext>
            </a:extLst>
          </p:cNvPr>
          <p:cNvSpPr>
            <a:spLocks noChangeArrowheads="1"/>
          </p:cNvSpPr>
          <p:nvPr/>
        </p:nvSpPr>
        <p:spPr bwMode="auto">
          <a:xfrm>
            <a:off x="914400" y="1600200"/>
            <a:ext cx="5410200" cy="3276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1pPr>
            <a:lvl2pPr marL="381000" indent="-889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2pPr>
            <a:lvl3pPr marL="673100" indent="-101600"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3pPr>
            <a:lvl4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4pPr>
            <a:lvl5pPr algn="l">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tabLst>
                <a:tab pos="292100" algn="l"/>
              </a:tabLst>
              <a:defRPr kumimoji="1" sz="2400">
                <a:solidFill>
                  <a:schemeClr val="tx1"/>
                </a:solidFill>
                <a:latin typeface="Times New Roman" panose="02020603050405020304" pitchFamily="18" charset="0"/>
                <a:ea typeface="ＭＳ Ｐゴシック" panose="020B0600070205080204" pitchFamily="50" charset="-128"/>
              </a:defRPr>
            </a:lvl9pPr>
          </a:lstStyle>
          <a:p>
            <a:pPr>
              <a:lnSpc>
                <a:spcPct val="120000"/>
              </a:lnSpc>
            </a:pPr>
            <a:r>
              <a:rPr lang="ja-JP" altLang="en-US" sz="1000">
                <a:latin typeface="ＭＳ Ｐ明朝" panose="02020600040205080304" pitchFamily="18" charset="-128"/>
                <a:ea typeface="ＭＳ Ｐ明朝" panose="02020600040205080304" pitchFamily="18" charset="-128"/>
              </a:rPr>
              <a:t>企業と顧客の間のコミニュケーションを担うプロモーション手段の代表的なものとして、下図で挙げたように５つの手段（チャネル）があります（図表</a:t>
            </a:r>
            <a:r>
              <a:rPr lang="en-US" altLang="ja-JP" sz="1000">
                <a:latin typeface="ＭＳ Ｐ明朝" panose="02020600040205080304" pitchFamily="18" charset="-128"/>
                <a:ea typeface="ＭＳ Ｐ明朝" panose="02020600040205080304" pitchFamily="18" charset="-128"/>
              </a:rPr>
              <a:t>3-1-11</a:t>
            </a:r>
            <a:r>
              <a:rPr lang="ja-JP" altLang="en-US" sz="1000">
                <a:latin typeface="ＭＳ Ｐ明朝" panose="02020600040205080304" pitchFamily="18" charset="-128"/>
                <a:ea typeface="ＭＳ Ｐ明朝" panose="02020600040205080304" pitchFamily="18" charset="-128"/>
              </a:rPr>
              <a:t>を参照）。</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これら５つには、それぞれ費用の大小や時間の長短といった特性による長所と短所があるために、お互いを補完して限られた時間や経営資源で最も効果的なコミュニケーション・チャネルを構築することが必要です。これをプロモーション・ミックスと言い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近年ではこれらの様々なチャネルにおいてインターネットの活用が多くなってきているものと思われます。自社のホームページで広告や商品の販売を行ったり、ホームページの掲示板を使って消費者と双方向的なコミュニケーションを行うことができます。インターネット上でオークションや商品販売を行えるサイトも多くあります。</a:t>
            </a:r>
          </a:p>
          <a:p>
            <a:pPr>
              <a:lnSpc>
                <a:spcPct val="120000"/>
              </a:lnSpc>
            </a:pPr>
            <a:endParaRPr lang="ja-JP" altLang="en-US" sz="1000">
              <a:latin typeface="ＭＳ Ｐ明朝" panose="02020600040205080304" pitchFamily="18" charset="-128"/>
              <a:ea typeface="ＭＳ Ｐ明朝" panose="02020600040205080304" pitchFamily="18" charset="-128"/>
            </a:endParaRPr>
          </a:p>
          <a:p>
            <a:pPr>
              <a:lnSpc>
                <a:spcPct val="120000"/>
              </a:lnSpc>
            </a:pPr>
            <a:r>
              <a:rPr lang="ja-JP" altLang="en-US" sz="1000">
                <a:latin typeface="ＭＳ Ｐ明朝" panose="02020600040205080304" pitchFamily="18" charset="-128"/>
                <a:ea typeface="ＭＳ Ｐ明朝" panose="02020600040205080304" pitchFamily="18" charset="-128"/>
              </a:rPr>
              <a:t>大企業程にはプロモーションに投資ができない中堅／中小企業にとっては、今後はインターネットをうまく利用した効果的なプロモーションも一つの重要な選択肢になると思われます。</a:t>
            </a:r>
          </a:p>
        </p:txBody>
      </p:sp>
      <p:sp>
        <p:nvSpPr>
          <p:cNvPr id="1967107" name="Rectangle 3">
            <a:extLst>
              <a:ext uri="{FF2B5EF4-FFF2-40B4-BE49-F238E27FC236}">
                <a16:creationId xmlns:a16="http://schemas.microsoft.com/office/drawing/2014/main" id="{80E825C3-948D-82D0-7287-57711DD2E6BD}"/>
              </a:ext>
            </a:extLst>
          </p:cNvPr>
          <p:cNvSpPr>
            <a:spLocks noChangeArrowheads="1"/>
          </p:cNvSpPr>
          <p:nvPr/>
        </p:nvSpPr>
        <p:spPr bwMode="auto">
          <a:xfrm>
            <a:off x="533400" y="1219200"/>
            <a:ext cx="43434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190500" indent="-190500" algn="l">
              <a:defRPr kumimoji="1" sz="2400">
                <a:solidFill>
                  <a:schemeClr val="tx1"/>
                </a:solidFill>
                <a:latin typeface="Times New Roman" panose="02020603050405020304" pitchFamily="18" charset="0"/>
                <a:ea typeface="ＭＳ Ｐゴシック" panose="020B0600070205080204" pitchFamily="50" charset="-128"/>
              </a:defRPr>
            </a:lvl1pPr>
            <a:lvl2pPr algn="l">
              <a:defRPr kumimoji="1" sz="2400">
                <a:solidFill>
                  <a:schemeClr val="tx1"/>
                </a:solidFill>
                <a:latin typeface="Times New Roman" panose="02020603050405020304" pitchFamily="18" charset="0"/>
                <a:ea typeface="ＭＳ Ｐゴシック" panose="020B0600070205080204" pitchFamily="50" charset="-128"/>
              </a:defRPr>
            </a:lvl2pPr>
            <a:lvl3pPr algn="l">
              <a:defRPr kumimoji="1" sz="2400">
                <a:solidFill>
                  <a:schemeClr val="tx1"/>
                </a:solidFill>
                <a:latin typeface="Times New Roman" panose="02020603050405020304" pitchFamily="18" charset="0"/>
                <a:ea typeface="ＭＳ Ｐゴシック" panose="020B0600070205080204" pitchFamily="50" charset="-128"/>
              </a:defRPr>
            </a:lvl3pPr>
            <a:lvl4pPr algn="l">
              <a:defRPr kumimoji="1" sz="2400">
                <a:solidFill>
                  <a:schemeClr val="tx1"/>
                </a:solidFill>
                <a:latin typeface="Times New Roman" panose="02020603050405020304" pitchFamily="18" charset="0"/>
                <a:ea typeface="ＭＳ Ｐゴシック" panose="020B0600070205080204" pitchFamily="50" charset="-128"/>
              </a:defRPr>
            </a:lvl4pPr>
            <a:lvl5pPr algn="l">
              <a:defRPr kumimoji="1" sz="2400">
                <a:solidFill>
                  <a:schemeClr val="tx1"/>
                </a:solidFill>
                <a:latin typeface="Times New Roman" panose="02020603050405020304" pitchFamily="18" charset="0"/>
                <a:ea typeface="ＭＳ Ｐゴシック" panose="020B0600070205080204" pitchFamily="50" charset="-128"/>
              </a:defRPr>
            </a:lvl5pPr>
            <a:lvl6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Char char="n"/>
            </a:pPr>
            <a:r>
              <a:rPr lang="en-US" altLang="ja-JP" sz="1200">
                <a:latin typeface="Century" panose="02040604050505020304" pitchFamily="18" charset="0"/>
              </a:rPr>
              <a:t>4P </a:t>
            </a:r>
            <a:r>
              <a:rPr lang="ja-JP" altLang="en-US" sz="1200">
                <a:latin typeface="Century" panose="02040604050505020304" pitchFamily="18" charset="0"/>
              </a:rPr>
              <a:t>（マーケティング・ミックス）の設定　④</a:t>
            </a:r>
            <a:r>
              <a:rPr lang="en-US" altLang="ja-JP" sz="1200">
                <a:latin typeface="Century" panose="02040604050505020304" pitchFamily="18" charset="0"/>
              </a:rPr>
              <a:t>Promotion</a:t>
            </a:r>
            <a:r>
              <a:rPr lang="ja-JP" altLang="en-US" sz="1200">
                <a:latin typeface="Century" panose="02040604050505020304" pitchFamily="18" charset="0"/>
              </a:rPr>
              <a:t>（プロモーション戦略）</a:t>
            </a:r>
          </a:p>
        </p:txBody>
      </p:sp>
      <p:sp>
        <p:nvSpPr>
          <p:cNvPr id="1967108" name="Line 4">
            <a:extLst>
              <a:ext uri="{FF2B5EF4-FFF2-40B4-BE49-F238E27FC236}">
                <a16:creationId xmlns:a16="http://schemas.microsoft.com/office/drawing/2014/main" id="{E8886052-5FE9-0FB6-7850-13AD1A977347}"/>
              </a:ext>
            </a:extLst>
          </p:cNvPr>
          <p:cNvSpPr>
            <a:spLocks noChangeShapeType="1"/>
          </p:cNvSpPr>
          <p:nvPr/>
        </p:nvSpPr>
        <p:spPr bwMode="auto">
          <a:xfrm>
            <a:off x="533400" y="1524000"/>
            <a:ext cx="579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ja-JP" altLang="en-US"/>
          </a:p>
        </p:txBody>
      </p:sp>
      <p:sp>
        <p:nvSpPr>
          <p:cNvPr id="1967109" name="Rectangle 5">
            <a:extLst>
              <a:ext uri="{FF2B5EF4-FFF2-40B4-BE49-F238E27FC236}">
                <a16:creationId xmlns:a16="http://schemas.microsoft.com/office/drawing/2014/main" id="{1860C17D-F05C-0A62-B9A1-B7CFCB4640B8}"/>
              </a:ext>
            </a:extLst>
          </p:cNvPr>
          <p:cNvSpPr>
            <a:spLocks noChangeArrowheads="1"/>
          </p:cNvSpPr>
          <p:nvPr/>
        </p:nvSpPr>
        <p:spPr bwMode="auto">
          <a:xfrm>
            <a:off x="533400" y="5105400"/>
            <a:ext cx="920750"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ja-JP" altLang="en-US" sz="1000">
                <a:solidFill>
                  <a:schemeClr val="bg1"/>
                </a:solidFill>
                <a:latin typeface="ＭＳ Ｐゴシック" panose="020B0600070205080204" pitchFamily="50" charset="-128"/>
              </a:rPr>
              <a:t>図表 </a:t>
            </a:r>
            <a:r>
              <a:rPr lang="en-US" altLang="ja-JP" sz="1000">
                <a:solidFill>
                  <a:schemeClr val="bg1"/>
                </a:solidFill>
                <a:latin typeface="Arial" panose="020B0604020202020204" pitchFamily="34" charset="0"/>
              </a:rPr>
              <a:t>3-1-11</a:t>
            </a:r>
          </a:p>
        </p:txBody>
      </p:sp>
      <p:sp>
        <p:nvSpPr>
          <p:cNvPr id="1967110" name="Rectangle 6">
            <a:extLst>
              <a:ext uri="{FF2B5EF4-FFF2-40B4-BE49-F238E27FC236}">
                <a16:creationId xmlns:a16="http://schemas.microsoft.com/office/drawing/2014/main" id="{5630D375-CC16-9835-38B0-5E9F93DE3BE0}"/>
              </a:ext>
            </a:extLst>
          </p:cNvPr>
          <p:cNvSpPr>
            <a:spLocks noChangeArrowheads="1"/>
          </p:cNvSpPr>
          <p:nvPr/>
        </p:nvSpPr>
        <p:spPr bwMode="auto">
          <a:xfrm>
            <a:off x="1482725" y="5105400"/>
            <a:ext cx="4841875" cy="152400"/>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l"/>
            <a:r>
              <a:rPr lang="ja-JP" altLang="en-US" sz="1000">
                <a:solidFill>
                  <a:schemeClr val="bg1"/>
                </a:solidFill>
              </a:rPr>
              <a:t>プロモーション・チャネル</a:t>
            </a:r>
          </a:p>
        </p:txBody>
      </p:sp>
      <p:sp>
        <p:nvSpPr>
          <p:cNvPr id="1967111" name="AutoShape 7">
            <a:extLst>
              <a:ext uri="{FF2B5EF4-FFF2-40B4-BE49-F238E27FC236}">
                <a16:creationId xmlns:a16="http://schemas.microsoft.com/office/drawing/2014/main" id="{D2B99AD4-12CE-FDB3-C907-20BA7396F268}"/>
              </a:ext>
            </a:extLst>
          </p:cNvPr>
          <p:cNvSpPr>
            <a:spLocks noChangeArrowheads="1"/>
          </p:cNvSpPr>
          <p:nvPr/>
        </p:nvSpPr>
        <p:spPr bwMode="auto">
          <a:xfrm flipH="1">
            <a:off x="533400" y="5597525"/>
            <a:ext cx="819150" cy="436563"/>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広告（</a:t>
            </a:r>
            <a:r>
              <a:rPr lang="en-US" altLang="ja-JP" sz="900">
                <a:latin typeface="ＭＳ Ｐゴシック" panose="020B0600070205080204" pitchFamily="50" charset="-128"/>
              </a:rPr>
              <a:t>AD</a:t>
            </a:r>
            <a:r>
              <a:rPr lang="ja-JP" altLang="en-US" sz="900">
                <a:latin typeface="ＭＳ Ｐゴシック" panose="020B0600070205080204" pitchFamily="50" charset="-128"/>
              </a:rPr>
              <a:t>）</a:t>
            </a:r>
          </a:p>
        </p:txBody>
      </p:sp>
      <p:sp>
        <p:nvSpPr>
          <p:cNvPr id="1967112" name="Rectangle 8">
            <a:extLst>
              <a:ext uri="{FF2B5EF4-FFF2-40B4-BE49-F238E27FC236}">
                <a16:creationId xmlns:a16="http://schemas.microsoft.com/office/drawing/2014/main" id="{825B6A26-F874-8FC5-2CAA-0696299DB2BB}"/>
              </a:ext>
            </a:extLst>
          </p:cNvPr>
          <p:cNvSpPr>
            <a:spLocks noChangeArrowheads="1"/>
          </p:cNvSpPr>
          <p:nvPr/>
        </p:nvSpPr>
        <p:spPr bwMode="auto">
          <a:xfrm flipH="1">
            <a:off x="1436688" y="5595938"/>
            <a:ext cx="2797175" cy="438150"/>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主にマスをターゲットとするメディア経由のプロモーション手法。情報伝達は一方的である。</a:t>
            </a:r>
          </a:p>
        </p:txBody>
      </p:sp>
      <p:sp>
        <p:nvSpPr>
          <p:cNvPr id="1967113" name="Rectangle 9">
            <a:extLst>
              <a:ext uri="{FF2B5EF4-FFF2-40B4-BE49-F238E27FC236}">
                <a16:creationId xmlns:a16="http://schemas.microsoft.com/office/drawing/2014/main" id="{A093C5D9-F7DA-2507-805A-110F64C6E6AB}"/>
              </a:ext>
            </a:extLst>
          </p:cNvPr>
          <p:cNvSpPr>
            <a:spLocks noChangeArrowheads="1"/>
          </p:cNvSpPr>
          <p:nvPr/>
        </p:nvSpPr>
        <p:spPr bwMode="auto">
          <a:xfrm flipH="1">
            <a:off x="1436688" y="5334000"/>
            <a:ext cx="2797175" cy="185738"/>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chemeClr val="bg1"/>
                </a:solidFill>
                <a:latin typeface="ＭＳ Ｐゴシック" panose="020B0600070205080204" pitchFamily="50" charset="-128"/>
              </a:rPr>
              <a:t>特徴</a:t>
            </a:r>
          </a:p>
        </p:txBody>
      </p:sp>
      <p:sp>
        <p:nvSpPr>
          <p:cNvPr id="1967114" name="Rectangle 10">
            <a:extLst>
              <a:ext uri="{FF2B5EF4-FFF2-40B4-BE49-F238E27FC236}">
                <a16:creationId xmlns:a16="http://schemas.microsoft.com/office/drawing/2014/main" id="{D62CB0FE-5B25-8AB7-9269-A3A502A5ADCD}"/>
              </a:ext>
            </a:extLst>
          </p:cNvPr>
          <p:cNvSpPr>
            <a:spLocks noChangeArrowheads="1"/>
          </p:cNvSpPr>
          <p:nvPr/>
        </p:nvSpPr>
        <p:spPr bwMode="auto">
          <a:xfrm flipH="1">
            <a:off x="4340225" y="5334000"/>
            <a:ext cx="1984375" cy="185738"/>
          </a:xfrm>
          <a:prstGeom prst="rect">
            <a:avLst/>
          </a:prstGeom>
          <a:solidFill>
            <a:srgbClr val="333399"/>
          </a:solidFill>
          <a:ln w="6350">
            <a:solidFill>
              <a:schemeClr val="folHlink"/>
            </a:solidFill>
            <a:miter lim="800000"/>
            <a:headEnd/>
            <a:tailEnd/>
          </a:ln>
          <a:effectLst>
            <a:outerShdw dist="28398" dir="3806097" algn="ctr" rotWithShape="0">
              <a:schemeClr val="bg2"/>
            </a:outerShdw>
          </a:effectLst>
        </p:spPr>
        <p:txBody>
          <a:bodyPr lIns="18000" tIns="46800" rIns="18000" bIns="46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solidFill>
                  <a:schemeClr val="bg1"/>
                </a:solidFill>
                <a:latin typeface="ＭＳ Ｐゴシック" panose="020B0600070205080204" pitchFamily="50" charset="-128"/>
              </a:rPr>
              <a:t>ツール</a:t>
            </a:r>
          </a:p>
        </p:txBody>
      </p:sp>
      <p:sp>
        <p:nvSpPr>
          <p:cNvPr id="1967115" name="Rectangle 11">
            <a:extLst>
              <a:ext uri="{FF2B5EF4-FFF2-40B4-BE49-F238E27FC236}">
                <a16:creationId xmlns:a16="http://schemas.microsoft.com/office/drawing/2014/main" id="{765D1F77-830F-ACD8-062E-6A42E19FEC28}"/>
              </a:ext>
            </a:extLst>
          </p:cNvPr>
          <p:cNvSpPr>
            <a:spLocks noChangeArrowheads="1"/>
          </p:cNvSpPr>
          <p:nvPr/>
        </p:nvSpPr>
        <p:spPr bwMode="auto">
          <a:xfrm flipH="1">
            <a:off x="4340225" y="5595938"/>
            <a:ext cx="1984375" cy="438150"/>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テレビ、ラジオ、新聞、雑誌、交通広告、</a:t>
            </a:r>
          </a:p>
          <a:p>
            <a:pPr algn="ctr">
              <a:buFont typeface="Wingdings" panose="05000000000000000000" pitchFamily="2" charset="2"/>
              <a:buNone/>
            </a:pPr>
            <a:r>
              <a:rPr lang="ja-JP" altLang="en-US" sz="900">
                <a:latin typeface="ＭＳ Ｐゴシック" panose="020B0600070205080204" pitchFamily="50" charset="-128"/>
              </a:rPr>
              <a:t>屋外広告、</a:t>
            </a:r>
            <a:r>
              <a:rPr lang="en-US" altLang="ja-JP" sz="900">
                <a:latin typeface="ＭＳ Ｐゴシック" panose="020B0600070205080204" pitchFamily="50" charset="-128"/>
              </a:rPr>
              <a:t>DM</a:t>
            </a:r>
            <a:r>
              <a:rPr lang="ja-JP" altLang="en-US" sz="900">
                <a:latin typeface="ＭＳ Ｐゴシック" panose="020B0600070205080204" pitchFamily="50" charset="-128"/>
              </a:rPr>
              <a:t>　等</a:t>
            </a:r>
          </a:p>
        </p:txBody>
      </p:sp>
      <p:sp>
        <p:nvSpPr>
          <p:cNvPr id="1967116" name="Rectangle 12">
            <a:extLst>
              <a:ext uri="{FF2B5EF4-FFF2-40B4-BE49-F238E27FC236}">
                <a16:creationId xmlns:a16="http://schemas.microsoft.com/office/drawing/2014/main" id="{75B14781-16F4-CD6B-4CE9-7E209397625F}"/>
              </a:ext>
            </a:extLst>
          </p:cNvPr>
          <p:cNvSpPr>
            <a:spLocks noChangeArrowheads="1"/>
          </p:cNvSpPr>
          <p:nvPr/>
        </p:nvSpPr>
        <p:spPr bwMode="auto">
          <a:xfrm flipH="1">
            <a:off x="1436688" y="6861175"/>
            <a:ext cx="2797175" cy="674688"/>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b"/>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下流のチャネル（卸、小売等）に対してメリットを提供し、製品やサービスの取扱いを促進させる手法。情報伝達は一方的であるが、メリットの条件などは協議で決定されることが多い。</a:t>
            </a:r>
          </a:p>
        </p:txBody>
      </p:sp>
      <p:sp>
        <p:nvSpPr>
          <p:cNvPr id="1967117" name="Rectangle 13">
            <a:extLst>
              <a:ext uri="{FF2B5EF4-FFF2-40B4-BE49-F238E27FC236}">
                <a16:creationId xmlns:a16="http://schemas.microsoft.com/office/drawing/2014/main" id="{F48A726B-0F0F-767D-1172-E5F591CCC215}"/>
              </a:ext>
            </a:extLst>
          </p:cNvPr>
          <p:cNvSpPr>
            <a:spLocks noChangeArrowheads="1"/>
          </p:cNvSpPr>
          <p:nvPr/>
        </p:nvSpPr>
        <p:spPr bwMode="auto">
          <a:xfrm flipH="1">
            <a:off x="4340225" y="6861175"/>
            <a:ext cx="1984375" cy="674688"/>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セールスインセンティブ、バックリベート、</a:t>
            </a:r>
          </a:p>
          <a:p>
            <a:pPr algn="ctr">
              <a:buFont typeface="Wingdings" panose="05000000000000000000" pitchFamily="2" charset="2"/>
              <a:buNone/>
            </a:pPr>
            <a:r>
              <a:rPr lang="ja-JP" altLang="en-US" sz="900">
                <a:latin typeface="ＭＳ Ｐゴシック" panose="020B0600070205080204" pitchFamily="50" charset="-128"/>
              </a:rPr>
              <a:t>値引、増量、</a:t>
            </a:r>
            <a:r>
              <a:rPr lang="en-US" altLang="ja-JP" sz="900">
                <a:latin typeface="ＭＳ Ｐゴシック" panose="020B0600070205080204" pitchFamily="50" charset="-128"/>
              </a:rPr>
              <a:t>POP</a:t>
            </a:r>
            <a:r>
              <a:rPr lang="ja-JP" altLang="en-US" sz="900">
                <a:latin typeface="ＭＳ Ｐゴシック" panose="020B0600070205080204" pitchFamily="50" charset="-128"/>
              </a:rPr>
              <a:t>、協賛、</a:t>
            </a:r>
          </a:p>
          <a:p>
            <a:pPr algn="ctr">
              <a:buFont typeface="Wingdings" panose="05000000000000000000" pitchFamily="2" charset="2"/>
              <a:buNone/>
            </a:pPr>
            <a:r>
              <a:rPr lang="ja-JP" altLang="en-US" sz="900">
                <a:latin typeface="ＭＳ Ｐゴシック" panose="020B0600070205080204" pitchFamily="50" charset="-128"/>
              </a:rPr>
              <a:t>マーケティングデータ提供　等</a:t>
            </a:r>
          </a:p>
        </p:txBody>
      </p:sp>
      <p:sp>
        <p:nvSpPr>
          <p:cNvPr id="1967118" name="AutoShape 14">
            <a:extLst>
              <a:ext uri="{FF2B5EF4-FFF2-40B4-BE49-F238E27FC236}">
                <a16:creationId xmlns:a16="http://schemas.microsoft.com/office/drawing/2014/main" id="{01267465-7941-6997-991F-D5805372B5C3}"/>
              </a:ext>
            </a:extLst>
          </p:cNvPr>
          <p:cNvSpPr>
            <a:spLocks noChangeArrowheads="1"/>
          </p:cNvSpPr>
          <p:nvPr/>
        </p:nvSpPr>
        <p:spPr bwMode="auto">
          <a:xfrm flipH="1">
            <a:off x="533400" y="7607300"/>
            <a:ext cx="819150" cy="415925"/>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人的販売</a:t>
            </a:r>
          </a:p>
        </p:txBody>
      </p:sp>
      <p:sp>
        <p:nvSpPr>
          <p:cNvPr id="1967119" name="Rectangle 15">
            <a:extLst>
              <a:ext uri="{FF2B5EF4-FFF2-40B4-BE49-F238E27FC236}">
                <a16:creationId xmlns:a16="http://schemas.microsoft.com/office/drawing/2014/main" id="{22E8345C-CB32-FF5B-DC58-C62BC6EC200D}"/>
              </a:ext>
            </a:extLst>
          </p:cNvPr>
          <p:cNvSpPr>
            <a:spLocks noChangeArrowheads="1"/>
          </p:cNvSpPr>
          <p:nvPr/>
        </p:nvSpPr>
        <p:spPr bwMode="auto">
          <a:xfrm flipH="1">
            <a:off x="1436688" y="7634288"/>
            <a:ext cx="2797175" cy="4159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46800" rIns="36000" bIns="10800"/>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消費者個々に対する会話やデモンストレーションによるプロモーション手法。情報伝達は双方向。</a:t>
            </a:r>
          </a:p>
        </p:txBody>
      </p:sp>
      <p:sp>
        <p:nvSpPr>
          <p:cNvPr id="1967120" name="Rectangle 16">
            <a:extLst>
              <a:ext uri="{FF2B5EF4-FFF2-40B4-BE49-F238E27FC236}">
                <a16:creationId xmlns:a16="http://schemas.microsoft.com/office/drawing/2014/main" id="{F0E9DA19-6155-4333-8CDC-363B7CB6191E}"/>
              </a:ext>
            </a:extLst>
          </p:cNvPr>
          <p:cNvSpPr>
            <a:spLocks noChangeArrowheads="1"/>
          </p:cNvSpPr>
          <p:nvPr/>
        </p:nvSpPr>
        <p:spPr bwMode="auto">
          <a:xfrm flipH="1">
            <a:off x="4340225" y="7634288"/>
            <a:ext cx="1984375" cy="4159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店頭、家庭訪問、街頭　等</a:t>
            </a:r>
          </a:p>
        </p:txBody>
      </p:sp>
      <p:sp>
        <p:nvSpPr>
          <p:cNvPr id="1967121" name="AutoShape 17">
            <a:extLst>
              <a:ext uri="{FF2B5EF4-FFF2-40B4-BE49-F238E27FC236}">
                <a16:creationId xmlns:a16="http://schemas.microsoft.com/office/drawing/2014/main" id="{20D11521-AEDF-1E2A-21E0-B1C3106D8B20}"/>
              </a:ext>
            </a:extLst>
          </p:cNvPr>
          <p:cNvSpPr>
            <a:spLocks noChangeArrowheads="1"/>
          </p:cNvSpPr>
          <p:nvPr/>
        </p:nvSpPr>
        <p:spPr bwMode="auto">
          <a:xfrm flipH="1">
            <a:off x="533400" y="8664575"/>
            <a:ext cx="819150" cy="630238"/>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口コミ</a:t>
            </a:r>
          </a:p>
          <a:p>
            <a:pPr algn="ctr"/>
            <a:r>
              <a:rPr lang="ja-JP" altLang="en-US" sz="900">
                <a:latin typeface="ＭＳ Ｐゴシック" panose="020B0600070205080204" pitchFamily="50" charset="-128"/>
              </a:rPr>
              <a:t>（インターネット含む）</a:t>
            </a:r>
          </a:p>
        </p:txBody>
      </p:sp>
      <p:sp>
        <p:nvSpPr>
          <p:cNvPr id="1967122" name="Rectangle 18">
            <a:extLst>
              <a:ext uri="{FF2B5EF4-FFF2-40B4-BE49-F238E27FC236}">
                <a16:creationId xmlns:a16="http://schemas.microsoft.com/office/drawing/2014/main" id="{6C4F731A-2F30-E2FD-0798-464DADABA2C7}"/>
              </a:ext>
            </a:extLst>
          </p:cNvPr>
          <p:cNvSpPr>
            <a:spLocks noChangeArrowheads="1"/>
          </p:cNvSpPr>
          <p:nvPr/>
        </p:nvSpPr>
        <p:spPr bwMode="auto">
          <a:xfrm flipH="1">
            <a:off x="1436688" y="8664575"/>
            <a:ext cx="2797175" cy="6318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46800" rIns="36000" bIns="10800"/>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消費者個々のネットワーク上での伝達を目的とした情報提供から情報伝達全体を指すプロモーション手法。</a:t>
            </a:r>
          </a:p>
          <a:p>
            <a:pPr>
              <a:buFont typeface="Wingdings" panose="05000000000000000000" pitchFamily="2" charset="2"/>
              <a:buNone/>
            </a:pPr>
            <a:r>
              <a:rPr lang="ja-JP" altLang="en-US" sz="900">
                <a:latin typeface="ＭＳ Ｐゴシック" panose="020B0600070205080204" pitchFamily="50" charset="-128"/>
              </a:rPr>
              <a:t>情報伝達は双方向であるが、個々のネットワークに載った情報はコントロールが困難である。</a:t>
            </a:r>
          </a:p>
        </p:txBody>
      </p:sp>
      <p:sp>
        <p:nvSpPr>
          <p:cNvPr id="1967123" name="Rectangle 19">
            <a:extLst>
              <a:ext uri="{FF2B5EF4-FFF2-40B4-BE49-F238E27FC236}">
                <a16:creationId xmlns:a16="http://schemas.microsoft.com/office/drawing/2014/main" id="{817DBA15-30EE-AA60-81A7-9EA7AFEB15D1}"/>
              </a:ext>
            </a:extLst>
          </p:cNvPr>
          <p:cNvSpPr>
            <a:spLocks noChangeArrowheads="1"/>
          </p:cNvSpPr>
          <p:nvPr/>
        </p:nvSpPr>
        <p:spPr bwMode="auto">
          <a:xfrm flipH="1">
            <a:off x="4340225" y="8664575"/>
            <a:ext cx="1984375" cy="6318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口頭、文書、</a:t>
            </a:r>
          </a:p>
          <a:p>
            <a:pPr algn="ctr">
              <a:buFont typeface="Wingdings" panose="05000000000000000000" pitchFamily="2" charset="2"/>
              <a:buNone/>
            </a:pPr>
            <a:r>
              <a:rPr lang="en-US" altLang="ja-JP" sz="900">
                <a:latin typeface="ＭＳ Ｐゴシック" panose="020B0600070205080204" pitchFamily="50" charset="-128"/>
              </a:rPr>
              <a:t>E-mail</a:t>
            </a:r>
            <a:r>
              <a:rPr lang="ja-JP" altLang="en-US" sz="900">
                <a:latin typeface="ＭＳ Ｐゴシック" panose="020B0600070205080204" pitchFamily="50" charset="-128"/>
              </a:rPr>
              <a:t>、</a:t>
            </a:r>
            <a:r>
              <a:rPr lang="en-US" altLang="ja-JP" sz="900">
                <a:latin typeface="ＭＳ Ｐゴシック" panose="020B0600070205080204" pitchFamily="50" charset="-128"/>
              </a:rPr>
              <a:t>HP</a:t>
            </a:r>
            <a:r>
              <a:rPr lang="ja-JP" altLang="en-US" sz="900">
                <a:latin typeface="ＭＳ Ｐゴシック" panose="020B0600070205080204" pitchFamily="50" charset="-128"/>
              </a:rPr>
              <a:t>（個人、掲示板）　等</a:t>
            </a:r>
          </a:p>
        </p:txBody>
      </p:sp>
      <p:sp>
        <p:nvSpPr>
          <p:cNvPr id="1967124" name="AutoShape 20">
            <a:extLst>
              <a:ext uri="{FF2B5EF4-FFF2-40B4-BE49-F238E27FC236}">
                <a16:creationId xmlns:a16="http://schemas.microsoft.com/office/drawing/2014/main" id="{FE4B9875-415D-065C-A3DE-74969B422C0A}"/>
              </a:ext>
            </a:extLst>
          </p:cNvPr>
          <p:cNvSpPr>
            <a:spLocks noChangeArrowheads="1"/>
          </p:cNvSpPr>
          <p:nvPr/>
        </p:nvSpPr>
        <p:spPr bwMode="auto">
          <a:xfrm flipH="1">
            <a:off x="533400" y="6146800"/>
            <a:ext cx="819150" cy="1347788"/>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販売促進</a:t>
            </a:r>
            <a:r>
              <a:rPr lang="en-US" altLang="ja-JP" sz="900">
                <a:latin typeface="ＭＳ Ｐゴシック" panose="020B0600070205080204" pitchFamily="50" charset="-128"/>
              </a:rPr>
              <a:t>(SP)</a:t>
            </a:r>
          </a:p>
        </p:txBody>
      </p:sp>
      <p:sp>
        <p:nvSpPr>
          <p:cNvPr id="1967125" name="Rectangle 21">
            <a:extLst>
              <a:ext uri="{FF2B5EF4-FFF2-40B4-BE49-F238E27FC236}">
                <a16:creationId xmlns:a16="http://schemas.microsoft.com/office/drawing/2014/main" id="{ECC0B0EC-F16F-6BF7-47C0-DADBEA58E334}"/>
              </a:ext>
            </a:extLst>
          </p:cNvPr>
          <p:cNvSpPr>
            <a:spLocks noChangeArrowheads="1"/>
          </p:cNvSpPr>
          <p:nvPr/>
        </p:nvSpPr>
        <p:spPr bwMode="auto">
          <a:xfrm flipH="1">
            <a:off x="1436688" y="6132513"/>
            <a:ext cx="2797175" cy="630237"/>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b"/>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何らかのメリットを提供し、製品やサービスの商品を促進させるプロモーション手法。</a:t>
            </a:r>
          </a:p>
          <a:p>
            <a:pPr>
              <a:buFont typeface="Wingdings" panose="05000000000000000000" pitchFamily="2" charset="2"/>
              <a:buNone/>
            </a:pPr>
            <a:r>
              <a:rPr lang="ja-JP" altLang="en-US" sz="900">
                <a:latin typeface="ＭＳ Ｐゴシック" panose="020B0600070205080204" pitchFamily="50" charset="-128"/>
              </a:rPr>
              <a:t>情報伝達は一方的であることが多い。</a:t>
            </a:r>
          </a:p>
        </p:txBody>
      </p:sp>
      <p:sp>
        <p:nvSpPr>
          <p:cNvPr id="1967126" name="Rectangle 22">
            <a:extLst>
              <a:ext uri="{FF2B5EF4-FFF2-40B4-BE49-F238E27FC236}">
                <a16:creationId xmlns:a16="http://schemas.microsoft.com/office/drawing/2014/main" id="{42E5C96C-7F7E-8865-65F8-D020F7DD2D38}"/>
              </a:ext>
            </a:extLst>
          </p:cNvPr>
          <p:cNvSpPr>
            <a:spLocks noChangeArrowheads="1"/>
          </p:cNvSpPr>
          <p:nvPr/>
        </p:nvSpPr>
        <p:spPr bwMode="auto">
          <a:xfrm flipH="1">
            <a:off x="4340225" y="6132513"/>
            <a:ext cx="1984375" cy="630237"/>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販売デモンストレーション、</a:t>
            </a:r>
            <a:r>
              <a:rPr lang="en-US" altLang="ja-JP" sz="900">
                <a:latin typeface="ＭＳ Ｐゴシック" panose="020B0600070205080204" pitchFamily="50" charset="-128"/>
              </a:rPr>
              <a:t>POP</a:t>
            </a:r>
            <a:r>
              <a:rPr lang="ja-JP" altLang="en-US" sz="900">
                <a:latin typeface="ＭＳ Ｐゴシック" panose="020B0600070205080204" pitchFamily="50" charset="-128"/>
              </a:rPr>
              <a:t>、</a:t>
            </a:r>
          </a:p>
          <a:p>
            <a:pPr algn="ctr">
              <a:buFont typeface="Wingdings" panose="05000000000000000000" pitchFamily="2" charset="2"/>
              <a:buNone/>
            </a:pPr>
            <a:r>
              <a:rPr lang="ja-JP" altLang="en-US" sz="900">
                <a:latin typeface="ＭＳ Ｐゴシック" panose="020B0600070205080204" pitchFamily="50" charset="-128"/>
              </a:rPr>
              <a:t>サンプル配布、クーポン、値引き、</a:t>
            </a:r>
          </a:p>
          <a:p>
            <a:pPr algn="ctr">
              <a:buFont typeface="Wingdings" panose="05000000000000000000" pitchFamily="2" charset="2"/>
              <a:buNone/>
            </a:pPr>
            <a:r>
              <a:rPr lang="ja-JP" altLang="en-US" sz="900">
                <a:latin typeface="ＭＳ Ｐゴシック" panose="020B0600070205080204" pitchFamily="50" charset="-128"/>
              </a:rPr>
              <a:t>ポイントカード　等</a:t>
            </a:r>
          </a:p>
        </p:txBody>
      </p:sp>
      <p:sp>
        <p:nvSpPr>
          <p:cNvPr id="1967127" name="AutoShape 23">
            <a:extLst>
              <a:ext uri="{FF2B5EF4-FFF2-40B4-BE49-F238E27FC236}">
                <a16:creationId xmlns:a16="http://schemas.microsoft.com/office/drawing/2014/main" id="{1A8CDC7D-E17E-41F6-1685-7E2C87A86ED8}"/>
              </a:ext>
            </a:extLst>
          </p:cNvPr>
          <p:cNvSpPr>
            <a:spLocks noChangeArrowheads="1"/>
          </p:cNvSpPr>
          <p:nvPr/>
        </p:nvSpPr>
        <p:spPr bwMode="auto">
          <a:xfrm flipH="1">
            <a:off x="533400" y="8135938"/>
            <a:ext cx="819150" cy="414337"/>
          </a:xfrm>
          <a:prstGeom prst="roundRect">
            <a:avLst>
              <a:gd name="adj" fmla="val 16667"/>
            </a:avLst>
          </a:prstGeom>
          <a:solidFill>
            <a:schemeClr val="hlink"/>
          </a:solidFill>
          <a:ln w="6350">
            <a:solidFill>
              <a:schemeClr val="folHlink"/>
            </a:solidFill>
            <a:round/>
            <a:headEnd/>
            <a:tailEnd/>
          </a:ln>
          <a:effectLst>
            <a:outerShdw dist="63500" dir="3187806" algn="ctr" rotWithShape="0">
              <a:schemeClr val="bg2"/>
            </a:outerShdw>
          </a:effectLst>
        </p:spPr>
        <p:txBody>
          <a:bodyPr lIns="0" tIns="10800" rIns="0" bIns="10800" anchor="ctr"/>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sz="900">
                <a:latin typeface="ＭＳ Ｐゴシック" panose="020B0600070205080204" pitchFamily="50" charset="-128"/>
              </a:rPr>
              <a:t>パブリシティ（ニュースなど）</a:t>
            </a:r>
          </a:p>
        </p:txBody>
      </p:sp>
      <p:sp>
        <p:nvSpPr>
          <p:cNvPr id="1967128" name="Rectangle 24">
            <a:extLst>
              <a:ext uri="{FF2B5EF4-FFF2-40B4-BE49-F238E27FC236}">
                <a16:creationId xmlns:a16="http://schemas.microsoft.com/office/drawing/2014/main" id="{510967E7-43CF-3439-FE9E-2FF5991B0CC3}"/>
              </a:ext>
            </a:extLst>
          </p:cNvPr>
          <p:cNvSpPr>
            <a:spLocks noChangeArrowheads="1"/>
          </p:cNvSpPr>
          <p:nvPr/>
        </p:nvSpPr>
        <p:spPr bwMode="auto">
          <a:xfrm flipH="1">
            <a:off x="1436688" y="8148638"/>
            <a:ext cx="2797175" cy="4159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46800" rIns="36000" bIns="10800"/>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buFont typeface="Wingdings" panose="05000000000000000000" pitchFamily="2" charset="2"/>
              <a:buNone/>
            </a:pPr>
            <a:r>
              <a:rPr lang="ja-JP" altLang="en-US" sz="900">
                <a:latin typeface="ＭＳ Ｐゴシック" panose="020B0600070205080204" pitchFamily="50" charset="-128"/>
              </a:rPr>
              <a:t>公的メディアを通じて製品やサービスの情報を発信する手法。情報伝達は一方向。</a:t>
            </a:r>
          </a:p>
        </p:txBody>
      </p:sp>
      <p:sp>
        <p:nvSpPr>
          <p:cNvPr id="1967129" name="Rectangle 25">
            <a:extLst>
              <a:ext uri="{FF2B5EF4-FFF2-40B4-BE49-F238E27FC236}">
                <a16:creationId xmlns:a16="http://schemas.microsoft.com/office/drawing/2014/main" id="{86BB03B0-5C6A-DFA0-609A-30F06E2D397F}"/>
              </a:ext>
            </a:extLst>
          </p:cNvPr>
          <p:cNvSpPr>
            <a:spLocks noChangeArrowheads="1"/>
          </p:cNvSpPr>
          <p:nvPr/>
        </p:nvSpPr>
        <p:spPr bwMode="auto">
          <a:xfrm flipH="1">
            <a:off x="4340225" y="8148638"/>
            <a:ext cx="1984375" cy="415925"/>
          </a:xfrm>
          <a:prstGeom prst="rect">
            <a:avLst/>
          </a:prstGeom>
          <a:solidFill>
            <a:schemeClr val="bg1"/>
          </a:solidFill>
          <a:ln w="6350">
            <a:solidFill>
              <a:schemeClr val="folHlink"/>
            </a:solidFill>
            <a:miter lim="800000"/>
            <a:headEnd/>
            <a:tailEnd/>
          </a:ln>
          <a:effectLst>
            <a:outerShdw dist="63500" dir="3187806" algn="ctr" rotWithShape="0">
              <a:schemeClr val="bg2"/>
            </a:outerShdw>
          </a:effectLst>
        </p:spPr>
        <p:txBody>
          <a:bodyPr lIns="36000" tIns="10800" rIns="36000" bIns="10800" anchor="ctr" anchorCtr="1"/>
          <a:lstStyle>
            <a:lvl1pPr algn="l" defTabSz="762000">
              <a:defRPr kumimoji="1" sz="2400">
                <a:solidFill>
                  <a:schemeClr val="tx1"/>
                </a:solidFill>
                <a:latin typeface="Times New Roman" panose="02020603050405020304" pitchFamily="18" charset="0"/>
                <a:ea typeface="ＭＳ Ｐゴシック" panose="020B0600070205080204" pitchFamily="50" charset="-128"/>
              </a:defRPr>
            </a:lvl1pPr>
            <a:lvl2pPr marL="571500" algn="l" defTabSz="762000">
              <a:defRPr kumimoji="1" sz="2400">
                <a:solidFill>
                  <a:schemeClr val="tx1"/>
                </a:solidFill>
                <a:latin typeface="Times New Roman" panose="02020603050405020304" pitchFamily="18" charset="0"/>
                <a:ea typeface="ＭＳ Ｐゴシック" panose="020B0600070205080204" pitchFamily="50" charset="-128"/>
              </a:defRPr>
            </a:lvl2pPr>
            <a:lvl3pPr marL="1143000" algn="l" defTabSz="762000">
              <a:defRPr kumimoji="1" sz="2400">
                <a:solidFill>
                  <a:schemeClr val="tx1"/>
                </a:solidFill>
                <a:latin typeface="Times New Roman" panose="02020603050405020304" pitchFamily="18" charset="0"/>
                <a:ea typeface="ＭＳ Ｐゴシック" panose="020B0600070205080204" pitchFamily="50" charset="-128"/>
              </a:defRPr>
            </a:lvl3pPr>
            <a:lvl4pPr marL="1714500" algn="l" defTabSz="762000">
              <a:defRPr kumimoji="1" sz="2400">
                <a:solidFill>
                  <a:schemeClr val="tx1"/>
                </a:solidFill>
                <a:latin typeface="Times New Roman" panose="02020603050405020304" pitchFamily="18" charset="0"/>
                <a:ea typeface="ＭＳ Ｐゴシック" panose="020B0600070205080204" pitchFamily="50" charset="-128"/>
              </a:defRPr>
            </a:lvl4pPr>
            <a:lvl5pPr marL="2286000" algn="l" defTabSz="762000">
              <a:defRPr kumimoji="1" sz="2400">
                <a:solidFill>
                  <a:schemeClr val="tx1"/>
                </a:solidFill>
                <a:latin typeface="Times New Roman" panose="02020603050405020304" pitchFamily="18" charset="0"/>
                <a:ea typeface="ＭＳ Ｐゴシック" panose="020B0600070205080204" pitchFamily="50" charset="-128"/>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buFont typeface="Wingdings" panose="05000000000000000000" pitchFamily="2" charset="2"/>
              <a:buNone/>
            </a:pPr>
            <a:r>
              <a:rPr lang="ja-JP" altLang="en-US" sz="900">
                <a:latin typeface="ＭＳ Ｐゴシック" panose="020B0600070205080204" pitchFamily="50" charset="-128"/>
              </a:rPr>
              <a:t>テレビ（ニュース）、新聞・雑誌（記事）、</a:t>
            </a:r>
          </a:p>
          <a:p>
            <a:pPr algn="ctr">
              <a:buFont typeface="Wingdings" panose="05000000000000000000" pitchFamily="2" charset="2"/>
              <a:buNone/>
            </a:pPr>
            <a:r>
              <a:rPr lang="ja-JP" altLang="en-US" sz="900">
                <a:latin typeface="ＭＳ Ｐゴシック" panose="020B0600070205080204" pitchFamily="50" charset="-128"/>
              </a:rPr>
              <a:t>インターネット（記事）　等</a:t>
            </a:r>
          </a:p>
        </p:txBody>
      </p:sp>
      <p:sp>
        <p:nvSpPr>
          <p:cNvPr id="1967130" name="Text Box 26">
            <a:extLst>
              <a:ext uri="{FF2B5EF4-FFF2-40B4-BE49-F238E27FC236}">
                <a16:creationId xmlns:a16="http://schemas.microsoft.com/office/drawing/2014/main" id="{E9B9D0B4-56B8-9004-582E-53D4A7357622}"/>
              </a:ext>
            </a:extLst>
          </p:cNvPr>
          <p:cNvSpPr txBox="1">
            <a:spLocks noChangeArrowheads="1"/>
          </p:cNvSpPr>
          <p:nvPr/>
        </p:nvSpPr>
        <p:spPr bwMode="auto">
          <a:xfrm>
            <a:off x="1522413" y="6132513"/>
            <a:ext cx="1287462"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50000"/>
              </a:spcBef>
            </a:pPr>
            <a:r>
              <a:rPr lang="ja-JP" altLang="en-US" sz="900" b="1" u="sng">
                <a:latin typeface="ＭＳ Ｐゴシック" panose="020B0600070205080204" pitchFamily="50" charset="-128"/>
              </a:rPr>
              <a:t>消費者向け</a:t>
            </a:r>
          </a:p>
        </p:txBody>
      </p:sp>
      <p:sp>
        <p:nvSpPr>
          <p:cNvPr id="1967131" name="Text Box 27">
            <a:extLst>
              <a:ext uri="{FF2B5EF4-FFF2-40B4-BE49-F238E27FC236}">
                <a16:creationId xmlns:a16="http://schemas.microsoft.com/office/drawing/2014/main" id="{48F8B813-3466-69AE-337D-F2980D0EE66D}"/>
              </a:ext>
            </a:extLst>
          </p:cNvPr>
          <p:cNvSpPr txBox="1">
            <a:spLocks noChangeArrowheads="1"/>
          </p:cNvSpPr>
          <p:nvPr/>
        </p:nvSpPr>
        <p:spPr bwMode="auto">
          <a:xfrm>
            <a:off x="1535113" y="6807200"/>
            <a:ext cx="1287462"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50000"/>
              </a:spcBef>
            </a:pPr>
            <a:r>
              <a:rPr lang="ja-JP" altLang="en-US" sz="900" b="1" u="sng">
                <a:latin typeface="ＭＳ Ｐゴシック" panose="020B0600070205080204" pitchFamily="50" charset="-128"/>
              </a:rPr>
              <a:t>流通チャネル向け</a:t>
            </a:r>
          </a:p>
        </p:txBody>
      </p:sp>
    </p:spTree>
  </p:cSld>
  <p:clrMapOvr>
    <a:masterClrMapping/>
  </p:clrMapOvr>
</p:sld>
</file>

<file path=ppt/theme/theme1.xml><?xml version="1.0" encoding="utf-8"?>
<a:theme xmlns:a="http://schemas.openxmlformats.org/drawingml/2006/main" name="和文横提案書">
  <a:themeElements>
    <a:clrScheme name="和文横提案書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和文横提案書">
      <a:majorFont>
        <a:latin typeface="Arial"/>
        <a:ea typeface="ＭＳ Ｐゴシック"/>
        <a:cs typeface=""/>
      </a:majorFont>
      <a:minorFont>
        <a:latin typeface="ＭＳ Ｐ明朝"/>
        <a:ea typeface="ＭＳ Ｐ明朝"/>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3200" b="0" i="0" u="none" strike="noStrike" cap="none" normalizeH="0" baseline="0" smtClean="0">
            <a:ln>
              <a:noFill/>
            </a:ln>
            <a:solidFill>
              <a:schemeClr val="tx1"/>
            </a:solidFill>
            <a:effectLst/>
            <a:latin typeface="Century" panose="02040604050505020304" pitchFamily="18" charset="0"/>
            <a:ea typeface="ＭＳ Ｐゴシック" panose="020B0600070205080204"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3200" b="0" i="0" u="none" strike="noStrike" cap="none" normalizeH="0" baseline="0" smtClean="0">
            <a:ln>
              <a:noFill/>
            </a:ln>
            <a:solidFill>
              <a:schemeClr val="tx1"/>
            </a:solidFill>
            <a:effectLst/>
            <a:latin typeface="Century" panose="02040604050505020304" pitchFamily="18" charset="0"/>
            <a:ea typeface="ＭＳ Ｐゴシック" panose="020B0600070205080204" pitchFamily="50" charset="-128"/>
          </a:defRPr>
        </a:defPPr>
      </a:lstStyle>
    </a:lnDef>
  </a:objectDefaults>
  <a:extraClrSchemeLst>
    <a:extraClrScheme>
      <a:clrScheme name="和文横提案書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和文横提案書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和文横提案書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和文横提案書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和文横提案書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和文横提案書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和文横提案書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C:\My Documents\Platform立上げ企画\標準化\提案書雛形\和文横提案書.pot</Template>
  <TotalTime>76447</TotalTime>
  <Words>12332</Words>
  <Application>Microsoft Office PowerPoint</Application>
  <PresentationFormat>A4 210 x 297 mm</PresentationFormat>
  <Paragraphs>832</Paragraphs>
  <Slides>28</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28</vt:i4>
      </vt:variant>
    </vt:vector>
  </HeadingPairs>
  <TitlesOfParts>
    <vt:vector size="36" baseType="lpstr">
      <vt:lpstr>ＭＳ Ｐゴシック</vt:lpstr>
      <vt:lpstr>ＭＳ Ｐ明朝</vt:lpstr>
      <vt:lpstr>Arial</vt:lpstr>
      <vt:lpstr>Century</vt:lpstr>
      <vt:lpstr>Symbol</vt:lpstr>
      <vt:lpstr>Times New Roman</vt:lpstr>
      <vt:lpstr>Wingdings</vt:lpstr>
      <vt:lpstr>和文横提案書</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経済産業省 地域金融人材育成システム開発事業</dc:title>
  <dc:creator/>
  <cp:lastModifiedBy>ishibashi kazufusa</cp:lastModifiedBy>
  <cp:revision>7869</cp:revision>
  <cp:lastPrinted>2000-06-29T11:17:17Z</cp:lastPrinted>
  <dcterms:created xsi:type="dcterms:W3CDTF">1998-07-31T06:03:58Z</dcterms:created>
  <dcterms:modified xsi:type="dcterms:W3CDTF">2026-05-15T15:04:36Z</dcterms:modified>
</cp:coreProperties>
</file>